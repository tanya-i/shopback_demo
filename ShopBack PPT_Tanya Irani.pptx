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68" r:id="rId2"/>
    <p:sldId id="257" r:id="rId3"/>
    <p:sldId id="267" r:id="rId4"/>
    <p:sldId id="270" r:id="rId5"/>
    <p:sldId id="261" r:id="rId6"/>
    <p:sldId id="272" r:id="rId7"/>
    <p:sldId id="271" r:id="rId8"/>
    <p:sldId id="263" r:id="rId9"/>
    <p:sldId id="26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4814"/>
    <a:srgbClr val="C22800"/>
    <a:srgbClr val="E94619"/>
    <a:srgbClr val="F44916"/>
    <a:srgbClr val="09581D"/>
    <a:srgbClr val="01A737"/>
    <a:srgbClr val="0B6822"/>
    <a:srgbClr val="1C8C2F"/>
    <a:srgbClr val="007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226"/>
    <p:restoredTop sz="95441"/>
  </p:normalViewPr>
  <p:slideViewPr>
    <p:cSldViewPr snapToGrid="0">
      <p:cViewPr varScale="1">
        <p:scale>
          <a:sx n="110" d="100"/>
          <a:sy n="110" d="100"/>
        </p:scale>
        <p:origin x="232"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4F07817-A225-A74D-9D06-2C3223DE4017}" type="doc">
      <dgm:prSet loTypeId="urn:microsoft.com/office/officeart/2005/8/layout/process3" loCatId="" qsTypeId="urn:microsoft.com/office/officeart/2005/8/quickstyle/simple1" qsCatId="simple" csTypeId="urn:microsoft.com/office/officeart/2005/8/colors/accent2_1" csCatId="accent2" phldr="1"/>
      <dgm:spPr/>
      <dgm:t>
        <a:bodyPr/>
        <a:lstStyle/>
        <a:p>
          <a:endParaRPr lang="en-GB"/>
        </a:p>
      </dgm:t>
    </dgm:pt>
    <dgm:pt modelId="{6DD4D025-DFCD-B747-9CFA-02525335CEFF}">
      <dgm:prSet phldrT="[Text]"/>
      <dgm:spPr/>
      <dgm:t>
        <a:bodyPr/>
        <a:lstStyle/>
        <a:p>
          <a:r>
            <a:rPr lang="en-SG" dirty="0"/>
            <a:t>Merchant</a:t>
          </a:r>
          <a:endParaRPr lang="en-GB" dirty="0"/>
        </a:p>
      </dgm:t>
    </dgm:pt>
    <dgm:pt modelId="{2FC33516-5629-6B40-8732-4DC802F69BC6}" type="parTrans" cxnId="{F1CE551A-3250-0E4B-B428-5E987CA70BD0}">
      <dgm:prSet/>
      <dgm:spPr/>
      <dgm:t>
        <a:bodyPr/>
        <a:lstStyle/>
        <a:p>
          <a:endParaRPr lang="en-GB"/>
        </a:p>
      </dgm:t>
    </dgm:pt>
    <dgm:pt modelId="{EF4D5F51-0114-9A40-BF06-6696A0B173D7}" type="sibTrans" cxnId="{F1CE551A-3250-0E4B-B428-5E987CA70BD0}">
      <dgm:prSet/>
      <dgm:spPr/>
      <dgm:t>
        <a:bodyPr/>
        <a:lstStyle/>
        <a:p>
          <a:endParaRPr lang="en-GB"/>
        </a:p>
      </dgm:t>
    </dgm:pt>
    <dgm:pt modelId="{CBAB655D-9E58-4543-9246-09E2E16CC3F8}">
      <dgm:prSet phldrT="[Text]"/>
      <dgm:spPr/>
      <dgm:t>
        <a:bodyPr/>
        <a:lstStyle/>
        <a:p>
          <a:pPr>
            <a:buFont typeface="Arial" panose="020B0604020202020204" pitchFamily="34" charset="0"/>
            <a:buChar char="•"/>
          </a:pPr>
          <a:r>
            <a:rPr lang="en-IN" dirty="0"/>
            <a:t>Uploads logos</a:t>
          </a:r>
          <a:endParaRPr lang="en-GB" dirty="0"/>
        </a:p>
      </dgm:t>
    </dgm:pt>
    <dgm:pt modelId="{780C443E-B1B7-3749-AFC8-7CF3A8B3EDE2}" type="parTrans" cxnId="{AE9023B6-D091-E24E-B8EE-E3B50F12BE84}">
      <dgm:prSet/>
      <dgm:spPr/>
      <dgm:t>
        <a:bodyPr/>
        <a:lstStyle/>
        <a:p>
          <a:endParaRPr lang="en-GB"/>
        </a:p>
      </dgm:t>
    </dgm:pt>
    <dgm:pt modelId="{5DF11BBB-6210-D64A-9BC2-46E3041A2CAC}" type="sibTrans" cxnId="{AE9023B6-D091-E24E-B8EE-E3B50F12BE84}">
      <dgm:prSet/>
      <dgm:spPr/>
      <dgm:t>
        <a:bodyPr/>
        <a:lstStyle/>
        <a:p>
          <a:endParaRPr lang="en-GB"/>
        </a:p>
      </dgm:t>
    </dgm:pt>
    <dgm:pt modelId="{F9E51B1D-E110-D347-8792-B5ED975ADBA9}">
      <dgm:prSet phldrT="[Text]"/>
      <dgm:spPr/>
      <dgm:t>
        <a:bodyPr/>
        <a:lstStyle/>
        <a:p>
          <a:r>
            <a:rPr lang="en-SG" dirty="0"/>
            <a:t>Commercial Team</a:t>
          </a:r>
          <a:endParaRPr lang="en-GB" dirty="0"/>
        </a:p>
      </dgm:t>
    </dgm:pt>
    <dgm:pt modelId="{1FB1262D-F14C-844C-8A77-830F94FEF59B}" type="parTrans" cxnId="{D4D425EB-01A8-2648-914F-1AD20D71C0D5}">
      <dgm:prSet/>
      <dgm:spPr/>
      <dgm:t>
        <a:bodyPr/>
        <a:lstStyle/>
        <a:p>
          <a:endParaRPr lang="en-GB"/>
        </a:p>
      </dgm:t>
    </dgm:pt>
    <dgm:pt modelId="{7850ECD4-4F54-854E-9574-1D821367D025}" type="sibTrans" cxnId="{D4D425EB-01A8-2648-914F-1AD20D71C0D5}">
      <dgm:prSet/>
      <dgm:spPr/>
      <dgm:t>
        <a:bodyPr/>
        <a:lstStyle/>
        <a:p>
          <a:endParaRPr lang="en-GB"/>
        </a:p>
      </dgm:t>
    </dgm:pt>
    <dgm:pt modelId="{EB31BF50-83DD-5D4B-892E-CBAF67E4AE94}">
      <dgm:prSet phldrT="[Text]"/>
      <dgm:spPr/>
      <dgm:t>
        <a:bodyPr/>
        <a:lstStyle/>
        <a:p>
          <a:pPr>
            <a:buFont typeface="Arial" panose="020B0604020202020204" pitchFamily="34" charset="0"/>
            <a:buChar char="•"/>
          </a:pPr>
          <a:r>
            <a:rPr lang="en-IN" dirty="0"/>
            <a:t>Forwards merchant files to Ops</a:t>
          </a:r>
          <a:endParaRPr lang="en-GB" dirty="0"/>
        </a:p>
      </dgm:t>
    </dgm:pt>
    <dgm:pt modelId="{72F05713-B734-BC44-B6C6-BAA10617C084}" type="parTrans" cxnId="{53AADD95-9D6E-D947-80D2-FAEBEA4C8D3D}">
      <dgm:prSet/>
      <dgm:spPr/>
      <dgm:t>
        <a:bodyPr/>
        <a:lstStyle/>
        <a:p>
          <a:endParaRPr lang="en-GB"/>
        </a:p>
      </dgm:t>
    </dgm:pt>
    <dgm:pt modelId="{9917E564-57C7-F548-A024-F616126BC1E4}" type="sibTrans" cxnId="{53AADD95-9D6E-D947-80D2-FAEBEA4C8D3D}">
      <dgm:prSet/>
      <dgm:spPr/>
      <dgm:t>
        <a:bodyPr/>
        <a:lstStyle/>
        <a:p>
          <a:endParaRPr lang="en-GB"/>
        </a:p>
      </dgm:t>
    </dgm:pt>
    <dgm:pt modelId="{08B85508-BFBA-0D4B-8DC7-F7B5470088CB}">
      <dgm:prSet phldrT="[Text]"/>
      <dgm:spPr/>
      <dgm:t>
        <a:bodyPr/>
        <a:lstStyle/>
        <a:p>
          <a:r>
            <a:rPr lang="en-SG" dirty="0"/>
            <a:t>Marketing Ops team</a:t>
          </a:r>
          <a:endParaRPr lang="en-GB" dirty="0"/>
        </a:p>
      </dgm:t>
    </dgm:pt>
    <dgm:pt modelId="{40CA98FB-3CE8-934E-8BAA-FDEF1AB964BD}" type="parTrans" cxnId="{40FF9017-394D-AD4C-A624-CA127A58065F}">
      <dgm:prSet/>
      <dgm:spPr/>
      <dgm:t>
        <a:bodyPr/>
        <a:lstStyle/>
        <a:p>
          <a:endParaRPr lang="en-GB"/>
        </a:p>
      </dgm:t>
    </dgm:pt>
    <dgm:pt modelId="{1B864C40-2595-FE43-BBAA-FEBA19CCABF2}" type="sibTrans" cxnId="{40FF9017-394D-AD4C-A624-CA127A58065F}">
      <dgm:prSet/>
      <dgm:spPr/>
      <dgm:t>
        <a:bodyPr/>
        <a:lstStyle/>
        <a:p>
          <a:endParaRPr lang="en-GB"/>
        </a:p>
      </dgm:t>
    </dgm:pt>
    <dgm:pt modelId="{7CF8E25E-EC48-534D-87EC-C3AE0F190765}">
      <dgm:prSet phldrT="[Text]"/>
      <dgm:spPr/>
      <dgm:t>
        <a:bodyPr/>
        <a:lstStyle/>
        <a:p>
          <a:pPr>
            <a:buFont typeface="Arial" panose="020B0604020202020204" pitchFamily="34" charset="0"/>
            <a:buChar char="•"/>
          </a:pPr>
          <a:r>
            <a:rPr lang="en-IN" dirty="0"/>
            <a:t>Resizes logos </a:t>
          </a:r>
          <a:endParaRPr lang="en-GB" dirty="0"/>
        </a:p>
      </dgm:t>
    </dgm:pt>
    <dgm:pt modelId="{5EDC3CF8-3665-9D4F-A48E-005F3F2D4E10}" type="parTrans" cxnId="{BE6F21A8-0260-4B4D-B296-448871D793EF}">
      <dgm:prSet/>
      <dgm:spPr/>
      <dgm:t>
        <a:bodyPr/>
        <a:lstStyle/>
        <a:p>
          <a:endParaRPr lang="en-GB"/>
        </a:p>
      </dgm:t>
    </dgm:pt>
    <dgm:pt modelId="{86D9A05B-2CAF-0648-A3D2-558AA85075A8}" type="sibTrans" cxnId="{BE6F21A8-0260-4B4D-B296-448871D793EF}">
      <dgm:prSet/>
      <dgm:spPr/>
      <dgm:t>
        <a:bodyPr/>
        <a:lstStyle/>
        <a:p>
          <a:endParaRPr lang="en-GB"/>
        </a:p>
      </dgm:t>
    </dgm:pt>
    <dgm:pt modelId="{7CDF56EB-6BD3-A348-9C55-5E1ACC05C356}">
      <dgm:prSet/>
      <dgm:spPr/>
      <dgm:t>
        <a:bodyPr/>
        <a:lstStyle/>
        <a:p>
          <a:r>
            <a:rPr lang="en-IN" dirty="0"/>
            <a:t>Logos inconsistent in size/format</a:t>
          </a:r>
          <a:endParaRPr lang="en-US" dirty="0">
            <a:latin typeface="Arial" panose="020B0604020202020204" pitchFamily="34" charset="0"/>
            <a:cs typeface="Arial" panose="020B0604020202020204" pitchFamily="34" charset="0"/>
          </a:endParaRPr>
        </a:p>
      </dgm:t>
    </dgm:pt>
    <dgm:pt modelId="{D9DC8D20-F1FA-8341-9AB2-75CE493478D3}" type="parTrans" cxnId="{0CBBEA5C-5733-D54A-AB2A-41E03B3539BF}">
      <dgm:prSet/>
      <dgm:spPr/>
      <dgm:t>
        <a:bodyPr/>
        <a:lstStyle/>
        <a:p>
          <a:endParaRPr lang="en-GB"/>
        </a:p>
      </dgm:t>
    </dgm:pt>
    <dgm:pt modelId="{E6CDC4D6-4AE7-C54C-B2BD-3585DF9EDEC7}" type="sibTrans" cxnId="{0CBBEA5C-5733-D54A-AB2A-41E03B3539BF}">
      <dgm:prSet/>
      <dgm:spPr/>
      <dgm:t>
        <a:bodyPr/>
        <a:lstStyle/>
        <a:p>
          <a:endParaRPr lang="en-GB"/>
        </a:p>
      </dgm:t>
    </dgm:pt>
    <dgm:pt modelId="{AD067F09-55D2-5B4E-82CC-773F8C04B02A}">
      <dgm:prSet/>
      <dgm:spPr/>
      <dgm:t>
        <a:bodyPr/>
        <a:lstStyle/>
        <a:p>
          <a:r>
            <a:rPr lang="en-IN" dirty="0"/>
            <a:t>Causes delays with handoffs</a:t>
          </a:r>
        </a:p>
      </dgm:t>
    </dgm:pt>
    <dgm:pt modelId="{C1D17F9F-6A1C-5342-8E5E-6A39F95CED69}" type="parTrans" cxnId="{3DF0CA53-283A-5D4D-B102-E79287D60145}">
      <dgm:prSet/>
      <dgm:spPr/>
      <dgm:t>
        <a:bodyPr/>
        <a:lstStyle/>
        <a:p>
          <a:endParaRPr lang="en-GB"/>
        </a:p>
      </dgm:t>
    </dgm:pt>
    <dgm:pt modelId="{13595968-D422-8D4A-BCBD-5A056ACEC044}" type="sibTrans" cxnId="{3DF0CA53-283A-5D4D-B102-E79287D60145}">
      <dgm:prSet/>
      <dgm:spPr/>
      <dgm:t>
        <a:bodyPr/>
        <a:lstStyle/>
        <a:p>
          <a:endParaRPr lang="en-GB"/>
        </a:p>
      </dgm:t>
    </dgm:pt>
    <dgm:pt modelId="{85D7CDB8-43CE-2A46-A5D7-C87D79074179}">
      <dgm:prSet/>
      <dgm:spPr/>
      <dgm:t>
        <a:bodyPr/>
        <a:lstStyle/>
        <a:p>
          <a:r>
            <a:rPr lang="en-IN"/>
            <a:t>Creates inverted version </a:t>
          </a:r>
          <a:endParaRPr lang="en-IN" dirty="0"/>
        </a:p>
      </dgm:t>
    </dgm:pt>
    <dgm:pt modelId="{491CCB54-DDEB-7E4B-A59C-EB5F070FA560}" type="parTrans" cxnId="{B9D694EF-8C0B-E047-97A3-050B7CC9607E}">
      <dgm:prSet/>
      <dgm:spPr/>
      <dgm:t>
        <a:bodyPr/>
        <a:lstStyle/>
        <a:p>
          <a:endParaRPr lang="en-GB"/>
        </a:p>
      </dgm:t>
    </dgm:pt>
    <dgm:pt modelId="{2D616F77-BD8E-4043-AA9D-6629E098F74B}" type="sibTrans" cxnId="{B9D694EF-8C0B-E047-97A3-050B7CC9607E}">
      <dgm:prSet/>
      <dgm:spPr/>
      <dgm:t>
        <a:bodyPr/>
        <a:lstStyle/>
        <a:p>
          <a:endParaRPr lang="en-GB"/>
        </a:p>
      </dgm:t>
    </dgm:pt>
    <dgm:pt modelId="{6600C7F4-CF44-CF48-94F6-E24489C5CD09}">
      <dgm:prSet/>
      <dgm:spPr/>
      <dgm:t>
        <a:bodyPr/>
        <a:lstStyle/>
        <a:p>
          <a:r>
            <a:rPr lang="en-IN" dirty="0"/>
            <a:t>Uploads assets</a:t>
          </a:r>
        </a:p>
      </dgm:t>
    </dgm:pt>
    <dgm:pt modelId="{D7408836-54DB-2C4B-AE9F-AFF85FF5718F}" type="parTrans" cxnId="{99563C36-EE16-5B4E-897F-25A56E91E00C}">
      <dgm:prSet/>
      <dgm:spPr/>
      <dgm:t>
        <a:bodyPr/>
        <a:lstStyle/>
        <a:p>
          <a:endParaRPr lang="en-GB"/>
        </a:p>
      </dgm:t>
    </dgm:pt>
    <dgm:pt modelId="{0519562F-722E-DC4D-9545-CAFEFFE2486F}" type="sibTrans" cxnId="{99563C36-EE16-5B4E-897F-25A56E91E00C}">
      <dgm:prSet/>
      <dgm:spPr/>
      <dgm:t>
        <a:bodyPr/>
        <a:lstStyle/>
        <a:p>
          <a:endParaRPr lang="en-GB"/>
        </a:p>
      </dgm:t>
    </dgm:pt>
    <dgm:pt modelId="{BDC7ED04-57DE-C349-A5DC-ABA053E27213}">
      <dgm:prSet/>
      <dgm:spPr/>
      <dgm:t>
        <a:bodyPr/>
        <a:lstStyle/>
        <a:p>
          <a:r>
            <a:rPr lang="en-SG" dirty="0"/>
            <a:t>Commercial Team</a:t>
          </a:r>
          <a:endParaRPr lang="en-US" dirty="0"/>
        </a:p>
      </dgm:t>
    </dgm:pt>
    <dgm:pt modelId="{74D64C77-F74C-D840-8B7B-1D266F22CDC6}" type="parTrans" cxnId="{70C1CB5B-3DB8-C645-BCE6-C2A1944E5B3C}">
      <dgm:prSet/>
      <dgm:spPr/>
      <dgm:t>
        <a:bodyPr/>
        <a:lstStyle/>
        <a:p>
          <a:endParaRPr lang="en-GB"/>
        </a:p>
      </dgm:t>
    </dgm:pt>
    <dgm:pt modelId="{1975567A-3F25-824B-A672-1C60923D54C3}" type="sibTrans" cxnId="{70C1CB5B-3DB8-C645-BCE6-C2A1944E5B3C}">
      <dgm:prSet/>
      <dgm:spPr/>
      <dgm:t>
        <a:bodyPr/>
        <a:lstStyle/>
        <a:p>
          <a:endParaRPr lang="en-GB"/>
        </a:p>
      </dgm:t>
    </dgm:pt>
    <dgm:pt modelId="{7E2A13B4-7F15-0746-811D-159B7240E27B}">
      <dgm:prSet/>
      <dgm:spPr/>
      <dgm:t>
        <a:bodyPr/>
        <a:lstStyle/>
        <a:p>
          <a:pPr>
            <a:buFont typeface="Arial" panose="020B0604020202020204" pitchFamily="34" charset="0"/>
            <a:buChar char="•"/>
          </a:pPr>
          <a:r>
            <a:rPr lang="en-IN"/>
            <a:t>Notifies merchant of updated page</a:t>
          </a:r>
          <a:endParaRPr lang="en-GB"/>
        </a:p>
      </dgm:t>
    </dgm:pt>
    <dgm:pt modelId="{465BBF4A-4310-2C4D-8B1C-7143EE8BED89}" type="parTrans" cxnId="{9074CF55-972D-8845-8E21-041581B0441A}">
      <dgm:prSet/>
      <dgm:spPr/>
      <dgm:t>
        <a:bodyPr/>
        <a:lstStyle/>
        <a:p>
          <a:endParaRPr lang="en-GB"/>
        </a:p>
      </dgm:t>
    </dgm:pt>
    <dgm:pt modelId="{2CEAA27C-5E8E-634F-A036-736E13B667DE}" type="sibTrans" cxnId="{9074CF55-972D-8845-8E21-041581B0441A}">
      <dgm:prSet/>
      <dgm:spPr/>
      <dgm:t>
        <a:bodyPr/>
        <a:lstStyle/>
        <a:p>
          <a:endParaRPr lang="en-GB"/>
        </a:p>
      </dgm:t>
    </dgm:pt>
    <dgm:pt modelId="{9A13D9F3-EF95-BC4B-B84B-D6ECE014026F}" type="pres">
      <dgm:prSet presAssocID="{64F07817-A225-A74D-9D06-2C3223DE4017}" presName="linearFlow" presStyleCnt="0">
        <dgm:presLayoutVars>
          <dgm:dir/>
          <dgm:animLvl val="lvl"/>
          <dgm:resizeHandles val="exact"/>
        </dgm:presLayoutVars>
      </dgm:prSet>
      <dgm:spPr/>
    </dgm:pt>
    <dgm:pt modelId="{E45BA181-FFAA-B848-8FA5-9EF397878496}" type="pres">
      <dgm:prSet presAssocID="{6DD4D025-DFCD-B747-9CFA-02525335CEFF}" presName="composite" presStyleCnt="0"/>
      <dgm:spPr/>
    </dgm:pt>
    <dgm:pt modelId="{21A1C3C7-16B5-9848-8809-D83948C1A6DA}" type="pres">
      <dgm:prSet presAssocID="{6DD4D025-DFCD-B747-9CFA-02525335CEFF}" presName="parTx" presStyleLbl="node1" presStyleIdx="0" presStyleCnt="4">
        <dgm:presLayoutVars>
          <dgm:chMax val="0"/>
          <dgm:chPref val="0"/>
          <dgm:bulletEnabled val="1"/>
        </dgm:presLayoutVars>
      </dgm:prSet>
      <dgm:spPr/>
    </dgm:pt>
    <dgm:pt modelId="{2098C718-321D-C54D-8AEA-7CBDABD6C0C5}" type="pres">
      <dgm:prSet presAssocID="{6DD4D025-DFCD-B747-9CFA-02525335CEFF}" presName="parSh" presStyleLbl="node1" presStyleIdx="0" presStyleCnt="4"/>
      <dgm:spPr/>
    </dgm:pt>
    <dgm:pt modelId="{EE0421BA-31DA-5B40-8454-EC309E46A14D}" type="pres">
      <dgm:prSet presAssocID="{6DD4D025-DFCD-B747-9CFA-02525335CEFF}" presName="desTx" presStyleLbl="fgAcc1" presStyleIdx="0" presStyleCnt="4" custScaleX="89047">
        <dgm:presLayoutVars>
          <dgm:bulletEnabled val="1"/>
        </dgm:presLayoutVars>
      </dgm:prSet>
      <dgm:spPr/>
    </dgm:pt>
    <dgm:pt modelId="{32DA3362-29D1-8A48-B58E-9D6756331B83}" type="pres">
      <dgm:prSet presAssocID="{EF4D5F51-0114-9A40-BF06-6696A0B173D7}" presName="sibTrans" presStyleLbl="sibTrans2D1" presStyleIdx="0" presStyleCnt="3"/>
      <dgm:spPr/>
    </dgm:pt>
    <dgm:pt modelId="{0D2F7899-1B2B-924F-A611-B1A1FA00E12B}" type="pres">
      <dgm:prSet presAssocID="{EF4D5F51-0114-9A40-BF06-6696A0B173D7}" presName="connTx" presStyleLbl="sibTrans2D1" presStyleIdx="0" presStyleCnt="3"/>
      <dgm:spPr/>
    </dgm:pt>
    <dgm:pt modelId="{B30015CE-D236-2746-8C06-57A221DB9C67}" type="pres">
      <dgm:prSet presAssocID="{F9E51B1D-E110-D347-8792-B5ED975ADBA9}" presName="composite" presStyleCnt="0"/>
      <dgm:spPr/>
    </dgm:pt>
    <dgm:pt modelId="{6C4927AA-6A05-CD43-BFC9-93E99697023B}" type="pres">
      <dgm:prSet presAssocID="{F9E51B1D-E110-D347-8792-B5ED975ADBA9}" presName="parTx" presStyleLbl="node1" presStyleIdx="0" presStyleCnt="4">
        <dgm:presLayoutVars>
          <dgm:chMax val="0"/>
          <dgm:chPref val="0"/>
          <dgm:bulletEnabled val="1"/>
        </dgm:presLayoutVars>
      </dgm:prSet>
      <dgm:spPr/>
    </dgm:pt>
    <dgm:pt modelId="{21BC5DCC-FDA7-924B-9958-3ACED44848D3}" type="pres">
      <dgm:prSet presAssocID="{F9E51B1D-E110-D347-8792-B5ED975ADBA9}" presName="parSh" presStyleLbl="node1" presStyleIdx="1" presStyleCnt="4"/>
      <dgm:spPr/>
    </dgm:pt>
    <dgm:pt modelId="{D8E08C21-70B7-874F-A319-71164A9A8F98}" type="pres">
      <dgm:prSet presAssocID="{F9E51B1D-E110-D347-8792-B5ED975ADBA9}" presName="desTx" presStyleLbl="fgAcc1" presStyleIdx="1" presStyleCnt="4">
        <dgm:presLayoutVars>
          <dgm:bulletEnabled val="1"/>
        </dgm:presLayoutVars>
      </dgm:prSet>
      <dgm:spPr/>
    </dgm:pt>
    <dgm:pt modelId="{C2700D49-0FDF-7C4F-92F0-84020271A54B}" type="pres">
      <dgm:prSet presAssocID="{7850ECD4-4F54-854E-9574-1D821367D025}" presName="sibTrans" presStyleLbl="sibTrans2D1" presStyleIdx="1" presStyleCnt="3"/>
      <dgm:spPr/>
    </dgm:pt>
    <dgm:pt modelId="{E0BD7A7D-7C03-9449-A2B1-75B45D3B42BA}" type="pres">
      <dgm:prSet presAssocID="{7850ECD4-4F54-854E-9574-1D821367D025}" presName="connTx" presStyleLbl="sibTrans2D1" presStyleIdx="1" presStyleCnt="3"/>
      <dgm:spPr/>
    </dgm:pt>
    <dgm:pt modelId="{5DB161D3-2C90-1649-AB5E-C7064D120A44}" type="pres">
      <dgm:prSet presAssocID="{08B85508-BFBA-0D4B-8DC7-F7B5470088CB}" presName="composite" presStyleCnt="0"/>
      <dgm:spPr/>
    </dgm:pt>
    <dgm:pt modelId="{F5A5FA5C-15E3-354F-AA63-3FFBDC766775}" type="pres">
      <dgm:prSet presAssocID="{08B85508-BFBA-0D4B-8DC7-F7B5470088CB}" presName="parTx" presStyleLbl="node1" presStyleIdx="1" presStyleCnt="4">
        <dgm:presLayoutVars>
          <dgm:chMax val="0"/>
          <dgm:chPref val="0"/>
          <dgm:bulletEnabled val="1"/>
        </dgm:presLayoutVars>
      </dgm:prSet>
      <dgm:spPr/>
    </dgm:pt>
    <dgm:pt modelId="{46068763-A7C0-A440-AC3A-C2E290D1947A}" type="pres">
      <dgm:prSet presAssocID="{08B85508-BFBA-0D4B-8DC7-F7B5470088CB}" presName="parSh" presStyleLbl="node1" presStyleIdx="2" presStyleCnt="4"/>
      <dgm:spPr/>
    </dgm:pt>
    <dgm:pt modelId="{64460725-7CEE-B24C-A65F-F2FD1D01D1CF}" type="pres">
      <dgm:prSet presAssocID="{08B85508-BFBA-0D4B-8DC7-F7B5470088CB}" presName="desTx" presStyleLbl="fgAcc1" presStyleIdx="2" presStyleCnt="4">
        <dgm:presLayoutVars>
          <dgm:bulletEnabled val="1"/>
        </dgm:presLayoutVars>
      </dgm:prSet>
      <dgm:spPr/>
    </dgm:pt>
    <dgm:pt modelId="{971BBA82-7FC6-F840-9C4E-557C52DCDFD3}" type="pres">
      <dgm:prSet presAssocID="{1B864C40-2595-FE43-BBAA-FEBA19CCABF2}" presName="sibTrans" presStyleLbl="sibTrans2D1" presStyleIdx="2" presStyleCnt="3"/>
      <dgm:spPr/>
    </dgm:pt>
    <dgm:pt modelId="{717EFC56-8F2D-564D-B65C-6D83F4D40DC7}" type="pres">
      <dgm:prSet presAssocID="{1B864C40-2595-FE43-BBAA-FEBA19CCABF2}" presName="connTx" presStyleLbl="sibTrans2D1" presStyleIdx="2" presStyleCnt="3"/>
      <dgm:spPr/>
    </dgm:pt>
    <dgm:pt modelId="{100B7691-1CB2-FE4D-AD13-28FDCE5523BC}" type="pres">
      <dgm:prSet presAssocID="{BDC7ED04-57DE-C349-A5DC-ABA053E27213}" presName="composite" presStyleCnt="0"/>
      <dgm:spPr/>
    </dgm:pt>
    <dgm:pt modelId="{FFFF62F2-E594-2744-B814-68C598C96382}" type="pres">
      <dgm:prSet presAssocID="{BDC7ED04-57DE-C349-A5DC-ABA053E27213}" presName="parTx" presStyleLbl="node1" presStyleIdx="2" presStyleCnt="4">
        <dgm:presLayoutVars>
          <dgm:chMax val="0"/>
          <dgm:chPref val="0"/>
          <dgm:bulletEnabled val="1"/>
        </dgm:presLayoutVars>
      </dgm:prSet>
      <dgm:spPr/>
    </dgm:pt>
    <dgm:pt modelId="{5C963CCE-1354-B947-9DFE-52E9ECA02951}" type="pres">
      <dgm:prSet presAssocID="{BDC7ED04-57DE-C349-A5DC-ABA053E27213}" presName="parSh" presStyleLbl="node1" presStyleIdx="3" presStyleCnt="4"/>
      <dgm:spPr/>
    </dgm:pt>
    <dgm:pt modelId="{222503D1-0C47-2F40-9361-12354177933C}" type="pres">
      <dgm:prSet presAssocID="{BDC7ED04-57DE-C349-A5DC-ABA053E27213}" presName="desTx" presStyleLbl="fgAcc1" presStyleIdx="3" presStyleCnt="4">
        <dgm:presLayoutVars>
          <dgm:bulletEnabled val="1"/>
        </dgm:presLayoutVars>
      </dgm:prSet>
      <dgm:spPr/>
    </dgm:pt>
  </dgm:ptLst>
  <dgm:cxnLst>
    <dgm:cxn modelId="{40FF9017-394D-AD4C-A624-CA127A58065F}" srcId="{64F07817-A225-A74D-9D06-2C3223DE4017}" destId="{08B85508-BFBA-0D4B-8DC7-F7B5470088CB}" srcOrd="2" destOrd="0" parTransId="{40CA98FB-3CE8-934E-8BAA-FDEF1AB964BD}" sibTransId="{1B864C40-2595-FE43-BBAA-FEBA19CCABF2}"/>
    <dgm:cxn modelId="{F1CE551A-3250-0E4B-B428-5E987CA70BD0}" srcId="{64F07817-A225-A74D-9D06-2C3223DE4017}" destId="{6DD4D025-DFCD-B747-9CFA-02525335CEFF}" srcOrd="0" destOrd="0" parTransId="{2FC33516-5629-6B40-8732-4DC802F69BC6}" sibTransId="{EF4D5F51-0114-9A40-BF06-6696A0B173D7}"/>
    <dgm:cxn modelId="{CD8EB127-48B5-6748-B2BD-0794AC7292A0}" type="presOf" srcId="{CBAB655D-9E58-4543-9246-09E2E16CC3F8}" destId="{EE0421BA-31DA-5B40-8454-EC309E46A14D}" srcOrd="0" destOrd="0" presId="urn:microsoft.com/office/officeart/2005/8/layout/process3"/>
    <dgm:cxn modelId="{32D7C52A-7462-814E-826F-633C062C7AF6}" type="presOf" srcId="{6DD4D025-DFCD-B747-9CFA-02525335CEFF}" destId="{2098C718-321D-C54D-8AEA-7CBDABD6C0C5}" srcOrd="1" destOrd="0" presId="urn:microsoft.com/office/officeart/2005/8/layout/process3"/>
    <dgm:cxn modelId="{FC974C2D-1982-1149-87E4-7E355FE09E96}" type="presOf" srcId="{6DD4D025-DFCD-B747-9CFA-02525335CEFF}" destId="{21A1C3C7-16B5-9848-8809-D83948C1A6DA}" srcOrd="0" destOrd="0" presId="urn:microsoft.com/office/officeart/2005/8/layout/process3"/>
    <dgm:cxn modelId="{0AAF3031-BF5A-C44B-9C81-05209C5FD063}" type="presOf" srcId="{F9E51B1D-E110-D347-8792-B5ED975ADBA9}" destId="{21BC5DCC-FDA7-924B-9958-3ACED44848D3}" srcOrd="1" destOrd="0" presId="urn:microsoft.com/office/officeart/2005/8/layout/process3"/>
    <dgm:cxn modelId="{99563C36-EE16-5B4E-897F-25A56E91E00C}" srcId="{08B85508-BFBA-0D4B-8DC7-F7B5470088CB}" destId="{6600C7F4-CF44-CF48-94F6-E24489C5CD09}" srcOrd="2" destOrd="0" parTransId="{D7408836-54DB-2C4B-AE9F-AFF85FF5718F}" sibTransId="{0519562F-722E-DC4D-9545-CAFEFFE2486F}"/>
    <dgm:cxn modelId="{93AEF037-1DE4-9948-B144-4411D9C5A5BB}" type="presOf" srcId="{64F07817-A225-A74D-9D06-2C3223DE4017}" destId="{9A13D9F3-EF95-BC4B-B84B-D6ECE014026F}" srcOrd="0" destOrd="0" presId="urn:microsoft.com/office/officeart/2005/8/layout/process3"/>
    <dgm:cxn modelId="{E520983C-F7A0-794E-A075-1A10DC3DA7BA}" type="presOf" srcId="{F9E51B1D-E110-D347-8792-B5ED975ADBA9}" destId="{6C4927AA-6A05-CD43-BFC9-93E99697023B}" srcOrd="0" destOrd="0" presId="urn:microsoft.com/office/officeart/2005/8/layout/process3"/>
    <dgm:cxn modelId="{A66E8447-0D3C-D44A-8FD8-58339EEAC100}" type="presOf" srcId="{08B85508-BFBA-0D4B-8DC7-F7B5470088CB}" destId="{46068763-A7C0-A440-AC3A-C2E290D1947A}" srcOrd="1" destOrd="0" presId="urn:microsoft.com/office/officeart/2005/8/layout/process3"/>
    <dgm:cxn modelId="{3DF0CA53-283A-5D4D-B102-E79287D60145}" srcId="{F9E51B1D-E110-D347-8792-B5ED975ADBA9}" destId="{AD067F09-55D2-5B4E-82CC-773F8C04B02A}" srcOrd="1" destOrd="0" parTransId="{C1D17F9F-6A1C-5342-8E5E-6A39F95CED69}" sibTransId="{13595968-D422-8D4A-BCBD-5A056ACEC044}"/>
    <dgm:cxn modelId="{8E235754-ABCB-1447-A70C-2530ED52351E}" type="presOf" srcId="{08B85508-BFBA-0D4B-8DC7-F7B5470088CB}" destId="{F5A5FA5C-15E3-354F-AA63-3FFBDC766775}" srcOrd="0" destOrd="0" presId="urn:microsoft.com/office/officeart/2005/8/layout/process3"/>
    <dgm:cxn modelId="{9074CF55-972D-8845-8E21-041581B0441A}" srcId="{BDC7ED04-57DE-C349-A5DC-ABA053E27213}" destId="{7E2A13B4-7F15-0746-811D-159B7240E27B}" srcOrd="0" destOrd="0" parTransId="{465BBF4A-4310-2C4D-8B1C-7143EE8BED89}" sibTransId="{2CEAA27C-5E8E-634F-A036-736E13B667DE}"/>
    <dgm:cxn modelId="{D151E455-D8E4-A34C-9D67-6A5C58588F5C}" type="presOf" srcId="{7850ECD4-4F54-854E-9574-1D821367D025}" destId="{C2700D49-0FDF-7C4F-92F0-84020271A54B}" srcOrd="0" destOrd="0" presId="urn:microsoft.com/office/officeart/2005/8/layout/process3"/>
    <dgm:cxn modelId="{98E24459-CDDA-2C4A-8777-13FB7903FF67}" type="presOf" srcId="{85D7CDB8-43CE-2A46-A5D7-C87D79074179}" destId="{64460725-7CEE-B24C-A65F-F2FD1D01D1CF}" srcOrd="0" destOrd="1" presId="urn:microsoft.com/office/officeart/2005/8/layout/process3"/>
    <dgm:cxn modelId="{70C1CB5B-3DB8-C645-BCE6-C2A1944E5B3C}" srcId="{64F07817-A225-A74D-9D06-2C3223DE4017}" destId="{BDC7ED04-57DE-C349-A5DC-ABA053E27213}" srcOrd="3" destOrd="0" parTransId="{74D64C77-F74C-D840-8B7B-1D266F22CDC6}" sibTransId="{1975567A-3F25-824B-A672-1C60923D54C3}"/>
    <dgm:cxn modelId="{285F0E5C-A069-AE44-B368-D54CAB5E6DFF}" type="presOf" srcId="{7CF8E25E-EC48-534D-87EC-C3AE0F190765}" destId="{64460725-7CEE-B24C-A65F-F2FD1D01D1CF}" srcOrd="0" destOrd="0" presId="urn:microsoft.com/office/officeart/2005/8/layout/process3"/>
    <dgm:cxn modelId="{0CBBEA5C-5733-D54A-AB2A-41E03B3539BF}" srcId="{6DD4D025-DFCD-B747-9CFA-02525335CEFF}" destId="{7CDF56EB-6BD3-A348-9C55-5E1ACC05C356}" srcOrd="1" destOrd="0" parTransId="{D9DC8D20-F1FA-8341-9AB2-75CE493478D3}" sibTransId="{E6CDC4D6-4AE7-C54C-B2BD-3585DF9EDEC7}"/>
    <dgm:cxn modelId="{AE824B68-E07C-1145-B801-005DB6BAEC23}" type="presOf" srcId="{AD067F09-55D2-5B4E-82CC-773F8C04B02A}" destId="{D8E08C21-70B7-874F-A319-71164A9A8F98}" srcOrd="0" destOrd="1" presId="urn:microsoft.com/office/officeart/2005/8/layout/process3"/>
    <dgm:cxn modelId="{F48A1B6E-1D07-8C44-B103-246EDBEDF396}" type="presOf" srcId="{7E2A13B4-7F15-0746-811D-159B7240E27B}" destId="{222503D1-0C47-2F40-9361-12354177933C}" srcOrd="0" destOrd="0" presId="urn:microsoft.com/office/officeart/2005/8/layout/process3"/>
    <dgm:cxn modelId="{669FE779-E9A4-2944-83EC-7F6E65CC7827}" type="presOf" srcId="{7CDF56EB-6BD3-A348-9C55-5E1ACC05C356}" destId="{EE0421BA-31DA-5B40-8454-EC309E46A14D}" srcOrd="0" destOrd="1" presId="urn:microsoft.com/office/officeart/2005/8/layout/process3"/>
    <dgm:cxn modelId="{1E3BC27E-800A-7041-869C-A8D342036844}" type="presOf" srcId="{BDC7ED04-57DE-C349-A5DC-ABA053E27213}" destId="{FFFF62F2-E594-2744-B814-68C598C96382}" srcOrd="0" destOrd="0" presId="urn:microsoft.com/office/officeart/2005/8/layout/process3"/>
    <dgm:cxn modelId="{3E561286-4960-9E45-A0D7-38342D1702ED}" type="presOf" srcId="{7850ECD4-4F54-854E-9574-1D821367D025}" destId="{E0BD7A7D-7C03-9449-A2B1-75B45D3B42BA}" srcOrd="1" destOrd="0" presId="urn:microsoft.com/office/officeart/2005/8/layout/process3"/>
    <dgm:cxn modelId="{2D75748F-3B08-BF47-8926-4DA5327BC399}" type="presOf" srcId="{1B864C40-2595-FE43-BBAA-FEBA19CCABF2}" destId="{971BBA82-7FC6-F840-9C4E-557C52DCDFD3}" srcOrd="0" destOrd="0" presId="urn:microsoft.com/office/officeart/2005/8/layout/process3"/>
    <dgm:cxn modelId="{53AADD95-9D6E-D947-80D2-FAEBEA4C8D3D}" srcId="{F9E51B1D-E110-D347-8792-B5ED975ADBA9}" destId="{EB31BF50-83DD-5D4B-892E-CBAF67E4AE94}" srcOrd="0" destOrd="0" parTransId="{72F05713-B734-BC44-B6C6-BAA10617C084}" sibTransId="{9917E564-57C7-F548-A024-F616126BC1E4}"/>
    <dgm:cxn modelId="{A9CE2299-6148-6743-91D4-64E1E6E39729}" type="presOf" srcId="{EB31BF50-83DD-5D4B-892E-CBAF67E4AE94}" destId="{D8E08C21-70B7-874F-A319-71164A9A8F98}" srcOrd="0" destOrd="0" presId="urn:microsoft.com/office/officeart/2005/8/layout/process3"/>
    <dgm:cxn modelId="{CE299A9C-9612-F245-8081-2B72598395EE}" type="presOf" srcId="{6600C7F4-CF44-CF48-94F6-E24489C5CD09}" destId="{64460725-7CEE-B24C-A65F-F2FD1D01D1CF}" srcOrd="0" destOrd="2" presId="urn:microsoft.com/office/officeart/2005/8/layout/process3"/>
    <dgm:cxn modelId="{BE6F21A8-0260-4B4D-B296-448871D793EF}" srcId="{08B85508-BFBA-0D4B-8DC7-F7B5470088CB}" destId="{7CF8E25E-EC48-534D-87EC-C3AE0F190765}" srcOrd="0" destOrd="0" parTransId="{5EDC3CF8-3665-9D4F-A48E-005F3F2D4E10}" sibTransId="{86D9A05B-2CAF-0648-A3D2-558AA85075A8}"/>
    <dgm:cxn modelId="{10D77DAE-548F-8E46-A0F4-28516FB467B7}" type="presOf" srcId="{1B864C40-2595-FE43-BBAA-FEBA19CCABF2}" destId="{717EFC56-8F2D-564D-B65C-6D83F4D40DC7}" srcOrd="1" destOrd="0" presId="urn:microsoft.com/office/officeart/2005/8/layout/process3"/>
    <dgm:cxn modelId="{3CB8CCB2-F7EB-2543-85F4-FC07F1C06FCE}" type="presOf" srcId="{EF4D5F51-0114-9A40-BF06-6696A0B173D7}" destId="{32DA3362-29D1-8A48-B58E-9D6756331B83}" srcOrd="0" destOrd="0" presId="urn:microsoft.com/office/officeart/2005/8/layout/process3"/>
    <dgm:cxn modelId="{AE9023B6-D091-E24E-B8EE-E3B50F12BE84}" srcId="{6DD4D025-DFCD-B747-9CFA-02525335CEFF}" destId="{CBAB655D-9E58-4543-9246-09E2E16CC3F8}" srcOrd="0" destOrd="0" parTransId="{780C443E-B1B7-3749-AFC8-7CF3A8B3EDE2}" sibTransId="{5DF11BBB-6210-D64A-9BC2-46E3041A2CAC}"/>
    <dgm:cxn modelId="{8AC6FCBF-45BB-174C-B762-1012E17CA40C}" type="presOf" srcId="{EF4D5F51-0114-9A40-BF06-6696A0B173D7}" destId="{0D2F7899-1B2B-924F-A611-B1A1FA00E12B}" srcOrd="1" destOrd="0" presId="urn:microsoft.com/office/officeart/2005/8/layout/process3"/>
    <dgm:cxn modelId="{C98C4AC5-0ED2-4A41-AF90-BD9CC99DA8FE}" type="presOf" srcId="{BDC7ED04-57DE-C349-A5DC-ABA053E27213}" destId="{5C963CCE-1354-B947-9DFE-52E9ECA02951}" srcOrd="1" destOrd="0" presId="urn:microsoft.com/office/officeart/2005/8/layout/process3"/>
    <dgm:cxn modelId="{D4D425EB-01A8-2648-914F-1AD20D71C0D5}" srcId="{64F07817-A225-A74D-9D06-2C3223DE4017}" destId="{F9E51B1D-E110-D347-8792-B5ED975ADBA9}" srcOrd="1" destOrd="0" parTransId="{1FB1262D-F14C-844C-8A77-830F94FEF59B}" sibTransId="{7850ECD4-4F54-854E-9574-1D821367D025}"/>
    <dgm:cxn modelId="{B9D694EF-8C0B-E047-97A3-050B7CC9607E}" srcId="{08B85508-BFBA-0D4B-8DC7-F7B5470088CB}" destId="{85D7CDB8-43CE-2A46-A5D7-C87D79074179}" srcOrd="1" destOrd="0" parTransId="{491CCB54-DDEB-7E4B-A59C-EB5F070FA560}" sibTransId="{2D616F77-BD8E-4043-AA9D-6629E098F74B}"/>
    <dgm:cxn modelId="{A4C3046C-787C-8945-8DCE-A0A5F01D8A8E}" type="presParOf" srcId="{9A13D9F3-EF95-BC4B-B84B-D6ECE014026F}" destId="{E45BA181-FFAA-B848-8FA5-9EF397878496}" srcOrd="0" destOrd="0" presId="urn:microsoft.com/office/officeart/2005/8/layout/process3"/>
    <dgm:cxn modelId="{57D34359-61D1-7548-8AC4-548149CE49D0}" type="presParOf" srcId="{E45BA181-FFAA-B848-8FA5-9EF397878496}" destId="{21A1C3C7-16B5-9848-8809-D83948C1A6DA}" srcOrd="0" destOrd="0" presId="urn:microsoft.com/office/officeart/2005/8/layout/process3"/>
    <dgm:cxn modelId="{6D659BF0-F292-7F45-9CC3-113F4CE78954}" type="presParOf" srcId="{E45BA181-FFAA-B848-8FA5-9EF397878496}" destId="{2098C718-321D-C54D-8AEA-7CBDABD6C0C5}" srcOrd="1" destOrd="0" presId="urn:microsoft.com/office/officeart/2005/8/layout/process3"/>
    <dgm:cxn modelId="{B119FF1D-762B-FE46-ABA2-48C48B932B87}" type="presParOf" srcId="{E45BA181-FFAA-B848-8FA5-9EF397878496}" destId="{EE0421BA-31DA-5B40-8454-EC309E46A14D}" srcOrd="2" destOrd="0" presId="urn:microsoft.com/office/officeart/2005/8/layout/process3"/>
    <dgm:cxn modelId="{9F8737B5-C1FE-C246-AC71-9B46D97E3975}" type="presParOf" srcId="{9A13D9F3-EF95-BC4B-B84B-D6ECE014026F}" destId="{32DA3362-29D1-8A48-B58E-9D6756331B83}" srcOrd="1" destOrd="0" presId="urn:microsoft.com/office/officeart/2005/8/layout/process3"/>
    <dgm:cxn modelId="{E78ABBE2-943B-5D44-918F-78C98C098515}" type="presParOf" srcId="{32DA3362-29D1-8A48-B58E-9D6756331B83}" destId="{0D2F7899-1B2B-924F-A611-B1A1FA00E12B}" srcOrd="0" destOrd="0" presId="urn:microsoft.com/office/officeart/2005/8/layout/process3"/>
    <dgm:cxn modelId="{33DDA053-6E70-074A-BA51-34CCF049D199}" type="presParOf" srcId="{9A13D9F3-EF95-BC4B-B84B-D6ECE014026F}" destId="{B30015CE-D236-2746-8C06-57A221DB9C67}" srcOrd="2" destOrd="0" presId="urn:microsoft.com/office/officeart/2005/8/layout/process3"/>
    <dgm:cxn modelId="{CDC16600-3568-3448-AB36-DA224617598E}" type="presParOf" srcId="{B30015CE-D236-2746-8C06-57A221DB9C67}" destId="{6C4927AA-6A05-CD43-BFC9-93E99697023B}" srcOrd="0" destOrd="0" presId="urn:microsoft.com/office/officeart/2005/8/layout/process3"/>
    <dgm:cxn modelId="{3DCB8785-ABF3-624D-BB94-79C25BEC19D7}" type="presParOf" srcId="{B30015CE-D236-2746-8C06-57A221DB9C67}" destId="{21BC5DCC-FDA7-924B-9958-3ACED44848D3}" srcOrd="1" destOrd="0" presId="urn:microsoft.com/office/officeart/2005/8/layout/process3"/>
    <dgm:cxn modelId="{14E03D6D-DC3F-5646-B286-7C3D3D6D0E7D}" type="presParOf" srcId="{B30015CE-D236-2746-8C06-57A221DB9C67}" destId="{D8E08C21-70B7-874F-A319-71164A9A8F98}" srcOrd="2" destOrd="0" presId="urn:microsoft.com/office/officeart/2005/8/layout/process3"/>
    <dgm:cxn modelId="{7DA894BB-353C-2A4E-AB30-AF4AD490800F}" type="presParOf" srcId="{9A13D9F3-EF95-BC4B-B84B-D6ECE014026F}" destId="{C2700D49-0FDF-7C4F-92F0-84020271A54B}" srcOrd="3" destOrd="0" presId="urn:microsoft.com/office/officeart/2005/8/layout/process3"/>
    <dgm:cxn modelId="{14CE3383-7580-7544-AE55-FDE78C100526}" type="presParOf" srcId="{C2700D49-0FDF-7C4F-92F0-84020271A54B}" destId="{E0BD7A7D-7C03-9449-A2B1-75B45D3B42BA}" srcOrd="0" destOrd="0" presId="urn:microsoft.com/office/officeart/2005/8/layout/process3"/>
    <dgm:cxn modelId="{F7DBD44E-E914-7243-9C00-D2CE509133D0}" type="presParOf" srcId="{9A13D9F3-EF95-BC4B-B84B-D6ECE014026F}" destId="{5DB161D3-2C90-1649-AB5E-C7064D120A44}" srcOrd="4" destOrd="0" presId="urn:microsoft.com/office/officeart/2005/8/layout/process3"/>
    <dgm:cxn modelId="{0138E379-075C-474F-BE4F-B39BEEC4A870}" type="presParOf" srcId="{5DB161D3-2C90-1649-AB5E-C7064D120A44}" destId="{F5A5FA5C-15E3-354F-AA63-3FFBDC766775}" srcOrd="0" destOrd="0" presId="urn:microsoft.com/office/officeart/2005/8/layout/process3"/>
    <dgm:cxn modelId="{DCBD6500-8E2A-2E4D-AD19-DDF3318FB95C}" type="presParOf" srcId="{5DB161D3-2C90-1649-AB5E-C7064D120A44}" destId="{46068763-A7C0-A440-AC3A-C2E290D1947A}" srcOrd="1" destOrd="0" presId="urn:microsoft.com/office/officeart/2005/8/layout/process3"/>
    <dgm:cxn modelId="{688E044E-F378-3A4E-A6D5-232B86BFFF5E}" type="presParOf" srcId="{5DB161D3-2C90-1649-AB5E-C7064D120A44}" destId="{64460725-7CEE-B24C-A65F-F2FD1D01D1CF}" srcOrd="2" destOrd="0" presId="urn:microsoft.com/office/officeart/2005/8/layout/process3"/>
    <dgm:cxn modelId="{39AE80D2-30FF-5448-AEAD-9FDD30413E6A}" type="presParOf" srcId="{9A13D9F3-EF95-BC4B-B84B-D6ECE014026F}" destId="{971BBA82-7FC6-F840-9C4E-557C52DCDFD3}" srcOrd="5" destOrd="0" presId="urn:microsoft.com/office/officeart/2005/8/layout/process3"/>
    <dgm:cxn modelId="{AEE6A085-9A3B-9749-B472-ECBA591AED00}" type="presParOf" srcId="{971BBA82-7FC6-F840-9C4E-557C52DCDFD3}" destId="{717EFC56-8F2D-564D-B65C-6D83F4D40DC7}" srcOrd="0" destOrd="0" presId="urn:microsoft.com/office/officeart/2005/8/layout/process3"/>
    <dgm:cxn modelId="{8DF34E86-2630-AF4E-98FD-3B1F633D38D1}" type="presParOf" srcId="{9A13D9F3-EF95-BC4B-B84B-D6ECE014026F}" destId="{100B7691-1CB2-FE4D-AD13-28FDCE5523BC}" srcOrd="6" destOrd="0" presId="urn:microsoft.com/office/officeart/2005/8/layout/process3"/>
    <dgm:cxn modelId="{3B7158A4-5CDB-D541-8EC5-C4698F47D4E8}" type="presParOf" srcId="{100B7691-1CB2-FE4D-AD13-28FDCE5523BC}" destId="{FFFF62F2-E594-2744-B814-68C598C96382}" srcOrd="0" destOrd="0" presId="urn:microsoft.com/office/officeart/2005/8/layout/process3"/>
    <dgm:cxn modelId="{01A35DC2-DCCE-6440-9D51-F7E6CC8CDB9C}" type="presParOf" srcId="{100B7691-1CB2-FE4D-AD13-28FDCE5523BC}" destId="{5C963CCE-1354-B947-9DFE-52E9ECA02951}" srcOrd="1" destOrd="0" presId="urn:microsoft.com/office/officeart/2005/8/layout/process3"/>
    <dgm:cxn modelId="{ED6516B3-3F27-394F-954B-BCA5AEC5AA50}" type="presParOf" srcId="{100B7691-1CB2-FE4D-AD13-28FDCE5523BC}" destId="{222503D1-0C47-2F40-9361-12354177933C}"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BAAF6E-D70E-5F4F-9AF0-1D39F47D9676}" type="doc">
      <dgm:prSet loTypeId="urn:microsoft.com/office/officeart/2005/8/layout/process3" loCatId="" qsTypeId="urn:microsoft.com/office/officeart/2005/8/quickstyle/simple1" qsCatId="simple" csTypeId="urn:microsoft.com/office/officeart/2005/8/colors/accent2_1" csCatId="accent2" phldr="1"/>
      <dgm:spPr/>
      <dgm:t>
        <a:bodyPr/>
        <a:lstStyle/>
        <a:p>
          <a:endParaRPr lang="en-GB"/>
        </a:p>
      </dgm:t>
    </dgm:pt>
    <dgm:pt modelId="{659CA6BF-3F61-1D4E-B62A-4D892D691C51}">
      <dgm:prSet phldrT="[Text]"/>
      <dgm:spPr/>
      <dgm:t>
        <a:bodyPr/>
        <a:lstStyle/>
        <a:p>
          <a:pPr>
            <a:buFont typeface="Arial" panose="020B0604020202020204" pitchFamily="34" charset="0"/>
            <a:buChar char="•"/>
          </a:pPr>
          <a:r>
            <a:rPr lang="en-IN" dirty="0"/>
            <a:t>Uploads logos directly through a web portal .</a:t>
          </a:r>
          <a:endParaRPr lang="en-GB" dirty="0"/>
        </a:p>
      </dgm:t>
    </dgm:pt>
    <dgm:pt modelId="{CA734978-A1C9-C940-9B88-91DB596CBDB2}" type="parTrans" cxnId="{F15B8AF9-A2B2-E149-8F1A-C2A5ED5FFE94}">
      <dgm:prSet/>
      <dgm:spPr/>
      <dgm:t>
        <a:bodyPr/>
        <a:lstStyle/>
        <a:p>
          <a:endParaRPr lang="en-GB"/>
        </a:p>
      </dgm:t>
    </dgm:pt>
    <dgm:pt modelId="{DE91A10D-5332-0549-A90E-B8865B560BD3}" type="sibTrans" cxnId="{F15B8AF9-A2B2-E149-8F1A-C2A5ED5FFE94}">
      <dgm:prSet/>
      <dgm:spPr/>
      <dgm:t>
        <a:bodyPr/>
        <a:lstStyle/>
        <a:p>
          <a:endParaRPr lang="en-GB"/>
        </a:p>
      </dgm:t>
    </dgm:pt>
    <dgm:pt modelId="{591B7704-96B7-894F-99A5-1CFDB5C94D17}">
      <dgm:prSet phldrT="[Text]"/>
      <dgm:spPr/>
      <dgm:t>
        <a:bodyPr/>
        <a:lstStyle/>
        <a:p>
          <a:pPr>
            <a:buFont typeface="Arial" panose="020B0604020202020204" pitchFamily="34" charset="0"/>
            <a:buChar char="•"/>
          </a:pPr>
          <a:r>
            <a:rPr lang="en-IN" dirty="0"/>
            <a:t>Automatically resizes into required formats (500×500, 1000×1000, 1500×1000).</a:t>
          </a:r>
          <a:endParaRPr lang="en-GB" dirty="0"/>
        </a:p>
      </dgm:t>
    </dgm:pt>
    <dgm:pt modelId="{BD32D72B-C084-A74C-839A-E086EAB8C400}" type="parTrans" cxnId="{14CD87A3-125D-A94C-8381-5A5ACE19A86E}">
      <dgm:prSet/>
      <dgm:spPr/>
      <dgm:t>
        <a:bodyPr/>
        <a:lstStyle/>
        <a:p>
          <a:endParaRPr lang="en-GB"/>
        </a:p>
      </dgm:t>
    </dgm:pt>
    <dgm:pt modelId="{9806DC31-2C09-F240-98BF-510CEC8C0DDB}" type="sibTrans" cxnId="{14CD87A3-125D-A94C-8381-5A5ACE19A86E}">
      <dgm:prSet/>
      <dgm:spPr/>
      <dgm:t>
        <a:bodyPr/>
        <a:lstStyle/>
        <a:p>
          <a:endParaRPr lang="en-GB"/>
        </a:p>
      </dgm:t>
    </dgm:pt>
    <dgm:pt modelId="{58AECEF3-F079-284B-8194-9608C7FC9292}">
      <dgm:prSet phldrT="[Text]"/>
      <dgm:spPr/>
      <dgm:t>
        <a:bodyPr/>
        <a:lstStyle/>
        <a:p>
          <a:r>
            <a:rPr lang="en-GB" dirty="0"/>
            <a:t>Backend System</a:t>
          </a:r>
        </a:p>
      </dgm:t>
    </dgm:pt>
    <dgm:pt modelId="{00CF15E3-F182-E94A-93AD-8CC97B428E26}" type="parTrans" cxnId="{228E98A4-AA3B-F644-B186-B2CD0BE8E2D6}">
      <dgm:prSet/>
      <dgm:spPr/>
      <dgm:t>
        <a:bodyPr/>
        <a:lstStyle/>
        <a:p>
          <a:endParaRPr lang="en-GB"/>
        </a:p>
      </dgm:t>
    </dgm:pt>
    <dgm:pt modelId="{B00CDB34-4399-BC4C-99F2-EBE369CE82BA}" type="sibTrans" cxnId="{228E98A4-AA3B-F644-B186-B2CD0BE8E2D6}">
      <dgm:prSet/>
      <dgm:spPr/>
      <dgm:t>
        <a:bodyPr/>
        <a:lstStyle/>
        <a:p>
          <a:endParaRPr lang="en-GB"/>
        </a:p>
      </dgm:t>
    </dgm:pt>
    <dgm:pt modelId="{8B6A77E7-F8E2-9C40-98B8-E9517E101F1F}">
      <dgm:prSet phldrT="[Text]"/>
      <dgm:spPr/>
      <dgm:t>
        <a:bodyPr/>
        <a:lstStyle/>
        <a:p>
          <a:pPr>
            <a:buFont typeface="Arial" panose="020B0604020202020204" pitchFamily="34" charset="0"/>
            <a:buChar char="•"/>
          </a:pPr>
          <a:r>
            <a:rPr lang="en-IN" dirty="0"/>
            <a:t>Stores all processed assets in structured folders (per brand ID).</a:t>
          </a:r>
          <a:endParaRPr lang="en-GB" dirty="0"/>
        </a:p>
      </dgm:t>
    </dgm:pt>
    <dgm:pt modelId="{0DBABFFC-2DCD-B541-9A9D-1A48993E2CA6}" type="parTrans" cxnId="{D2DC7536-7F19-F64E-9A28-A00830E5E047}">
      <dgm:prSet/>
      <dgm:spPr/>
      <dgm:t>
        <a:bodyPr/>
        <a:lstStyle/>
        <a:p>
          <a:endParaRPr lang="en-GB"/>
        </a:p>
      </dgm:t>
    </dgm:pt>
    <dgm:pt modelId="{B1B25B9D-2E1B-C641-A4D5-704A6D7A2330}" type="sibTrans" cxnId="{D2DC7536-7F19-F64E-9A28-A00830E5E047}">
      <dgm:prSet/>
      <dgm:spPr/>
      <dgm:t>
        <a:bodyPr/>
        <a:lstStyle/>
        <a:p>
          <a:endParaRPr lang="en-GB"/>
        </a:p>
      </dgm:t>
    </dgm:pt>
    <dgm:pt modelId="{84804440-5D02-7844-959F-66D811CE621E}">
      <dgm:prSet phldrT="[Text]"/>
      <dgm:spPr/>
      <dgm:t>
        <a:bodyPr/>
        <a:lstStyle/>
        <a:p>
          <a:r>
            <a:rPr lang="en-GB" dirty="0"/>
            <a:t>Merchant Notification</a:t>
          </a:r>
        </a:p>
      </dgm:t>
    </dgm:pt>
    <dgm:pt modelId="{37CDFB70-69D6-2C46-9A9E-42F2DF113D53}" type="parTrans" cxnId="{8F494188-990B-8546-AA87-E20E5135444E}">
      <dgm:prSet/>
      <dgm:spPr/>
      <dgm:t>
        <a:bodyPr/>
        <a:lstStyle/>
        <a:p>
          <a:endParaRPr lang="en-GB"/>
        </a:p>
      </dgm:t>
    </dgm:pt>
    <dgm:pt modelId="{07517101-10A4-C247-BEB7-333A3C8E15B0}" type="sibTrans" cxnId="{8F494188-990B-8546-AA87-E20E5135444E}">
      <dgm:prSet/>
      <dgm:spPr/>
      <dgm:t>
        <a:bodyPr/>
        <a:lstStyle/>
        <a:p>
          <a:endParaRPr lang="en-GB"/>
        </a:p>
      </dgm:t>
    </dgm:pt>
    <dgm:pt modelId="{C3DB3402-4223-1E43-8B7C-8B935B242F3F}">
      <dgm:prSet phldrT="[Text]"/>
      <dgm:spPr/>
      <dgm:t>
        <a:bodyPr/>
        <a:lstStyle/>
        <a:p>
          <a:r>
            <a:rPr lang="en-GB" dirty="0"/>
            <a:t>Automation Service</a:t>
          </a:r>
        </a:p>
      </dgm:t>
    </dgm:pt>
    <dgm:pt modelId="{AC4EE087-E234-FC4B-820F-8C8A7685A7B5}" type="sibTrans" cxnId="{8911320E-43BF-9947-8CA4-12ABB96CB5CA}">
      <dgm:prSet/>
      <dgm:spPr/>
      <dgm:t>
        <a:bodyPr/>
        <a:lstStyle/>
        <a:p>
          <a:endParaRPr lang="en-GB"/>
        </a:p>
      </dgm:t>
    </dgm:pt>
    <dgm:pt modelId="{52756CB1-A1C7-EC46-A44F-0781C6B9DB58}" type="parTrans" cxnId="{8911320E-43BF-9947-8CA4-12ABB96CB5CA}">
      <dgm:prSet/>
      <dgm:spPr/>
      <dgm:t>
        <a:bodyPr/>
        <a:lstStyle/>
        <a:p>
          <a:endParaRPr lang="en-GB"/>
        </a:p>
      </dgm:t>
    </dgm:pt>
    <dgm:pt modelId="{2E968ED6-1DD9-4247-A395-0330F4D620B1}">
      <dgm:prSet phldrT="[Text]"/>
      <dgm:spPr/>
      <dgm:t>
        <a:bodyPr/>
        <a:lstStyle/>
        <a:p>
          <a:r>
            <a:rPr lang="en-GB"/>
            <a:t>Merchant</a:t>
          </a:r>
          <a:endParaRPr lang="en-GB" dirty="0"/>
        </a:p>
      </dgm:t>
    </dgm:pt>
    <dgm:pt modelId="{4B2372C8-3758-D145-941D-EE7C2E6AF83A}" type="sibTrans" cxnId="{96BBF670-5100-7348-9A0A-F2BC61A39DE3}">
      <dgm:prSet/>
      <dgm:spPr/>
      <dgm:t>
        <a:bodyPr/>
        <a:lstStyle/>
        <a:p>
          <a:endParaRPr lang="en-GB"/>
        </a:p>
      </dgm:t>
    </dgm:pt>
    <dgm:pt modelId="{88ABD57B-8A67-1E4B-8AD2-DB50E8C443F2}" type="parTrans" cxnId="{96BBF670-5100-7348-9A0A-F2BC61A39DE3}">
      <dgm:prSet/>
      <dgm:spPr/>
      <dgm:t>
        <a:bodyPr/>
        <a:lstStyle/>
        <a:p>
          <a:endParaRPr lang="en-GB"/>
        </a:p>
      </dgm:t>
    </dgm:pt>
    <dgm:pt modelId="{CA04D490-B677-F544-8F47-43FD37133ECF}">
      <dgm:prSet/>
      <dgm:spPr/>
      <dgm:t>
        <a:bodyPr/>
        <a:lstStyle/>
        <a:p>
          <a:pPr>
            <a:buFont typeface="Arial" panose="020B0604020202020204" pitchFamily="34" charset="0"/>
            <a:buChar char="•"/>
          </a:pPr>
          <a:r>
            <a:rPr lang="en-IN" dirty="0"/>
            <a:t>Portal enforces basic checks (file type, size, dimensions).</a:t>
          </a:r>
        </a:p>
      </dgm:t>
    </dgm:pt>
    <dgm:pt modelId="{33225902-D0A1-3A45-ADA9-2ADAE92939CA}" type="parTrans" cxnId="{AC865A5D-993D-334B-B4E9-BAC3C3837C6B}">
      <dgm:prSet/>
      <dgm:spPr/>
      <dgm:t>
        <a:bodyPr/>
        <a:lstStyle/>
        <a:p>
          <a:endParaRPr lang="en-GB"/>
        </a:p>
      </dgm:t>
    </dgm:pt>
    <dgm:pt modelId="{CDA0BAFB-5D89-3A4F-8B64-863181CF1C05}" type="sibTrans" cxnId="{AC865A5D-993D-334B-B4E9-BAC3C3837C6B}">
      <dgm:prSet/>
      <dgm:spPr/>
      <dgm:t>
        <a:bodyPr/>
        <a:lstStyle/>
        <a:p>
          <a:endParaRPr lang="en-GB"/>
        </a:p>
      </dgm:t>
    </dgm:pt>
    <dgm:pt modelId="{3CB822C3-EF0D-3940-9321-8A8393149888}">
      <dgm:prSet/>
      <dgm:spPr/>
      <dgm:t>
        <a:bodyPr/>
        <a:lstStyle/>
        <a:p>
          <a:pPr>
            <a:buFont typeface="Arial" panose="020B0604020202020204" pitchFamily="34" charset="0"/>
            <a:buChar char="•"/>
          </a:pPr>
          <a:r>
            <a:rPr lang="en-IN" dirty="0"/>
            <a:t>Ensures consistent input, no more random formats.</a:t>
          </a:r>
        </a:p>
      </dgm:t>
    </dgm:pt>
    <dgm:pt modelId="{E52ED6C7-B7C8-9445-8303-B25810FDD89B}" type="parTrans" cxnId="{462AD802-0B96-8E42-96F3-FF1383CC3B0B}">
      <dgm:prSet/>
      <dgm:spPr/>
      <dgm:t>
        <a:bodyPr/>
        <a:lstStyle/>
        <a:p>
          <a:endParaRPr lang="en-GB"/>
        </a:p>
      </dgm:t>
    </dgm:pt>
    <dgm:pt modelId="{A59C9ED2-1431-AB47-9226-EAC098930505}" type="sibTrans" cxnId="{462AD802-0B96-8E42-96F3-FF1383CC3B0B}">
      <dgm:prSet/>
      <dgm:spPr/>
      <dgm:t>
        <a:bodyPr/>
        <a:lstStyle/>
        <a:p>
          <a:endParaRPr lang="en-GB"/>
        </a:p>
      </dgm:t>
    </dgm:pt>
    <dgm:pt modelId="{124F1151-2586-634B-BC63-81AA1C630BBE}">
      <dgm:prSet/>
      <dgm:spPr/>
      <dgm:t>
        <a:bodyPr/>
        <a:lstStyle/>
        <a:p>
          <a:pPr>
            <a:buFont typeface="Arial" panose="020B0604020202020204" pitchFamily="34" charset="0"/>
            <a:buChar char="•"/>
          </a:pPr>
          <a:r>
            <a:rPr lang="en-IN" dirty="0"/>
            <a:t>Generates black background / inverted version in parallel.</a:t>
          </a:r>
        </a:p>
      </dgm:t>
    </dgm:pt>
    <dgm:pt modelId="{FD637DEC-6D99-EE42-A67B-8AD3D94B4B7C}" type="parTrans" cxnId="{9DF25A8E-B467-2F48-BBD8-2750C96DB9A7}">
      <dgm:prSet/>
      <dgm:spPr/>
      <dgm:t>
        <a:bodyPr/>
        <a:lstStyle/>
        <a:p>
          <a:endParaRPr lang="en-GB"/>
        </a:p>
      </dgm:t>
    </dgm:pt>
    <dgm:pt modelId="{0EDA071A-28A2-0045-8B77-E36FAF1A9277}" type="sibTrans" cxnId="{9DF25A8E-B467-2F48-BBD8-2750C96DB9A7}">
      <dgm:prSet/>
      <dgm:spPr/>
      <dgm:t>
        <a:bodyPr/>
        <a:lstStyle/>
        <a:p>
          <a:endParaRPr lang="en-GB"/>
        </a:p>
      </dgm:t>
    </dgm:pt>
    <dgm:pt modelId="{B342E42B-DFF9-A346-895C-406FE0E49399}">
      <dgm:prSet/>
      <dgm:spPr/>
      <dgm:t>
        <a:bodyPr/>
        <a:lstStyle/>
        <a:p>
          <a:pPr>
            <a:buFont typeface="Arial" panose="020B0604020202020204" pitchFamily="34" charset="0"/>
            <a:buChar char="•"/>
          </a:pPr>
          <a:r>
            <a:rPr lang="en-IN" dirty="0"/>
            <a:t>Runs validation to flag corrupted or low-quality files.</a:t>
          </a:r>
        </a:p>
      </dgm:t>
    </dgm:pt>
    <dgm:pt modelId="{32440F53-AE4B-A14C-B065-C2C0901C9B7B}" type="parTrans" cxnId="{61B2D9B7-147E-144E-A9BB-2081094B4DD0}">
      <dgm:prSet/>
      <dgm:spPr/>
      <dgm:t>
        <a:bodyPr/>
        <a:lstStyle/>
        <a:p>
          <a:endParaRPr lang="en-GB"/>
        </a:p>
      </dgm:t>
    </dgm:pt>
    <dgm:pt modelId="{0B71A196-E247-3944-828F-58E83DBFAB0C}" type="sibTrans" cxnId="{61B2D9B7-147E-144E-A9BB-2081094B4DD0}">
      <dgm:prSet/>
      <dgm:spPr/>
      <dgm:t>
        <a:bodyPr/>
        <a:lstStyle/>
        <a:p>
          <a:endParaRPr lang="en-GB"/>
        </a:p>
      </dgm:t>
    </dgm:pt>
    <dgm:pt modelId="{D95DC551-EC15-0F4E-8CAF-75309F2A07E9}">
      <dgm:prSet/>
      <dgm:spPr/>
      <dgm:t>
        <a:bodyPr/>
        <a:lstStyle/>
        <a:p>
          <a:pPr>
            <a:buFont typeface="Arial" panose="020B0604020202020204" pitchFamily="34" charset="0"/>
            <a:buChar char="•"/>
          </a:pPr>
          <a:r>
            <a:rPr lang="en-IN" dirty="0"/>
            <a:t>Links files directly to the ShopBack brand page backend.</a:t>
          </a:r>
        </a:p>
      </dgm:t>
    </dgm:pt>
    <dgm:pt modelId="{40DA80C0-EA17-2449-872D-2364D85A07D3}" type="parTrans" cxnId="{EF8E4CAC-5AC6-6241-8A53-7049A68B538F}">
      <dgm:prSet/>
      <dgm:spPr/>
      <dgm:t>
        <a:bodyPr/>
        <a:lstStyle/>
        <a:p>
          <a:endParaRPr lang="en-GB"/>
        </a:p>
      </dgm:t>
    </dgm:pt>
    <dgm:pt modelId="{90FC35FE-72FC-464D-96CB-2A62FB6FBDF0}" type="sibTrans" cxnId="{EF8E4CAC-5AC6-6241-8A53-7049A68B538F}">
      <dgm:prSet/>
      <dgm:spPr/>
      <dgm:t>
        <a:bodyPr/>
        <a:lstStyle/>
        <a:p>
          <a:endParaRPr lang="en-GB"/>
        </a:p>
      </dgm:t>
    </dgm:pt>
    <dgm:pt modelId="{0C62AB08-E6F9-0D44-B084-7A2154AF4133}">
      <dgm:prSet/>
      <dgm:spPr/>
      <dgm:t>
        <a:bodyPr/>
        <a:lstStyle/>
        <a:p>
          <a:pPr>
            <a:buFont typeface="Arial" panose="020B0604020202020204" pitchFamily="34" charset="0"/>
            <a:buChar char="•"/>
          </a:pPr>
          <a:r>
            <a:rPr lang="en-IN" dirty="0"/>
            <a:t>Removes manual uploading by Ops.</a:t>
          </a:r>
        </a:p>
      </dgm:t>
    </dgm:pt>
    <dgm:pt modelId="{D276C40C-6243-AD4B-9228-E76DECEE1BD7}" type="parTrans" cxnId="{005DAEDA-F3D8-5A40-9E10-A2C73BD02B59}">
      <dgm:prSet/>
      <dgm:spPr/>
      <dgm:t>
        <a:bodyPr/>
        <a:lstStyle/>
        <a:p>
          <a:endParaRPr lang="en-GB"/>
        </a:p>
      </dgm:t>
    </dgm:pt>
    <dgm:pt modelId="{CCEA30B4-FD78-3141-BE8E-95D9201E89F8}" type="sibTrans" cxnId="{005DAEDA-F3D8-5A40-9E10-A2C73BD02B59}">
      <dgm:prSet/>
      <dgm:spPr/>
      <dgm:t>
        <a:bodyPr/>
        <a:lstStyle/>
        <a:p>
          <a:endParaRPr lang="en-GB"/>
        </a:p>
      </dgm:t>
    </dgm:pt>
    <dgm:pt modelId="{A20DCEAD-97FE-FF4B-8798-02026AD4D331}">
      <dgm:prSet/>
      <dgm:spPr/>
      <dgm:t>
        <a:bodyPr/>
        <a:lstStyle/>
        <a:p>
          <a:pPr>
            <a:buFont typeface="Arial" panose="020B0604020202020204" pitchFamily="34" charset="0"/>
            <a:buChar char="•"/>
          </a:pPr>
          <a:r>
            <a:rPr lang="en-IN"/>
            <a:t>Sends auto-email once assets are processed and uploaded.</a:t>
          </a:r>
          <a:endParaRPr lang="en-GB"/>
        </a:p>
      </dgm:t>
    </dgm:pt>
    <dgm:pt modelId="{500ED0C6-5175-5F4F-ABD3-4A5CFD5DE877}" type="parTrans" cxnId="{3C2F58A9-FE3E-694E-AC5A-2EC69F6673EF}">
      <dgm:prSet/>
      <dgm:spPr/>
      <dgm:t>
        <a:bodyPr/>
        <a:lstStyle/>
        <a:p>
          <a:endParaRPr lang="en-GB"/>
        </a:p>
      </dgm:t>
    </dgm:pt>
    <dgm:pt modelId="{0CDC58F9-2F1F-C443-884D-DE4267D48209}" type="sibTrans" cxnId="{3C2F58A9-FE3E-694E-AC5A-2EC69F6673EF}">
      <dgm:prSet/>
      <dgm:spPr/>
      <dgm:t>
        <a:bodyPr/>
        <a:lstStyle/>
        <a:p>
          <a:endParaRPr lang="en-GB"/>
        </a:p>
      </dgm:t>
    </dgm:pt>
    <dgm:pt modelId="{B3DAA018-509A-1742-AC93-DCC3BCA48B0F}">
      <dgm:prSet/>
      <dgm:spPr/>
      <dgm:t>
        <a:bodyPr/>
        <a:lstStyle/>
        <a:p>
          <a:pPr>
            <a:buFont typeface="Arial" panose="020B0604020202020204" pitchFamily="34" charset="0"/>
            <a:buChar char="•"/>
          </a:pPr>
          <a:r>
            <a:rPr lang="en-IN"/>
            <a:t>Confirms readiness of brand page to merchant.</a:t>
          </a:r>
        </a:p>
      </dgm:t>
    </dgm:pt>
    <dgm:pt modelId="{0C1DEFE6-3697-CF43-8B0A-AFE001F58A90}" type="parTrans" cxnId="{E4D42F42-CE48-AE48-8FBD-A291BF408A92}">
      <dgm:prSet/>
      <dgm:spPr/>
      <dgm:t>
        <a:bodyPr/>
        <a:lstStyle/>
        <a:p>
          <a:endParaRPr lang="en-GB"/>
        </a:p>
      </dgm:t>
    </dgm:pt>
    <dgm:pt modelId="{9422FDFA-9218-9F48-978C-5A6540EE2262}" type="sibTrans" cxnId="{E4D42F42-CE48-AE48-8FBD-A291BF408A92}">
      <dgm:prSet/>
      <dgm:spPr/>
      <dgm:t>
        <a:bodyPr/>
        <a:lstStyle/>
        <a:p>
          <a:endParaRPr lang="en-GB"/>
        </a:p>
      </dgm:t>
    </dgm:pt>
    <dgm:pt modelId="{E8C4AF3B-6121-1D46-BC71-53DA104BFF4E}">
      <dgm:prSet/>
      <dgm:spPr/>
      <dgm:t>
        <a:bodyPr/>
        <a:lstStyle/>
        <a:p>
          <a:pPr>
            <a:buFont typeface="Arial" panose="020B0604020202020204" pitchFamily="34" charset="0"/>
            <a:buChar char="•"/>
          </a:pPr>
          <a:r>
            <a:rPr lang="en-IN"/>
            <a:t>Future-ready: can evolve into a dashboard for self-service tracking.</a:t>
          </a:r>
        </a:p>
      </dgm:t>
    </dgm:pt>
    <dgm:pt modelId="{17BC323F-25CB-9549-AF0A-CC404D72D907}" type="parTrans" cxnId="{4A379CDA-F3C7-EE45-A2DB-C6D1074DCF75}">
      <dgm:prSet/>
      <dgm:spPr/>
      <dgm:t>
        <a:bodyPr/>
        <a:lstStyle/>
        <a:p>
          <a:endParaRPr lang="en-GB"/>
        </a:p>
      </dgm:t>
    </dgm:pt>
    <dgm:pt modelId="{B69AE51C-035D-6A4D-857C-B9AAE7122E76}" type="sibTrans" cxnId="{4A379CDA-F3C7-EE45-A2DB-C6D1074DCF75}">
      <dgm:prSet/>
      <dgm:spPr/>
      <dgm:t>
        <a:bodyPr/>
        <a:lstStyle/>
        <a:p>
          <a:endParaRPr lang="en-GB"/>
        </a:p>
      </dgm:t>
    </dgm:pt>
    <dgm:pt modelId="{7F0C0CF8-5390-8F4B-9E5E-D3179EE0BAA2}" type="pres">
      <dgm:prSet presAssocID="{55BAAF6E-D70E-5F4F-9AF0-1D39F47D9676}" presName="linearFlow" presStyleCnt="0">
        <dgm:presLayoutVars>
          <dgm:dir/>
          <dgm:animLvl val="lvl"/>
          <dgm:resizeHandles val="exact"/>
        </dgm:presLayoutVars>
      </dgm:prSet>
      <dgm:spPr/>
    </dgm:pt>
    <dgm:pt modelId="{3DD162BA-143D-8843-9D1B-8C64D12B3971}" type="pres">
      <dgm:prSet presAssocID="{2E968ED6-1DD9-4247-A395-0330F4D620B1}" presName="composite" presStyleCnt="0"/>
      <dgm:spPr/>
    </dgm:pt>
    <dgm:pt modelId="{86430CED-5CE1-AF46-9183-3F54460788D6}" type="pres">
      <dgm:prSet presAssocID="{2E968ED6-1DD9-4247-A395-0330F4D620B1}" presName="parTx" presStyleLbl="node1" presStyleIdx="0" presStyleCnt="4">
        <dgm:presLayoutVars>
          <dgm:chMax val="0"/>
          <dgm:chPref val="0"/>
          <dgm:bulletEnabled val="1"/>
        </dgm:presLayoutVars>
      </dgm:prSet>
      <dgm:spPr/>
    </dgm:pt>
    <dgm:pt modelId="{93F735A8-33FB-B74A-A61D-8380262FB701}" type="pres">
      <dgm:prSet presAssocID="{2E968ED6-1DD9-4247-A395-0330F4D620B1}" presName="parSh" presStyleLbl="node1" presStyleIdx="0" presStyleCnt="4"/>
      <dgm:spPr/>
    </dgm:pt>
    <dgm:pt modelId="{0F006B30-1D55-F44D-81A8-2BB5311A6FAF}" type="pres">
      <dgm:prSet presAssocID="{2E968ED6-1DD9-4247-A395-0330F4D620B1}" presName="desTx" presStyleLbl="fgAcc1" presStyleIdx="0" presStyleCnt="4">
        <dgm:presLayoutVars>
          <dgm:bulletEnabled val="1"/>
        </dgm:presLayoutVars>
      </dgm:prSet>
      <dgm:spPr/>
    </dgm:pt>
    <dgm:pt modelId="{6C881DC5-05C0-D742-88B8-6C11AFEE88B1}" type="pres">
      <dgm:prSet presAssocID="{4B2372C8-3758-D145-941D-EE7C2E6AF83A}" presName="sibTrans" presStyleLbl="sibTrans2D1" presStyleIdx="0" presStyleCnt="3"/>
      <dgm:spPr/>
    </dgm:pt>
    <dgm:pt modelId="{31631596-1B33-D442-BC8D-A561EE36DBA1}" type="pres">
      <dgm:prSet presAssocID="{4B2372C8-3758-D145-941D-EE7C2E6AF83A}" presName="connTx" presStyleLbl="sibTrans2D1" presStyleIdx="0" presStyleCnt="3"/>
      <dgm:spPr/>
    </dgm:pt>
    <dgm:pt modelId="{CBB82395-9FF2-E547-A13F-6E4974AC82D1}" type="pres">
      <dgm:prSet presAssocID="{C3DB3402-4223-1E43-8B7C-8B935B242F3F}" presName="composite" presStyleCnt="0"/>
      <dgm:spPr/>
    </dgm:pt>
    <dgm:pt modelId="{38141A65-25D0-0749-9009-BB573856B8EF}" type="pres">
      <dgm:prSet presAssocID="{C3DB3402-4223-1E43-8B7C-8B935B242F3F}" presName="parTx" presStyleLbl="node1" presStyleIdx="0" presStyleCnt="4">
        <dgm:presLayoutVars>
          <dgm:chMax val="0"/>
          <dgm:chPref val="0"/>
          <dgm:bulletEnabled val="1"/>
        </dgm:presLayoutVars>
      </dgm:prSet>
      <dgm:spPr/>
    </dgm:pt>
    <dgm:pt modelId="{6B0C03CA-2EEA-944C-8921-59F6C893A475}" type="pres">
      <dgm:prSet presAssocID="{C3DB3402-4223-1E43-8B7C-8B935B242F3F}" presName="parSh" presStyleLbl="node1" presStyleIdx="1" presStyleCnt="4"/>
      <dgm:spPr/>
    </dgm:pt>
    <dgm:pt modelId="{2E3037E2-F335-5D4D-8AAB-122E768256EA}" type="pres">
      <dgm:prSet presAssocID="{C3DB3402-4223-1E43-8B7C-8B935B242F3F}" presName="desTx" presStyleLbl="fgAcc1" presStyleIdx="1" presStyleCnt="4">
        <dgm:presLayoutVars>
          <dgm:bulletEnabled val="1"/>
        </dgm:presLayoutVars>
      </dgm:prSet>
      <dgm:spPr/>
    </dgm:pt>
    <dgm:pt modelId="{1BA38551-3A19-754C-B6D5-A7CD91A71C9D}" type="pres">
      <dgm:prSet presAssocID="{AC4EE087-E234-FC4B-820F-8C8A7685A7B5}" presName="sibTrans" presStyleLbl="sibTrans2D1" presStyleIdx="1" presStyleCnt="3"/>
      <dgm:spPr/>
    </dgm:pt>
    <dgm:pt modelId="{28255291-F9FB-8A4C-B6DD-F079C2F921D6}" type="pres">
      <dgm:prSet presAssocID="{AC4EE087-E234-FC4B-820F-8C8A7685A7B5}" presName="connTx" presStyleLbl="sibTrans2D1" presStyleIdx="1" presStyleCnt="3"/>
      <dgm:spPr/>
    </dgm:pt>
    <dgm:pt modelId="{C98A838A-243F-9246-93D6-EAE388302299}" type="pres">
      <dgm:prSet presAssocID="{58AECEF3-F079-284B-8194-9608C7FC9292}" presName="composite" presStyleCnt="0"/>
      <dgm:spPr/>
    </dgm:pt>
    <dgm:pt modelId="{8BB230D5-7207-D645-BDE9-565F8C33939D}" type="pres">
      <dgm:prSet presAssocID="{58AECEF3-F079-284B-8194-9608C7FC9292}" presName="parTx" presStyleLbl="node1" presStyleIdx="1" presStyleCnt="4">
        <dgm:presLayoutVars>
          <dgm:chMax val="0"/>
          <dgm:chPref val="0"/>
          <dgm:bulletEnabled val="1"/>
        </dgm:presLayoutVars>
      </dgm:prSet>
      <dgm:spPr/>
    </dgm:pt>
    <dgm:pt modelId="{82253D30-05E9-114E-98FE-0290749B7C28}" type="pres">
      <dgm:prSet presAssocID="{58AECEF3-F079-284B-8194-9608C7FC9292}" presName="parSh" presStyleLbl="node1" presStyleIdx="2" presStyleCnt="4"/>
      <dgm:spPr/>
    </dgm:pt>
    <dgm:pt modelId="{0C374C00-27CF-4143-90CB-3959916D2568}" type="pres">
      <dgm:prSet presAssocID="{58AECEF3-F079-284B-8194-9608C7FC9292}" presName="desTx" presStyleLbl="fgAcc1" presStyleIdx="2" presStyleCnt="4">
        <dgm:presLayoutVars>
          <dgm:bulletEnabled val="1"/>
        </dgm:presLayoutVars>
      </dgm:prSet>
      <dgm:spPr/>
    </dgm:pt>
    <dgm:pt modelId="{BB4093C3-F458-D24D-A2D7-BC03C73F3E25}" type="pres">
      <dgm:prSet presAssocID="{B00CDB34-4399-BC4C-99F2-EBE369CE82BA}" presName="sibTrans" presStyleLbl="sibTrans2D1" presStyleIdx="2" presStyleCnt="3"/>
      <dgm:spPr/>
    </dgm:pt>
    <dgm:pt modelId="{D268658E-B50B-284D-899B-6711DBB5CC12}" type="pres">
      <dgm:prSet presAssocID="{B00CDB34-4399-BC4C-99F2-EBE369CE82BA}" presName="connTx" presStyleLbl="sibTrans2D1" presStyleIdx="2" presStyleCnt="3"/>
      <dgm:spPr/>
    </dgm:pt>
    <dgm:pt modelId="{926A7E6C-0231-7C44-9228-CDA812CCDFBD}" type="pres">
      <dgm:prSet presAssocID="{84804440-5D02-7844-959F-66D811CE621E}" presName="composite" presStyleCnt="0"/>
      <dgm:spPr/>
    </dgm:pt>
    <dgm:pt modelId="{32F0435C-FF3F-384D-BFC2-851C05443C13}" type="pres">
      <dgm:prSet presAssocID="{84804440-5D02-7844-959F-66D811CE621E}" presName="parTx" presStyleLbl="node1" presStyleIdx="2" presStyleCnt="4">
        <dgm:presLayoutVars>
          <dgm:chMax val="0"/>
          <dgm:chPref val="0"/>
          <dgm:bulletEnabled val="1"/>
        </dgm:presLayoutVars>
      </dgm:prSet>
      <dgm:spPr/>
    </dgm:pt>
    <dgm:pt modelId="{99D20AE9-CED7-2C48-A713-A5A47958AA75}" type="pres">
      <dgm:prSet presAssocID="{84804440-5D02-7844-959F-66D811CE621E}" presName="parSh" presStyleLbl="node1" presStyleIdx="3" presStyleCnt="4"/>
      <dgm:spPr/>
    </dgm:pt>
    <dgm:pt modelId="{379FA456-4B8A-F640-8671-D08674F60F16}" type="pres">
      <dgm:prSet presAssocID="{84804440-5D02-7844-959F-66D811CE621E}" presName="desTx" presStyleLbl="fgAcc1" presStyleIdx="3" presStyleCnt="4">
        <dgm:presLayoutVars>
          <dgm:bulletEnabled val="1"/>
        </dgm:presLayoutVars>
      </dgm:prSet>
      <dgm:spPr/>
    </dgm:pt>
  </dgm:ptLst>
  <dgm:cxnLst>
    <dgm:cxn modelId="{462AD802-0B96-8E42-96F3-FF1383CC3B0B}" srcId="{2E968ED6-1DD9-4247-A395-0330F4D620B1}" destId="{3CB822C3-EF0D-3940-9321-8A8393149888}" srcOrd="2" destOrd="0" parTransId="{E52ED6C7-B7C8-9445-8303-B25810FDD89B}" sibTransId="{A59C9ED2-1431-AB47-9226-EAC098930505}"/>
    <dgm:cxn modelId="{C2B3EC04-5F7F-A543-A1CD-B717C7DBDB3F}" type="presOf" srcId="{2E968ED6-1DD9-4247-A395-0330F4D620B1}" destId="{93F735A8-33FB-B74A-A61D-8380262FB701}" srcOrd="1" destOrd="0" presId="urn:microsoft.com/office/officeart/2005/8/layout/process3"/>
    <dgm:cxn modelId="{ECF78C05-EAF4-1F48-93F9-11FE068C7E0C}" type="presOf" srcId="{B00CDB34-4399-BC4C-99F2-EBE369CE82BA}" destId="{D268658E-B50B-284D-899B-6711DBB5CC12}" srcOrd="1" destOrd="0" presId="urn:microsoft.com/office/officeart/2005/8/layout/process3"/>
    <dgm:cxn modelId="{8911320E-43BF-9947-8CA4-12ABB96CB5CA}" srcId="{55BAAF6E-D70E-5F4F-9AF0-1D39F47D9676}" destId="{C3DB3402-4223-1E43-8B7C-8B935B242F3F}" srcOrd="1" destOrd="0" parTransId="{52756CB1-A1C7-EC46-A44F-0781C6B9DB58}" sibTransId="{AC4EE087-E234-FC4B-820F-8C8A7685A7B5}"/>
    <dgm:cxn modelId="{26147B16-33D3-B54F-B400-DE25435EC6A7}" type="presOf" srcId="{84804440-5D02-7844-959F-66D811CE621E}" destId="{32F0435C-FF3F-384D-BFC2-851C05443C13}" srcOrd="0" destOrd="0" presId="urn:microsoft.com/office/officeart/2005/8/layout/process3"/>
    <dgm:cxn modelId="{ACDF0119-EB72-5C4B-A8CC-0401043B43EE}" type="presOf" srcId="{A20DCEAD-97FE-FF4B-8798-02026AD4D331}" destId="{379FA456-4B8A-F640-8671-D08674F60F16}" srcOrd="0" destOrd="0" presId="urn:microsoft.com/office/officeart/2005/8/layout/process3"/>
    <dgm:cxn modelId="{8B73EC19-8569-4849-B70D-6E3AC47BC795}" type="presOf" srcId="{B342E42B-DFF9-A346-895C-406FE0E49399}" destId="{2E3037E2-F335-5D4D-8AAB-122E768256EA}" srcOrd="0" destOrd="2" presId="urn:microsoft.com/office/officeart/2005/8/layout/process3"/>
    <dgm:cxn modelId="{4FC12C25-E658-634A-8D91-047FC681C514}" type="presOf" srcId="{4B2372C8-3758-D145-941D-EE7C2E6AF83A}" destId="{6C881DC5-05C0-D742-88B8-6C11AFEE88B1}" srcOrd="0" destOrd="0" presId="urn:microsoft.com/office/officeart/2005/8/layout/process3"/>
    <dgm:cxn modelId="{D2DC7536-7F19-F64E-9A28-A00830E5E047}" srcId="{58AECEF3-F079-284B-8194-9608C7FC9292}" destId="{8B6A77E7-F8E2-9C40-98B8-E9517E101F1F}" srcOrd="0" destOrd="0" parTransId="{0DBABFFC-2DCD-B541-9A9D-1A48993E2CA6}" sibTransId="{B1B25B9D-2E1B-C641-A4D5-704A6D7A2330}"/>
    <dgm:cxn modelId="{4A9D1038-3224-4446-B003-4A546590E54E}" type="presOf" srcId="{58AECEF3-F079-284B-8194-9608C7FC9292}" destId="{8BB230D5-7207-D645-BDE9-565F8C33939D}" srcOrd="0" destOrd="0" presId="urn:microsoft.com/office/officeart/2005/8/layout/process3"/>
    <dgm:cxn modelId="{E4D42F42-CE48-AE48-8FBD-A291BF408A92}" srcId="{84804440-5D02-7844-959F-66D811CE621E}" destId="{B3DAA018-509A-1742-AC93-DCC3BCA48B0F}" srcOrd="1" destOrd="0" parTransId="{0C1DEFE6-3697-CF43-8B0A-AFE001F58A90}" sibTransId="{9422FDFA-9218-9F48-978C-5A6540EE2262}"/>
    <dgm:cxn modelId="{77976D4D-472A-1245-9C98-981FBBF055E0}" type="presOf" srcId="{3CB822C3-EF0D-3940-9321-8A8393149888}" destId="{0F006B30-1D55-F44D-81A8-2BB5311A6FAF}" srcOrd="0" destOrd="2" presId="urn:microsoft.com/office/officeart/2005/8/layout/process3"/>
    <dgm:cxn modelId="{101E5659-8451-7F4E-9300-B59D25F13CBE}" type="presOf" srcId="{8B6A77E7-F8E2-9C40-98B8-E9517E101F1F}" destId="{0C374C00-27CF-4143-90CB-3959916D2568}" srcOrd="0" destOrd="0" presId="urn:microsoft.com/office/officeart/2005/8/layout/process3"/>
    <dgm:cxn modelId="{AC865A5D-993D-334B-B4E9-BAC3C3837C6B}" srcId="{2E968ED6-1DD9-4247-A395-0330F4D620B1}" destId="{CA04D490-B677-F544-8F47-43FD37133ECF}" srcOrd="1" destOrd="0" parTransId="{33225902-D0A1-3A45-ADA9-2ADAE92939CA}" sibTransId="{CDA0BAFB-5D89-3A4F-8B64-863181CF1C05}"/>
    <dgm:cxn modelId="{37B62766-0297-684D-A6DF-3DEA27CABD9B}" type="presOf" srcId="{124F1151-2586-634B-BC63-81AA1C630BBE}" destId="{2E3037E2-F335-5D4D-8AAB-122E768256EA}" srcOrd="0" destOrd="1" presId="urn:microsoft.com/office/officeart/2005/8/layout/process3"/>
    <dgm:cxn modelId="{80F36C67-38C2-7249-A07F-56E7096DDA71}" type="presOf" srcId="{AC4EE087-E234-FC4B-820F-8C8A7685A7B5}" destId="{28255291-F9FB-8A4C-B6DD-F079C2F921D6}" srcOrd="1" destOrd="0" presId="urn:microsoft.com/office/officeart/2005/8/layout/process3"/>
    <dgm:cxn modelId="{89189B6F-9A89-9A48-AAF7-A05B66944DD0}" type="presOf" srcId="{C3DB3402-4223-1E43-8B7C-8B935B242F3F}" destId="{38141A65-25D0-0749-9009-BB573856B8EF}" srcOrd="0" destOrd="0" presId="urn:microsoft.com/office/officeart/2005/8/layout/process3"/>
    <dgm:cxn modelId="{96BBF670-5100-7348-9A0A-F2BC61A39DE3}" srcId="{55BAAF6E-D70E-5F4F-9AF0-1D39F47D9676}" destId="{2E968ED6-1DD9-4247-A395-0330F4D620B1}" srcOrd="0" destOrd="0" parTransId="{88ABD57B-8A67-1E4B-8AD2-DB50E8C443F2}" sibTransId="{4B2372C8-3758-D145-941D-EE7C2E6AF83A}"/>
    <dgm:cxn modelId="{6F83A571-282F-EF46-B951-38B60EF6DAAC}" type="presOf" srcId="{0C62AB08-E6F9-0D44-B084-7A2154AF4133}" destId="{0C374C00-27CF-4143-90CB-3959916D2568}" srcOrd="0" destOrd="2" presId="urn:microsoft.com/office/officeart/2005/8/layout/process3"/>
    <dgm:cxn modelId="{82A48B72-B963-604A-B99E-0507AEB06281}" type="presOf" srcId="{55BAAF6E-D70E-5F4F-9AF0-1D39F47D9676}" destId="{7F0C0CF8-5390-8F4B-9E5E-D3179EE0BAA2}" srcOrd="0" destOrd="0" presId="urn:microsoft.com/office/officeart/2005/8/layout/process3"/>
    <dgm:cxn modelId="{8F494188-990B-8546-AA87-E20E5135444E}" srcId="{55BAAF6E-D70E-5F4F-9AF0-1D39F47D9676}" destId="{84804440-5D02-7844-959F-66D811CE621E}" srcOrd="3" destOrd="0" parTransId="{37CDFB70-69D6-2C46-9A9E-42F2DF113D53}" sibTransId="{07517101-10A4-C247-BEB7-333A3C8E15B0}"/>
    <dgm:cxn modelId="{7D3B7D8C-81B8-BF40-8A3D-1D962698FAC9}" type="presOf" srcId="{B3DAA018-509A-1742-AC93-DCC3BCA48B0F}" destId="{379FA456-4B8A-F640-8671-D08674F60F16}" srcOrd="0" destOrd="1" presId="urn:microsoft.com/office/officeart/2005/8/layout/process3"/>
    <dgm:cxn modelId="{0ED7288D-ACE8-384A-A19D-A6A5867D49B8}" type="presOf" srcId="{B00CDB34-4399-BC4C-99F2-EBE369CE82BA}" destId="{BB4093C3-F458-D24D-A2D7-BC03C73F3E25}" srcOrd="0" destOrd="0" presId="urn:microsoft.com/office/officeart/2005/8/layout/process3"/>
    <dgm:cxn modelId="{9DF25A8E-B467-2F48-BBD8-2750C96DB9A7}" srcId="{C3DB3402-4223-1E43-8B7C-8B935B242F3F}" destId="{124F1151-2586-634B-BC63-81AA1C630BBE}" srcOrd="1" destOrd="0" parTransId="{FD637DEC-6D99-EE42-A67B-8AD3D94B4B7C}" sibTransId="{0EDA071A-28A2-0045-8B77-E36FAF1A9277}"/>
    <dgm:cxn modelId="{C080F39E-BF76-E046-8EDC-056E7AF3E2F0}" type="presOf" srcId="{84804440-5D02-7844-959F-66D811CE621E}" destId="{99D20AE9-CED7-2C48-A713-A5A47958AA75}" srcOrd="1" destOrd="0" presId="urn:microsoft.com/office/officeart/2005/8/layout/process3"/>
    <dgm:cxn modelId="{14CD87A3-125D-A94C-8381-5A5ACE19A86E}" srcId="{C3DB3402-4223-1E43-8B7C-8B935B242F3F}" destId="{591B7704-96B7-894F-99A5-1CFDB5C94D17}" srcOrd="0" destOrd="0" parTransId="{BD32D72B-C084-A74C-839A-E086EAB8C400}" sibTransId="{9806DC31-2C09-F240-98BF-510CEC8C0DDB}"/>
    <dgm:cxn modelId="{7E76EFA3-2A47-3B43-906C-BE43AD9273AD}" type="presOf" srcId="{C3DB3402-4223-1E43-8B7C-8B935B242F3F}" destId="{6B0C03CA-2EEA-944C-8921-59F6C893A475}" srcOrd="1" destOrd="0" presId="urn:microsoft.com/office/officeart/2005/8/layout/process3"/>
    <dgm:cxn modelId="{228E98A4-AA3B-F644-B186-B2CD0BE8E2D6}" srcId="{55BAAF6E-D70E-5F4F-9AF0-1D39F47D9676}" destId="{58AECEF3-F079-284B-8194-9608C7FC9292}" srcOrd="2" destOrd="0" parTransId="{00CF15E3-F182-E94A-93AD-8CC97B428E26}" sibTransId="{B00CDB34-4399-BC4C-99F2-EBE369CE82BA}"/>
    <dgm:cxn modelId="{3C2F58A9-FE3E-694E-AC5A-2EC69F6673EF}" srcId="{84804440-5D02-7844-959F-66D811CE621E}" destId="{A20DCEAD-97FE-FF4B-8798-02026AD4D331}" srcOrd="0" destOrd="0" parTransId="{500ED0C6-5175-5F4F-ABD3-4A5CFD5DE877}" sibTransId="{0CDC58F9-2F1F-C443-884D-DE4267D48209}"/>
    <dgm:cxn modelId="{998AA3AA-4E65-1649-85F0-6764C9628B43}" type="presOf" srcId="{58AECEF3-F079-284B-8194-9608C7FC9292}" destId="{82253D30-05E9-114E-98FE-0290749B7C28}" srcOrd="1" destOrd="0" presId="urn:microsoft.com/office/officeart/2005/8/layout/process3"/>
    <dgm:cxn modelId="{EF8E4CAC-5AC6-6241-8A53-7049A68B538F}" srcId="{58AECEF3-F079-284B-8194-9608C7FC9292}" destId="{D95DC551-EC15-0F4E-8CAF-75309F2A07E9}" srcOrd="1" destOrd="0" parTransId="{40DA80C0-EA17-2449-872D-2364D85A07D3}" sibTransId="{90FC35FE-72FC-464D-96CB-2A62FB6FBDF0}"/>
    <dgm:cxn modelId="{A9124BB1-554B-5F4C-BA5C-78C0F6FDA0B5}" type="presOf" srcId="{CA04D490-B677-F544-8F47-43FD37133ECF}" destId="{0F006B30-1D55-F44D-81A8-2BB5311A6FAF}" srcOrd="0" destOrd="1" presId="urn:microsoft.com/office/officeart/2005/8/layout/process3"/>
    <dgm:cxn modelId="{4AC37FB1-E380-1E4C-BA4D-F1B513834097}" type="presOf" srcId="{659CA6BF-3F61-1D4E-B62A-4D892D691C51}" destId="{0F006B30-1D55-F44D-81A8-2BB5311A6FAF}" srcOrd="0" destOrd="0" presId="urn:microsoft.com/office/officeart/2005/8/layout/process3"/>
    <dgm:cxn modelId="{378012B4-01FF-1340-AA7D-3735FCC62D44}" type="presOf" srcId="{2E968ED6-1DD9-4247-A395-0330F4D620B1}" destId="{86430CED-5CE1-AF46-9183-3F54460788D6}" srcOrd="0" destOrd="0" presId="urn:microsoft.com/office/officeart/2005/8/layout/process3"/>
    <dgm:cxn modelId="{331128B7-073F-DC4D-B31F-4A1CA5D5F02B}" type="presOf" srcId="{D95DC551-EC15-0F4E-8CAF-75309F2A07E9}" destId="{0C374C00-27CF-4143-90CB-3959916D2568}" srcOrd="0" destOrd="1" presId="urn:microsoft.com/office/officeart/2005/8/layout/process3"/>
    <dgm:cxn modelId="{61B2D9B7-147E-144E-A9BB-2081094B4DD0}" srcId="{C3DB3402-4223-1E43-8B7C-8B935B242F3F}" destId="{B342E42B-DFF9-A346-895C-406FE0E49399}" srcOrd="2" destOrd="0" parTransId="{32440F53-AE4B-A14C-B065-C2C0901C9B7B}" sibTransId="{0B71A196-E247-3944-828F-58E83DBFAB0C}"/>
    <dgm:cxn modelId="{CFF335BE-BFB3-DD41-A854-4F1FD3A927B5}" type="presOf" srcId="{4B2372C8-3758-D145-941D-EE7C2E6AF83A}" destId="{31631596-1B33-D442-BC8D-A561EE36DBA1}" srcOrd="1" destOrd="0" presId="urn:microsoft.com/office/officeart/2005/8/layout/process3"/>
    <dgm:cxn modelId="{4A379CDA-F3C7-EE45-A2DB-C6D1074DCF75}" srcId="{84804440-5D02-7844-959F-66D811CE621E}" destId="{E8C4AF3B-6121-1D46-BC71-53DA104BFF4E}" srcOrd="2" destOrd="0" parTransId="{17BC323F-25CB-9549-AF0A-CC404D72D907}" sibTransId="{B69AE51C-035D-6A4D-857C-B9AAE7122E76}"/>
    <dgm:cxn modelId="{005DAEDA-F3D8-5A40-9E10-A2C73BD02B59}" srcId="{58AECEF3-F079-284B-8194-9608C7FC9292}" destId="{0C62AB08-E6F9-0D44-B084-7A2154AF4133}" srcOrd="2" destOrd="0" parTransId="{D276C40C-6243-AD4B-9228-E76DECEE1BD7}" sibTransId="{CCEA30B4-FD78-3141-BE8E-95D9201E89F8}"/>
    <dgm:cxn modelId="{C54075F4-6E42-434A-BEA8-C93CEBE88AC4}" type="presOf" srcId="{E8C4AF3B-6121-1D46-BC71-53DA104BFF4E}" destId="{379FA456-4B8A-F640-8671-D08674F60F16}" srcOrd="0" destOrd="2" presId="urn:microsoft.com/office/officeart/2005/8/layout/process3"/>
    <dgm:cxn modelId="{209195F4-2F6F-2845-87C0-DF4822E7F91B}" type="presOf" srcId="{AC4EE087-E234-FC4B-820F-8C8A7685A7B5}" destId="{1BA38551-3A19-754C-B6D5-A7CD91A71C9D}" srcOrd="0" destOrd="0" presId="urn:microsoft.com/office/officeart/2005/8/layout/process3"/>
    <dgm:cxn modelId="{DFB0A6F7-7455-CB4F-9386-25BAE0F6B14B}" type="presOf" srcId="{591B7704-96B7-894F-99A5-1CFDB5C94D17}" destId="{2E3037E2-F335-5D4D-8AAB-122E768256EA}" srcOrd="0" destOrd="0" presId="urn:microsoft.com/office/officeart/2005/8/layout/process3"/>
    <dgm:cxn modelId="{F15B8AF9-A2B2-E149-8F1A-C2A5ED5FFE94}" srcId="{2E968ED6-1DD9-4247-A395-0330F4D620B1}" destId="{659CA6BF-3F61-1D4E-B62A-4D892D691C51}" srcOrd="0" destOrd="0" parTransId="{CA734978-A1C9-C940-9B88-91DB596CBDB2}" sibTransId="{DE91A10D-5332-0549-A90E-B8865B560BD3}"/>
    <dgm:cxn modelId="{73593142-E8CA-DC41-876F-B5974E611F47}" type="presParOf" srcId="{7F0C0CF8-5390-8F4B-9E5E-D3179EE0BAA2}" destId="{3DD162BA-143D-8843-9D1B-8C64D12B3971}" srcOrd="0" destOrd="0" presId="urn:microsoft.com/office/officeart/2005/8/layout/process3"/>
    <dgm:cxn modelId="{03A2CC1B-0F7F-5245-8868-05CD1D3357FC}" type="presParOf" srcId="{3DD162BA-143D-8843-9D1B-8C64D12B3971}" destId="{86430CED-5CE1-AF46-9183-3F54460788D6}" srcOrd="0" destOrd="0" presId="urn:microsoft.com/office/officeart/2005/8/layout/process3"/>
    <dgm:cxn modelId="{DC79D9EB-FE80-3D43-8C64-FB60AC42A83B}" type="presParOf" srcId="{3DD162BA-143D-8843-9D1B-8C64D12B3971}" destId="{93F735A8-33FB-B74A-A61D-8380262FB701}" srcOrd="1" destOrd="0" presId="urn:microsoft.com/office/officeart/2005/8/layout/process3"/>
    <dgm:cxn modelId="{9F9380F0-FFCC-4D44-9BF0-42BE34F0B3B0}" type="presParOf" srcId="{3DD162BA-143D-8843-9D1B-8C64D12B3971}" destId="{0F006B30-1D55-F44D-81A8-2BB5311A6FAF}" srcOrd="2" destOrd="0" presId="urn:microsoft.com/office/officeart/2005/8/layout/process3"/>
    <dgm:cxn modelId="{D6650E25-1963-754B-88EE-F986B48A3269}" type="presParOf" srcId="{7F0C0CF8-5390-8F4B-9E5E-D3179EE0BAA2}" destId="{6C881DC5-05C0-D742-88B8-6C11AFEE88B1}" srcOrd="1" destOrd="0" presId="urn:microsoft.com/office/officeart/2005/8/layout/process3"/>
    <dgm:cxn modelId="{653EBA05-CF01-8041-B2E1-222A8108B2E8}" type="presParOf" srcId="{6C881DC5-05C0-D742-88B8-6C11AFEE88B1}" destId="{31631596-1B33-D442-BC8D-A561EE36DBA1}" srcOrd="0" destOrd="0" presId="urn:microsoft.com/office/officeart/2005/8/layout/process3"/>
    <dgm:cxn modelId="{04D7084D-2B26-2444-AE79-14368EA21864}" type="presParOf" srcId="{7F0C0CF8-5390-8F4B-9E5E-D3179EE0BAA2}" destId="{CBB82395-9FF2-E547-A13F-6E4974AC82D1}" srcOrd="2" destOrd="0" presId="urn:microsoft.com/office/officeart/2005/8/layout/process3"/>
    <dgm:cxn modelId="{D40E22CB-0B37-4740-AA34-4FC0CBE8D69D}" type="presParOf" srcId="{CBB82395-9FF2-E547-A13F-6E4974AC82D1}" destId="{38141A65-25D0-0749-9009-BB573856B8EF}" srcOrd="0" destOrd="0" presId="urn:microsoft.com/office/officeart/2005/8/layout/process3"/>
    <dgm:cxn modelId="{B76C1C3F-9289-484F-8DF0-13C1EA0E39BE}" type="presParOf" srcId="{CBB82395-9FF2-E547-A13F-6E4974AC82D1}" destId="{6B0C03CA-2EEA-944C-8921-59F6C893A475}" srcOrd="1" destOrd="0" presId="urn:microsoft.com/office/officeart/2005/8/layout/process3"/>
    <dgm:cxn modelId="{36226F1A-23C0-4B4D-8BDE-13D357721DA0}" type="presParOf" srcId="{CBB82395-9FF2-E547-A13F-6E4974AC82D1}" destId="{2E3037E2-F335-5D4D-8AAB-122E768256EA}" srcOrd="2" destOrd="0" presId="urn:microsoft.com/office/officeart/2005/8/layout/process3"/>
    <dgm:cxn modelId="{830F0E5B-FA4D-7848-A286-4B8D6ECC1982}" type="presParOf" srcId="{7F0C0CF8-5390-8F4B-9E5E-D3179EE0BAA2}" destId="{1BA38551-3A19-754C-B6D5-A7CD91A71C9D}" srcOrd="3" destOrd="0" presId="urn:microsoft.com/office/officeart/2005/8/layout/process3"/>
    <dgm:cxn modelId="{AFCDB54B-31CE-A94E-9915-7FE560AE8E47}" type="presParOf" srcId="{1BA38551-3A19-754C-B6D5-A7CD91A71C9D}" destId="{28255291-F9FB-8A4C-B6DD-F079C2F921D6}" srcOrd="0" destOrd="0" presId="urn:microsoft.com/office/officeart/2005/8/layout/process3"/>
    <dgm:cxn modelId="{98597351-BD90-6249-B947-968C7032F7FB}" type="presParOf" srcId="{7F0C0CF8-5390-8F4B-9E5E-D3179EE0BAA2}" destId="{C98A838A-243F-9246-93D6-EAE388302299}" srcOrd="4" destOrd="0" presId="urn:microsoft.com/office/officeart/2005/8/layout/process3"/>
    <dgm:cxn modelId="{A7C6D940-E67C-3C48-B982-4D85091820E1}" type="presParOf" srcId="{C98A838A-243F-9246-93D6-EAE388302299}" destId="{8BB230D5-7207-D645-BDE9-565F8C33939D}" srcOrd="0" destOrd="0" presId="urn:microsoft.com/office/officeart/2005/8/layout/process3"/>
    <dgm:cxn modelId="{ED363593-B84D-9740-B084-949794B73EFE}" type="presParOf" srcId="{C98A838A-243F-9246-93D6-EAE388302299}" destId="{82253D30-05E9-114E-98FE-0290749B7C28}" srcOrd="1" destOrd="0" presId="urn:microsoft.com/office/officeart/2005/8/layout/process3"/>
    <dgm:cxn modelId="{0C79F38A-7F65-8C42-8F6C-A98F7F06FA47}" type="presParOf" srcId="{C98A838A-243F-9246-93D6-EAE388302299}" destId="{0C374C00-27CF-4143-90CB-3959916D2568}" srcOrd="2" destOrd="0" presId="urn:microsoft.com/office/officeart/2005/8/layout/process3"/>
    <dgm:cxn modelId="{94CCBBCA-A846-7240-AF0E-2D28F1FB3715}" type="presParOf" srcId="{7F0C0CF8-5390-8F4B-9E5E-D3179EE0BAA2}" destId="{BB4093C3-F458-D24D-A2D7-BC03C73F3E25}" srcOrd="5" destOrd="0" presId="urn:microsoft.com/office/officeart/2005/8/layout/process3"/>
    <dgm:cxn modelId="{0B3AC7C6-59AA-EC46-82F7-9154D0216D6E}" type="presParOf" srcId="{BB4093C3-F458-D24D-A2D7-BC03C73F3E25}" destId="{D268658E-B50B-284D-899B-6711DBB5CC12}" srcOrd="0" destOrd="0" presId="urn:microsoft.com/office/officeart/2005/8/layout/process3"/>
    <dgm:cxn modelId="{85082EAF-98D0-2240-87ED-CC911F1EE241}" type="presParOf" srcId="{7F0C0CF8-5390-8F4B-9E5E-D3179EE0BAA2}" destId="{926A7E6C-0231-7C44-9228-CDA812CCDFBD}" srcOrd="6" destOrd="0" presId="urn:microsoft.com/office/officeart/2005/8/layout/process3"/>
    <dgm:cxn modelId="{F8837224-FB30-0F4F-B65D-6098B8F24135}" type="presParOf" srcId="{926A7E6C-0231-7C44-9228-CDA812CCDFBD}" destId="{32F0435C-FF3F-384D-BFC2-851C05443C13}" srcOrd="0" destOrd="0" presId="urn:microsoft.com/office/officeart/2005/8/layout/process3"/>
    <dgm:cxn modelId="{ADC6E920-CD73-6B46-9099-BEFE48CBFF01}" type="presParOf" srcId="{926A7E6C-0231-7C44-9228-CDA812CCDFBD}" destId="{99D20AE9-CED7-2C48-A713-A5A47958AA75}" srcOrd="1" destOrd="0" presId="urn:microsoft.com/office/officeart/2005/8/layout/process3"/>
    <dgm:cxn modelId="{2483D89D-D994-854C-B0D3-EBB6963289CD}" type="presParOf" srcId="{926A7E6C-0231-7C44-9228-CDA812CCDFBD}" destId="{379FA456-4B8A-F640-8671-D08674F60F16}" srcOrd="2" destOrd="0" presId="urn:microsoft.com/office/officeart/2005/8/layout/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A8B3F63-0431-6C47-B092-4F58A1EA69E7}" type="doc">
      <dgm:prSet loTypeId="urn:microsoft.com/office/officeart/2005/8/layout/chevron2" loCatId="" qsTypeId="urn:microsoft.com/office/officeart/2005/8/quickstyle/simple1" qsCatId="simple" csTypeId="urn:microsoft.com/office/officeart/2005/8/colors/accent2_1" csCatId="accent2" phldr="1"/>
      <dgm:spPr/>
      <dgm:t>
        <a:bodyPr/>
        <a:lstStyle/>
        <a:p>
          <a:endParaRPr lang="en-GB"/>
        </a:p>
      </dgm:t>
    </dgm:pt>
    <dgm:pt modelId="{44D021A6-4B7E-024F-AD43-8E5A82A2A120}">
      <dgm:prSet phldrT="[Text]" custT="1"/>
      <dgm:spPr/>
      <dgm:t>
        <a:bodyPr/>
        <a:lstStyle/>
        <a:p>
          <a:r>
            <a:rPr lang="en-GB" sz="1100" dirty="0"/>
            <a:t>Portal </a:t>
          </a:r>
          <a:br>
            <a:rPr lang="en-GB" sz="1100" dirty="0"/>
          </a:br>
          <a:r>
            <a:rPr lang="en-GB" sz="1100" dirty="0"/>
            <a:t>(Weeks 1-2)</a:t>
          </a:r>
        </a:p>
      </dgm:t>
    </dgm:pt>
    <dgm:pt modelId="{0960F610-3572-F448-BFB9-6BF63EC33EB6}" type="parTrans" cxnId="{392E6656-4FB3-C149-A6CE-EEAC9535B8FE}">
      <dgm:prSet/>
      <dgm:spPr/>
      <dgm:t>
        <a:bodyPr/>
        <a:lstStyle/>
        <a:p>
          <a:endParaRPr lang="en-GB"/>
        </a:p>
      </dgm:t>
    </dgm:pt>
    <dgm:pt modelId="{8E49DE80-D4FD-B440-8037-397CE4F9D1A5}" type="sibTrans" cxnId="{392E6656-4FB3-C149-A6CE-EEAC9535B8FE}">
      <dgm:prSet/>
      <dgm:spPr/>
      <dgm:t>
        <a:bodyPr/>
        <a:lstStyle/>
        <a:p>
          <a:endParaRPr lang="en-GB"/>
        </a:p>
      </dgm:t>
    </dgm:pt>
    <dgm:pt modelId="{BAF8FFBD-478F-9443-B2BD-25266451C8BE}">
      <dgm:prSet phldrT="[Text]"/>
      <dgm:spPr/>
      <dgm:t>
        <a:bodyPr/>
        <a:lstStyle/>
        <a:p>
          <a:pPr>
            <a:buFont typeface="Arial" panose="020B0604020202020204" pitchFamily="34" charset="0"/>
            <a:buChar char="•"/>
          </a:pPr>
          <a:r>
            <a:rPr lang="en-IN" dirty="0"/>
            <a:t>Build lightweight merchant upload portal.</a:t>
          </a:r>
          <a:endParaRPr lang="en-GB" dirty="0"/>
        </a:p>
      </dgm:t>
    </dgm:pt>
    <dgm:pt modelId="{9E98CCA7-E8F3-2A48-A90D-AA95D0257B27}" type="parTrans" cxnId="{6018C9D8-B5C2-614E-AC8A-BF3D00CF5D47}">
      <dgm:prSet/>
      <dgm:spPr/>
      <dgm:t>
        <a:bodyPr/>
        <a:lstStyle/>
        <a:p>
          <a:endParaRPr lang="en-GB"/>
        </a:p>
      </dgm:t>
    </dgm:pt>
    <dgm:pt modelId="{1C495772-86A5-B74D-B855-8958B9A5DD16}" type="sibTrans" cxnId="{6018C9D8-B5C2-614E-AC8A-BF3D00CF5D47}">
      <dgm:prSet/>
      <dgm:spPr/>
      <dgm:t>
        <a:bodyPr/>
        <a:lstStyle/>
        <a:p>
          <a:endParaRPr lang="en-GB"/>
        </a:p>
      </dgm:t>
    </dgm:pt>
    <dgm:pt modelId="{9545492D-9BBF-4E43-B256-5FF6BA8881B1}">
      <dgm:prSet phldrT="[Text]"/>
      <dgm:spPr/>
      <dgm:t>
        <a:bodyPr/>
        <a:lstStyle/>
        <a:p>
          <a:r>
            <a:rPr lang="en-GB" dirty="0"/>
            <a:t>Automation</a:t>
          </a:r>
          <a:br>
            <a:rPr lang="en-GB" dirty="0"/>
          </a:br>
          <a:r>
            <a:rPr lang="en-GB" dirty="0"/>
            <a:t>(Weeks 3-4)</a:t>
          </a:r>
        </a:p>
      </dgm:t>
    </dgm:pt>
    <dgm:pt modelId="{A7D26B32-DA2F-3B40-A761-447BE3E93AD2}" type="parTrans" cxnId="{F5A9025F-0DC1-8144-8D50-C95EC6773EF2}">
      <dgm:prSet/>
      <dgm:spPr/>
      <dgm:t>
        <a:bodyPr/>
        <a:lstStyle/>
        <a:p>
          <a:endParaRPr lang="en-GB"/>
        </a:p>
      </dgm:t>
    </dgm:pt>
    <dgm:pt modelId="{7DC448C8-8B0C-6D45-B0D6-48D865DF8C7C}" type="sibTrans" cxnId="{F5A9025F-0DC1-8144-8D50-C95EC6773EF2}">
      <dgm:prSet/>
      <dgm:spPr/>
      <dgm:t>
        <a:bodyPr/>
        <a:lstStyle/>
        <a:p>
          <a:endParaRPr lang="en-GB"/>
        </a:p>
      </dgm:t>
    </dgm:pt>
    <dgm:pt modelId="{D2049C90-1EA3-AC4F-A59D-4C84A712C50E}">
      <dgm:prSet phldrT="[Text]" custT="1"/>
      <dgm:spPr/>
      <dgm:t>
        <a:bodyPr/>
        <a:lstStyle/>
        <a:p>
          <a:pPr>
            <a:buFont typeface="Arial" panose="020B0604020202020204" pitchFamily="34" charset="0"/>
            <a:buChar char="•"/>
          </a:pPr>
          <a:r>
            <a:rPr lang="en-IN" sz="1200" dirty="0"/>
            <a:t>Automate resizing into 500×500, 1000×1000, 1500×1000.</a:t>
          </a:r>
          <a:endParaRPr lang="en-GB" sz="1200" dirty="0"/>
        </a:p>
      </dgm:t>
    </dgm:pt>
    <dgm:pt modelId="{485B98F9-DC02-D445-84D6-A91F36E6FEE6}" type="parTrans" cxnId="{E12919F3-A0E5-C449-A9EE-4ACC432FF260}">
      <dgm:prSet/>
      <dgm:spPr/>
      <dgm:t>
        <a:bodyPr/>
        <a:lstStyle/>
        <a:p>
          <a:endParaRPr lang="en-GB"/>
        </a:p>
      </dgm:t>
    </dgm:pt>
    <dgm:pt modelId="{73051546-D2BB-DE4F-9712-3358D558FF08}" type="sibTrans" cxnId="{E12919F3-A0E5-C449-A9EE-4ACC432FF260}">
      <dgm:prSet/>
      <dgm:spPr/>
      <dgm:t>
        <a:bodyPr/>
        <a:lstStyle/>
        <a:p>
          <a:endParaRPr lang="en-GB"/>
        </a:p>
      </dgm:t>
    </dgm:pt>
    <dgm:pt modelId="{C248D2DC-068E-3B44-A66B-D256AB462D27}">
      <dgm:prSet phldrT="[Text]"/>
      <dgm:spPr/>
      <dgm:t>
        <a:bodyPr/>
        <a:lstStyle/>
        <a:p>
          <a:r>
            <a:rPr lang="en-GB" dirty="0"/>
            <a:t>Backend</a:t>
          </a:r>
          <a:br>
            <a:rPr lang="en-GB" dirty="0"/>
          </a:br>
          <a:r>
            <a:rPr lang="en-GB" dirty="0"/>
            <a:t>(Weeks 5-6)</a:t>
          </a:r>
        </a:p>
      </dgm:t>
    </dgm:pt>
    <dgm:pt modelId="{99B062AA-95B7-A24A-91C6-5D4A8600646C}" type="parTrans" cxnId="{8A8E7D84-3D9A-AF48-A117-A63C5E7D8E29}">
      <dgm:prSet/>
      <dgm:spPr/>
      <dgm:t>
        <a:bodyPr/>
        <a:lstStyle/>
        <a:p>
          <a:endParaRPr lang="en-GB"/>
        </a:p>
      </dgm:t>
    </dgm:pt>
    <dgm:pt modelId="{E14697AF-15A2-704C-BE33-69BA0B9597E7}" type="sibTrans" cxnId="{8A8E7D84-3D9A-AF48-A117-A63C5E7D8E29}">
      <dgm:prSet/>
      <dgm:spPr/>
      <dgm:t>
        <a:bodyPr/>
        <a:lstStyle/>
        <a:p>
          <a:endParaRPr lang="en-GB"/>
        </a:p>
      </dgm:t>
    </dgm:pt>
    <dgm:pt modelId="{D6B2F948-A2EC-C04A-8280-E2FE7FFFC589}">
      <dgm:prSet phldrT="[Text]"/>
      <dgm:spPr/>
      <dgm:t>
        <a:bodyPr/>
        <a:lstStyle/>
        <a:p>
          <a:pPr>
            <a:buFont typeface="Arial" panose="020B0604020202020204" pitchFamily="34" charset="0"/>
            <a:buChar char="•"/>
          </a:pPr>
          <a:r>
            <a:rPr lang="en-IN"/>
            <a:t>Store assets in structured brand_id folders.</a:t>
          </a:r>
          <a:endParaRPr lang="en-GB" dirty="0"/>
        </a:p>
      </dgm:t>
    </dgm:pt>
    <dgm:pt modelId="{CFF17BF8-8D9C-C54F-8882-C1816FD599ED}" type="parTrans" cxnId="{58C46486-6CB4-3549-81DA-0D291816B00E}">
      <dgm:prSet/>
      <dgm:spPr/>
      <dgm:t>
        <a:bodyPr/>
        <a:lstStyle/>
        <a:p>
          <a:endParaRPr lang="en-GB"/>
        </a:p>
      </dgm:t>
    </dgm:pt>
    <dgm:pt modelId="{AE448EF9-E209-CE4C-8B7B-A4481F2F3917}" type="sibTrans" cxnId="{58C46486-6CB4-3549-81DA-0D291816B00E}">
      <dgm:prSet/>
      <dgm:spPr/>
      <dgm:t>
        <a:bodyPr/>
        <a:lstStyle/>
        <a:p>
          <a:endParaRPr lang="en-GB"/>
        </a:p>
      </dgm:t>
    </dgm:pt>
    <dgm:pt modelId="{51D17AC4-01FA-CD46-B025-A8E825825FE4}">
      <dgm:prSet phldrT="[Text]"/>
      <dgm:spPr/>
      <dgm:t>
        <a:bodyPr/>
        <a:lstStyle/>
        <a:p>
          <a:r>
            <a:rPr lang="en-GB" dirty="0"/>
            <a:t>Notifications</a:t>
          </a:r>
          <a:br>
            <a:rPr lang="en-GB" dirty="0"/>
          </a:br>
          <a:r>
            <a:rPr lang="en-GB" dirty="0"/>
            <a:t>(Week 7)</a:t>
          </a:r>
        </a:p>
      </dgm:t>
    </dgm:pt>
    <dgm:pt modelId="{4371DAB9-027F-EF46-B338-5C872E657DDA}" type="parTrans" cxnId="{EA212008-9DB4-664E-B454-34816C33C0A4}">
      <dgm:prSet/>
      <dgm:spPr/>
      <dgm:t>
        <a:bodyPr/>
        <a:lstStyle/>
        <a:p>
          <a:endParaRPr lang="en-GB"/>
        </a:p>
      </dgm:t>
    </dgm:pt>
    <dgm:pt modelId="{B98AD34F-D8AD-1141-9B13-2240ACD0C362}" type="sibTrans" cxnId="{EA212008-9DB4-664E-B454-34816C33C0A4}">
      <dgm:prSet/>
      <dgm:spPr/>
      <dgm:t>
        <a:bodyPr/>
        <a:lstStyle/>
        <a:p>
          <a:endParaRPr lang="en-GB"/>
        </a:p>
      </dgm:t>
    </dgm:pt>
    <dgm:pt modelId="{EA08FAE3-5A65-DF40-BBDD-077B4B4909F3}">
      <dgm:prSet/>
      <dgm:spPr/>
      <dgm:t>
        <a:bodyPr/>
        <a:lstStyle/>
        <a:p>
          <a:pPr>
            <a:buFont typeface="Arial" panose="020B0604020202020204" pitchFamily="34" charset="0"/>
            <a:buChar char="•"/>
          </a:pPr>
          <a:endParaRPr lang="en-IN" sz="900" dirty="0"/>
        </a:p>
      </dgm:t>
    </dgm:pt>
    <dgm:pt modelId="{AAF13296-78C2-B745-B16E-2E0FBD0AF086}" type="parTrans" cxnId="{F52E2B8D-C1E7-3149-BA98-5D75CF0A9D32}">
      <dgm:prSet/>
      <dgm:spPr/>
      <dgm:t>
        <a:bodyPr/>
        <a:lstStyle/>
        <a:p>
          <a:endParaRPr lang="en-GB"/>
        </a:p>
      </dgm:t>
    </dgm:pt>
    <dgm:pt modelId="{2B24E608-1449-D945-BB71-540D3DFFA228}" type="sibTrans" cxnId="{F52E2B8D-C1E7-3149-BA98-5D75CF0A9D32}">
      <dgm:prSet/>
      <dgm:spPr/>
      <dgm:t>
        <a:bodyPr/>
        <a:lstStyle/>
        <a:p>
          <a:endParaRPr lang="en-GB"/>
        </a:p>
      </dgm:t>
    </dgm:pt>
    <dgm:pt modelId="{4F8DDCE1-080B-BD4E-83F7-CF5F6B5437D4}">
      <dgm:prSet/>
      <dgm:spPr/>
      <dgm:t>
        <a:bodyPr/>
        <a:lstStyle/>
        <a:p>
          <a:pPr>
            <a:buFont typeface="Arial" panose="020B0604020202020204" pitchFamily="34" charset="0"/>
            <a:buChar char="•"/>
          </a:pPr>
          <a:r>
            <a:rPr lang="en-IN" dirty="0"/>
            <a:t>Send auto-emails with processed assets.</a:t>
          </a:r>
          <a:endParaRPr lang="en-GB" dirty="0"/>
        </a:p>
      </dgm:t>
    </dgm:pt>
    <dgm:pt modelId="{AEE0E38A-F85D-7F4E-8B0C-06E5D1AEEE01}" type="parTrans" cxnId="{49DFD1C2-64AF-B54D-9C92-1933958DDA25}">
      <dgm:prSet/>
      <dgm:spPr/>
      <dgm:t>
        <a:bodyPr/>
        <a:lstStyle/>
        <a:p>
          <a:endParaRPr lang="en-GB"/>
        </a:p>
      </dgm:t>
    </dgm:pt>
    <dgm:pt modelId="{2B3C96CE-4A57-1D45-87CB-F65C973DBDA5}" type="sibTrans" cxnId="{49DFD1C2-64AF-B54D-9C92-1933958DDA25}">
      <dgm:prSet/>
      <dgm:spPr/>
      <dgm:t>
        <a:bodyPr/>
        <a:lstStyle/>
        <a:p>
          <a:endParaRPr lang="en-GB"/>
        </a:p>
      </dgm:t>
    </dgm:pt>
    <dgm:pt modelId="{AFE79A35-F721-DA40-8F00-CBF167DA1643}">
      <dgm:prSet/>
      <dgm:spPr/>
      <dgm:t>
        <a:bodyPr/>
        <a:lstStyle/>
        <a:p>
          <a:pPr>
            <a:buFont typeface="Arial" panose="020B0604020202020204" pitchFamily="34" charset="0"/>
            <a:buChar char="•"/>
          </a:pPr>
          <a:r>
            <a:rPr lang="en-IN" dirty="0"/>
            <a:t>Enforce basic file checks (PNG/JPG, size, dimensions).</a:t>
          </a:r>
        </a:p>
      </dgm:t>
    </dgm:pt>
    <dgm:pt modelId="{72BA8ECD-A649-1A41-B048-72C28F82783D}" type="parTrans" cxnId="{11F1B545-CDBC-DC4E-AC9C-11D41B1DCF78}">
      <dgm:prSet/>
      <dgm:spPr/>
      <dgm:t>
        <a:bodyPr/>
        <a:lstStyle/>
        <a:p>
          <a:endParaRPr lang="en-GB"/>
        </a:p>
      </dgm:t>
    </dgm:pt>
    <dgm:pt modelId="{EDCC59C0-F725-E24F-9134-025144E09CC8}" type="sibTrans" cxnId="{11F1B545-CDBC-DC4E-AC9C-11D41B1DCF78}">
      <dgm:prSet/>
      <dgm:spPr/>
      <dgm:t>
        <a:bodyPr/>
        <a:lstStyle/>
        <a:p>
          <a:endParaRPr lang="en-GB"/>
        </a:p>
      </dgm:t>
    </dgm:pt>
    <dgm:pt modelId="{F64E1705-C15B-7249-BCDE-F86EEA152C0B}">
      <dgm:prSet/>
      <dgm:spPr/>
      <dgm:t>
        <a:bodyPr/>
        <a:lstStyle/>
        <a:p>
          <a:pPr>
            <a:buFont typeface="Arial" panose="020B0604020202020204" pitchFamily="34" charset="0"/>
            <a:buChar char="•"/>
          </a:pPr>
          <a:r>
            <a:rPr lang="en-IN" dirty="0"/>
            <a:t>Introduce brand_id naming convention.</a:t>
          </a:r>
        </a:p>
      </dgm:t>
    </dgm:pt>
    <dgm:pt modelId="{989FECC6-70F9-ED40-808C-A22C1AE55DEF}" type="parTrans" cxnId="{C7429C44-C320-4248-9C53-BE37EFADF2C7}">
      <dgm:prSet/>
      <dgm:spPr/>
      <dgm:t>
        <a:bodyPr/>
        <a:lstStyle/>
        <a:p>
          <a:endParaRPr lang="en-GB"/>
        </a:p>
      </dgm:t>
    </dgm:pt>
    <dgm:pt modelId="{09A915B7-1B44-984E-9A50-E00EA6A44B81}" type="sibTrans" cxnId="{C7429C44-C320-4248-9C53-BE37EFADF2C7}">
      <dgm:prSet/>
      <dgm:spPr/>
      <dgm:t>
        <a:bodyPr/>
        <a:lstStyle/>
        <a:p>
          <a:endParaRPr lang="en-GB"/>
        </a:p>
      </dgm:t>
    </dgm:pt>
    <dgm:pt modelId="{C231DBE9-1256-7344-B724-EE6E052ACBD9}">
      <dgm:prSet/>
      <dgm:spPr/>
      <dgm:t>
        <a:bodyPr/>
        <a:lstStyle/>
        <a:p>
          <a:pPr>
            <a:buFont typeface="Arial" panose="020B0604020202020204" pitchFamily="34" charset="0"/>
            <a:buChar char="•"/>
          </a:pPr>
          <a:r>
            <a:rPr lang="en-IN" dirty="0"/>
            <a:t>Quick pilot with Ops.</a:t>
          </a:r>
        </a:p>
      </dgm:t>
    </dgm:pt>
    <dgm:pt modelId="{63E1FB8F-E929-6A4E-99A1-8A7C5F075033}" type="parTrans" cxnId="{7DABFE07-8B31-2D45-A0B8-DA106B0AF456}">
      <dgm:prSet/>
      <dgm:spPr/>
      <dgm:t>
        <a:bodyPr/>
        <a:lstStyle/>
        <a:p>
          <a:endParaRPr lang="en-GB"/>
        </a:p>
      </dgm:t>
    </dgm:pt>
    <dgm:pt modelId="{F92B2A79-7E8B-904F-8A22-58C659A1C286}" type="sibTrans" cxnId="{7DABFE07-8B31-2D45-A0B8-DA106B0AF456}">
      <dgm:prSet/>
      <dgm:spPr/>
      <dgm:t>
        <a:bodyPr/>
        <a:lstStyle/>
        <a:p>
          <a:endParaRPr lang="en-GB"/>
        </a:p>
      </dgm:t>
    </dgm:pt>
    <dgm:pt modelId="{F1D427A1-EA0D-C449-BC3C-009914EF3D9E}">
      <dgm:prSet custT="1"/>
      <dgm:spPr/>
      <dgm:t>
        <a:bodyPr/>
        <a:lstStyle/>
        <a:p>
          <a:pPr>
            <a:buFont typeface="Arial" panose="020B0604020202020204" pitchFamily="34" charset="0"/>
            <a:buChar char="•"/>
          </a:pPr>
          <a:r>
            <a:rPr lang="en-IN" sz="1200" dirty="0"/>
            <a:t>Generate logo-on-black variant.</a:t>
          </a:r>
        </a:p>
      </dgm:t>
    </dgm:pt>
    <dgm:pt modelId="{4BB4B732-1B57-3544-9B1D-21CE4F7B8533}" type="parTrans" cxnId="{F3A9710B-8AEA-D540-8108-B28056AD171F}">
      <dgm:prSet/>
      <dgm:spPr/>
      <dgm:t>
        <a:bodyPr/>
        <a:lstStyle/>
        <a:p>
          <a:endParaRPr lang="en-GB"/>
        </a:p>
      </dgm:t>
    </dgm:pt>
    <dgm:pt modelId="{0124A324-C678-404B-A271-C38862D260E6}" type="sibTrans" cxnId="{F3A9710B-8AEA-D540-8108-B28056AD171F}">
      <dgm:prSet/>
      <dgm:spPr/>
      <dgm:t>
        <a:bodyPr/>
        <a:lstStyle/>
        <a:p>
          <a:endParaRPr lang="en-GB"/>
        </a:p>
      </dgm:t>
    </dgm:pt>
    <dgm:pt modelId="{2C60C4FB-B65F-1341-A838-DF45F6BD5BB5}">
      <dgm:prSet custT="1"/>
      <dgm:spPr/>
      <dgm:t>
        <a:bodyPr/>
        <a:lstStyle/>
        <a:p>
          <a:pPr>
            <a:buFont typeface="Arial" panose="020B0604020202020204" pitchFamily="34" charset="0"/>
            <a:buChar char="•"/>
          </a:pPr>
          <a:r>
            <a:rPr lang="en-IN" sz="1200" dirty="0"/>
            <a:t>Run validation (reject corrupted/too small files).</a:t>
          </a:r>
        </a:p>
      </dgm:t>
    </dgm:pt>
    <dgm:pt modelId="{C5191B98-408B-A34F-8EF3-A266D8D81519}" type="parTrans" cxnId="{D6EF6F89-FBD4-674C-B143-2168889A57F9}">
      <dgm:prSet/>
      <dgm:spPr/>
      <dgm:t>
        <a:bodyPr/>
        <a:lstStyle/>
        <a:p>
          <a:endParaRPr lang="en-GB"/>
        </a:p>
      </dgm:t>
    </dgm:pt>
    <dgm:pt modelId="{B992BC41-DEDC-204A-B6AC-7D3BD38899F8}" type="sibTrans" cxnId="{D6EF6F89-FBD4-674C-B143-2168889A57F9}">
      <dgm:prSet/>
      <dgm:spPr/>
      <dgm:t>
        <a:bodyPr/>
        <a:lstStyle/>
        <a:p>
          <a:endParaRPr lang="en-GB"/>
        </a:p>
      </dgm:t>
    </dgm:pt>
    <dgm:pt modelId="{B544B318-EE6C-E64D-8BB8-49236F8E8753}">
      <dgm:prSet custT="1"/>
      <dgm:spPr/>
      <dgm:t>
        <a:bodyPr/>
        <a:lstStyle/>
        <a:p>
          <a:pPr>
            <a:buFont typeface="Arial" panose="020B0604020202020204" pitchFamily="34" charset="0"/>
            <a:buChar char="•"/>
          </a:pPr>
          <a:r>
            <a:rPr lang="en-IN" sz="1200" dirty="0"/>
            <a:t>Pilot with 1–2 merchants.</a:t>
          </a:r>
        </a:p>
      </dgm:t>
    </dgm:pt>
    <dgm:pt modelId="{DF3F6175-EE29-3D45-92E9-ED9D35AA8FC6}" type="parTrans" cxnId="{E974D678-526E-FF40-AD56-C06F98850D13}">
      <dgm:prSet/>
      <dgm:spPr/>
      <dgm:t>
        <a:bodyPr/>
        <a:lstStyle/>
        <a:p>
          <a:endParaRPr lang="en-GB"/>
        </a:p>
      </dgm:t>
    </dgm:pt>
    <dgm:pt modelId="{462EC3C8-8A2C-0540-B427-80DDEB72FA7C}" type="sibTrans" cxnId="{E974D678-526E-FF40-AD56-C06F98850D13}">
      <dgm:prSet/>
      <dgm:spPr/>
      <dgm:t>
        <a:bodyPr/>
        <a:lstStyle/>
        <a:p>
          <a:endParaRPr lang="en-GB"/>
        </a:p>
      </dgm:t>
    </dgm:pt>
    <dgm:pt modelId="{0CCE8D08-1CFD-8446-BCCB-610DA53DA3EB}">
      <dgm:prSet phldrT="[Text]" custT="1"/>
      <dgm:spPr/>
      <dgm:t>
        <a:bodyPr/>
        <a:lstStyle/>
        <a:p>
          <a:pPr>
            <a:buFont typeface="Arial" panose="020B0604020202020204" pitchFamily="34" charset="0"/>
            <a:buChar char="•"/>
          </a:pPr>
          <a:endParaRPr lang="en-GB" sz="1200" dirty="0"/>
        </a:p>
      </dgm:t>
    </dgm:pt>
    <dgm:pt modelId="{90317972-5B9D-7145-A712-9DA298B7F8BC}" type="parTrans" cxnId="{FCAA5823-61DB-D748-A846-C9825140209B}">
      <dgm:prSet/>
      <dgm:spPr/>
      <dgm:t>
        <a:bodyPr/>
        <a:lstStyle/>
        <a:p>
          <a:endParaRPr lang="en-GB"/>
        </a:p>
      </dgm:t>
    </dgm:pt>
    <dgm:pt modelId="{0C6F889F-2CDB-E642-92C4-5ACBEABA3904}" type="sibTrans" cxnId="{FCAA5823-61DB-D748-A846-C9825140209B}">
      <dgm:prSet/>
      <dgm:spPr/>
      <dgm:t>
        <a:bodyPr/>
        <a:lstStyle/>
        <a:p>
          <a:endParaRPr lang="en-GB"/>
        </a:p>
      </dgm:t>
    </dgm:pt>
    <dgm:pt modelId="{E6E30C62-3B8C-0C4C-911F-0EF06A856D31}">
      <dgm:prSet/>
      <dgm:spPr/>
      <dgm:t>
        <a:bodyPr/>
        <a:lstStyle/>
        <a:p>
          <a:pPr>
            <a:buFont typeface="Arial" panose="020B0604020202020204" pitchFamily="34" charset="0"/>
            <a:buChar char="•"/>
          </a:pPr>
          <a:r>
            <a:rPr lang="en-IN"/>
            <a:t>Link via mock API or manifest.</a:t>
          </a:r>
        </a:p>
      </dgm:t>
    </dgm:pt>
    <dgm:pt modelId="{55CEB41D-786A-9F4F-8C99-24EF4D3F6337}" type="parTrans" cxnId="{650DC017-C566-9944-B72E-3A9CB26C293E}">
      <dgm:prSet/>
      <dgm:spPr/>
      <dgm:t>
        <a:bodyPr/>
        <a:lstStyle/>
        <a:p>
          <a:endParaRPr lang="en-GB"/>
        </a:p>
      </dgm:t>
    </dgm:pt>
    <dgm:pt modelId="{DE77EBC2-94A5-1942-8D22-BF75AAEF741A}" type="sibTrans" cxnId="{650DC017-C566-9944-B72E-3A9CB26C293E}">
      <dgm:prSet/>
      <dgm:spPr/>
      <dgm:t>
        <a:bodyPr/>
        <a:lstStyle/>
        <a:p>
          <a:endParaRPr lang="en-GB"/>
        </a:p>
      </dgm:t>
    </dgm:pt>
    <dgm:pt modelId="{D42109AE-BF9D-2343-8F9D-56B4B212A7B5}">
      <dgm:prSet/>
      <dgm:spPr/>
      <dgm:t>
        <a:bodyPr/>
        <a:lstStyle/>
        <a:p>
          <a:pPr>
            <a:buFont typeface="Arial" panose="020B0604020202020204" pitchFamily="34" charset="0"/>
            <a:buChar char="•"/>
          </a:pPr>
          <a:r>
            <a:rPr lang="en-IN"/>
            <a:t>Add hashing/idempotency.</a:t>
          </a:r>
        </a:p>
      </dgm:t>
    </dgm:pt>
    <dgm:pt modelId="{66BA6CC5-72FB-984B-A474-2566D79B10A6}" type="parTrans" cxnId="{B2A7CA9D-B56C-7F46-B506-4FA61F451524}">
      <dgm:prSet/>
      <dgm:spPr/>
      <dgm:t>
        <a:bodyPr/>
        <a:lstStyle/>
        <a:p>
          <a:endParaRPr lang="en-GB"/>
        </a:p>
      </dgm:t>
    </dgm:pt>
    <dgm:pt modelId="{0B159AF0-0986-C744-840F-4F2B4C471631}" type="sibTrans" cxnId="{B2A7CA9D-B56C-7F46-B506-4FA61F451524}">
      <dgm:prSet/>
      <dgm:spPr/>
      <dgm:t>
        <a:bodyPr/>
        <a:lstStyle/>
        <a:p>
          <a:endParaRPr lang="en-GB"/>
        </a:p>
      </dgm:t>
    </dgm:pt>
    <dgm:pt modelId="{BCEABC51-DA95-844D-BED2-9736A9C6401E}">
      <dgm:prSet/>
      <dgm:spPr/>
      <dgm:t>
        <a:bodyPr/>
        <a:lstStyle/>
        <a:p>
          <a:pPr>
            <a:buFont typeface="Arial" panose="020B0604020202020204" pitchFamily="34" charset="0"/>
            <a:buChar char="•"/>
          </a:pPr>
          <a:r>
            <a:rPr lang="en-IN" dirty="0"/>
            <a:t>Define exception workflow (Ops reviews flagged files only).</a:t>
          </a:r>
        </a:p>
      </dgm:t>
    </dgm:pt>
    <dgm:pt modelId="{E83A6D60-CA9F-D743-A3A1-8AECD7EDA100}" type="parTrans" cxnId="{198BB6D8-3F42-9646-ACF4-3A2D1C2ABB1E}">
      <dgm:prSet/>
      <dgm:spPr/>
      <dgm:t>
        <a:bodyPr/>
        <a:lstStyle/>
        <a:p>
          <a:endParaRPr lang="en-GB"/>
        </a:p>
      </dgm:t>
    </dgm:pt>
    <dgm:pt modelId="{AD99DFC1-DCA7-2E4E-8A44-8195A8A29B15}" type="sibTrans" cxnId="{198BB6D8-3F42-9646-ACF4-3A2D1C2ABB1E}">
      <dgm:prSet/>
      <dgm:spPr/>
      <dgm:t>
        <a:bodyPr/>
        <a:lstStyle/>
        <a:p>
          <a:endParaRPr lang="en-GB"/>
        </a:p>
      </dgm:t>
    </dgm:pt>
    <dgm:pt modelId="{FBBC9CBC-E1CC-AA40-A015-E0C24B043338}">
      <dgm:prSet/>
      <dgm:spPr/>
      <dgm:t>
        <a:bodyPr/>
        <a:lstStyle/>
        <a:p>
          <a:pPr>
            <a:buFont typeface="Arial" panose="020B0604020202020204" pitchFamily="34" charset="0"/>
            <a:buChar char="•"/>
          </a:pPr>
          <a:r>
            <a:rPr lang="en-IN"/>
            <a:t>Share direct links with merchants + Ops.</a:t>
          </a:r>
        </a:p>
      </dgm:t>
    </dgm:pt>
    <dgm:pt modelId="{3EBDBC26-B3EB-7945-ABE8-D66509FD6D1F}" type="parTrans" cxnId="{F4A56E6B-3C44-204F-8A92-29249CDAC3FB}">
      <dgm:prSet/>
      <dgm:spPr/>
      <dgm:t>
        <a:bodyPr/>
        <a:lstStyle/>
        <a:p>
          <a:endParaRPr lang="en-GB"/>
        </a:p>
      </dgm:t>
    </dgm:pt>
    <dgm:pt modelId="{04CD052C-E3E4-2246-8B84-4A2DDE3BEF4F}" type="sibTrans" cxnId="{F4A56E6B-3C44-204F-8A92-29249CDAC3FB}">
      <dgm:prSet/>
      <dgm:spPr/>
      <dgm:t>
        <a:bodyPr/>
        <a:lstStyle/>
        <a:p>
          <a:endParaRPr lang="en-GB"/>
        </a:p>
      </dgm:t>
    </dgm:pt>
    <dgm:pt modelId="{C76593A3-AAB5-F642-AB45-CE616B9165C4}">
      <dgm:prSet/>
      <dgm:spPr/>
      <dgm:t>
        <a:bodyPr/>
        <a:lstStyle/>
        <a:p>
          <a:pPr>
            <a:buFont typeface="Arial" panose="020B0604020202020204" pitchFamily="34" charset="0"/>
            <a:buChar char="•"/>
          </a:pPr>
          <a:r>
            <a:rPr lang="en-IN" dirty="0"/>
            <a:t>Define roadmap → dashboard + CMS integration.</a:t>
          </a:r>
        </a:p>
      </dgm:t>
    </dgm:pt>
    <dgm:pt modelId="{2D853E00-E5D1-2147-B0B2-A3BB2DB002E2}" type="parTrans" cxnId="{53BD12FC-4BC8-9F4D-BC1E-178C9378BCDA}">
      <dgm:prSet/>
      <dgm:spPr/>
      <dgm:t>
        <a:bodyPr/>
        <a:lstStyle/>
        <a:p>
          <a:endParaRPr lang="en-GB"/>
        </a:p>
      </dgm:t>
    </dgm:pt>
    <dgm:pt modelId="{D41EE008-A549-1440-B1E8-D221553C8D4B}" type="sibTrans" cxnId="{53BD12FC-4BC8-9F4D-BC1E-178C9378BCDA}">
      <dgm:prSet/>
      <dgm:spPr/>
      <dgm:t>
        <a:bodyPr/>
        <a:lstStyle/>
        <a:p>
          <a:endParaRPr lang="en-GB"/>
        </a:p>
      </dgm:t>
    </dgm:pt>
    <dgm:pt modelId="{FF70903E-EFFA-1F46-8B5E-9DFD39ECF5DB}" type="pres">
      <dgm:prSet presAssocID="{8A8B3F63-0431-6C47-B092-4F58A1EA69E7}" presName="linearFlow" presStyleCnt="0">
        <dgm:presLayoutVars>
          <dgm:dir/>
          <dgm:animLvl val="lvl"/>
          <dgm:resizeHandles val="exact"/>
        </dgm:presLayoutVars>
      </dgm:prSet>
      <dgm:spPr/>
    </dgm:pt>
    <dgm:pt modelId="{5F6BC56A-46E1-9D46-A820-E8C62CD78F66}" type="pres">
      <dgm:prSet presAssocID="{44D021A6-4B7E-024F-AD43-8E5A82A2A120}" presName="composite" presStyleCnt="0"/>
      <dgm:spPr/>
    </dgm:pt>
    <dgm:pt modelId="{E5D099FE-F1FC-9245-BFE8-40B1E1E2E366}" type="pres">
      <dgm:prSet presAssocID="{44D021A6-4B7E-024F-AD43-8E5A82A2A120}" presName="parentText" presStyleLbl="alignNode1" presStyleIdx="0" presStyleCnt="4" custScaleX="114829">
        <dgm:presLayoutVars>
          <dgm:chMax val="1"/>
          <dgm:bulletEnabled val="1"/>
        </dgm:presLayoutVars>
      </dgm:prSet>
      <dgm:spPr/>
    </dgm:pt>
    <dgm:pt modelId="{712430EC-0E22-B041-9487-2F41ECBF1BBF}" type="pres">
      <dgm:prSet presAssocID="{44D021A6-4B7E-024F-AD43-8E5A82A2A120}" presName="descendantText" presStyleLbl="alignAcc1" presStyleIdx="0" presStyleCnt="4" custLinFactNeighborX="618" custLinFactNeighborY="1314">
        <dgm:presLayoutVars>
          <dgm:bulletEnabled val="1"/>
        </dgm:presLayoutVars>
      </dgm:prSet>
      <dgm:spPr/>
    </dgm:pt>
    <dgm:pt modelId="{A4AE2114-782E-E54B-8908-EA7574228B43}" type="pres">
      <dgm:prSet presAssocID="{8E49DE80-D4FD-B440-8037-397CE4F9D1A5}" presName="sp" presStyleCnt="0"/>
      <dgm:spPr/>
    </dgm:pt>
    <dgm:pt modelId="{99CC8C17-C1BA-9342-8312-D9BFE765A937}" type="pres">
      <dgm:prSet presAssocID="{9545492D-9BBF-4E43-B256-5FF6BA8881B1}" presName="composite" presStyleCnt="0"/>
      <dgm:spPr/>
    </dgm:pt>
    <dgm:pt modelId="{DC578203-C95B-B341-A8F6-6338F49CC4A9}" type="pres">
      <dgm:prSet presAssocID="{9545492D-9BBF-4E43-B256-5FF6BA8881B1}" presName="parentText" presStyleLbl="alignNode1" presStyleIdx="1" presStyleCnt="4">
        <dgm:presLayoutVars>
          <dgm:chMax val="1"/>
          <dgm:bulletEnabled val="1"/>
        </dgm:presLayoutVars>
      </dgm:prSet>
      <dgm:spPr/>
    </dgm:pt>
    <dgm:pt modelId="{5AC2C369-DBF6-2A45-BA94-30F681A2ACE7}" type="pres">
      <dgm:prSet presAssocID="{9545492D-9BBF-4E43-B256-5FF6BA8881B1}" presName="descendantText" presStyleLbl="alignAcc1" presStyleIdx="1" presStyleCnt="4">
        <dgm:presLayoutVars>
          <dgm:bulletEnabled val="1"/>
        </dgm:presLayoutVars>
      </dgm:prSet>
      <dgm:spPr/>
    </dgm:pt>
    <dgm:pt modelId="{C77C0033-F0CD-6C4A-A138-362DDA4B6472}" type="pres">
      <dgm:prSet presAssocID="{7DC448C8-8B0C-6D45-B0D6-48D865DF8C7C}" presName="sp" presStyleCnt="0"/>
      <dgm:spPr/>
    </dgm:pt>
    <dgm:pt modelId="{E0AA7D16-740A-2F42-9613-E75F8A05F114}" type="pres">
      <dgm:prSet presAssocID="{C248D2DC-068E-3B44-A66B-D256AB462D27}" presName="composite" presStyleCnt="0"/>
      <dgm:spPr/>
    </dgm:pt>
    <dgm:pt modelId="{D57253F7-87F1-4340-AB02-A41976CF96B2}" type="pres">
      <dgm:prSet presAssocID="{C248D2DC-068E-3B44-A66B-D256AB462D27}" presName="parentText" presStyleLbl="alignNode1" presStyleIdx="2" presStyleCnt="4">
        <dgm:presLayoutVars>
          <dgm:chMax val="1"/>
          <dgm:bulletEnabled val="1"/>
        </dgm:presLayoutVars>
      </dgm:prSet>
      <dgm:spPr/>
    </dgm:pt>
    <dgm:pt modelId="{B6C39F07-6FA9-FD4E-9BE5-746EAFA2A187}" type="pres">
      <dgm:prSet presAssocID="{C248D2DC-068E-3B44-A66B-D256AB462D27}" presName="descendantText" presStyleLbl="alignAcc1" presStyleIdx="2" presStyleCnt="4">
        <dgm:presLayoutVars>
          <dgm:bulletEnabled val="1"/>
        </dgm:presLayoutVars>
      </dgm:prSet>
      <dgm:spPr/>
    </dgm:pt>
    <dgm:pt modelId="{3B74F119-25FC-E44E-84BE-6330C8A37035}" type="pres">
      <dgm:prSet presAssocID="{E14697AF-15A2-704C-BE33-69BA0B9597E7}" presName="sp" presStyleCnt="0"/>
      <dgm:spPr/>
    </dgm:pt>
    <dgm:pt modelId="{5071AD3E-EAE3-B247-8471-7B59C600B4AD}" type="pres">
      <dgm:prSet presAssocID="{51D17AC4-01FA-CD46-B025-A8E825825FE4}" presName="composite" presStyleCnt="0"/>
      <dgm:spPr/>
    </dgm:pt>
    <dgm:pt modelId="{C5BAC42C-4197-AC4E-907A-637D3D4FAC17}" type="pres">
      <dgm:prSet presAssocID="{51D17AC4-01FA-CD46-B025-A8E825825FE4}" presName="parentText" presStyleLbl="alignNode1" presStyleIdx="3" presStyleCnt="4">
        <dgm:presLayoutVars>
          <dgm:chMax val="1"/>
          <dgm:bulletEnabled val="1"/>
        </dgm:presLayoutVars>
      </dgm:prSet>
      <dgm:spPr/>
    </dgm:pt>
    <dgm:pt modelId="{32282043-27FF-AB43-A9DB-3FDE1DE657E0}" type="pres">
      <dgm:prSet presAssocID="{51D17AC4-01FA-CD46-B025-A8E825825FE4}" presName="descendantText" presStyleLbl="alignAcc1" presStyleIdx="3" presStyleCnt="4">
        <dgm:presLayoutVars>
          <dgm:bulletEnabled val="1"/>
        </dgm:presLayoutVars>
      </dgm:prSet>
      <dgm:spPr/>
    </dgm:pt>
  </dgm:ptLst>
  <dgm:cxnLst>
    <dgm:cxn modelId="{76794D02-8782-B941-ABBD-F8FA8E84A729}" type="presOf" srcId="{C76593A3-AAB5-F642-AB45-CE616B9165C4}" destId="{32282043-27FF-AB43-A9DB-3FDE1DE657E0}" srcOrd="0" destOrd="2" presId="urn:microsoft.com/office/officeart/2005/8/layout/chevron2"/>
    <dgm:cxn modelId="{1E2D4E04-7CBE-194E-8943-5CE7FAC11492}" type="presOf" srcId="{D42109AE-BF9D-2343-8F9D-56B4B212A7B5}" destId="{B6C39F07-6FA9-FD4E-9BE5-746EAFA2A187}" srcOrd="0" destOrd="2" presId="urn:microsoft.com/office/officeart/2005/8/layout/chevron2"/>
    <dgm:cxn modelId="{7DABFE07-8B31-2D45-A0B8-DA106B0AF456}" srcId="{44D021A6-4B7E-024F-AD43-8E5A82A2A120}" destId="{C231DBE9-1256-7344-B724-EE6E052ACBD9}" srcOrd="3" destOrd="0" parTransId="{63E1FB8F-E929-6A4E-99A1-8A7C5F075033}" sibTransId="{F92B2A79-7E8B-904F-8A22-58C659A1C286}"/>
    <dgm:cxn modelId="{EA212008-9DB4-664E-B454-34816C33C0A4}" srcId="{8A8B3F63-0431-6C47-B092-4F58A1EA69E7}" destId="{51D17AC4-01FA-CD46-B025-A8E825825FE4}" srcOrd="3" destOrd="0" parTransId="{4371DAB9-027F-EF46-B338-5C872E657DDA}" sibTransId="{B98AD34F-D8AD-1141-9B13-2240ACD0C362}"/>
    <dgm:cxn modelId="{F3A9710B-8AEA-D540-8108-B28056AD171F}" srcId="{9545492D-9BBF-4E43-B256-5FF6BA8881B1}" destId="{F1D427A1-EA0D-C449-BC3C-009914EF3D9E}" srcOrd="2" destOrd="0" parTransId="{4BB4B732-1B57-3544-9B1D-21CE4F7B8533}" sibTransId="{0124A324-C678-404B-A271-C38862D260E6}"/>
    <dgm:cxn modelId="{650DC017-C566-9944-B72E-3A9CB26C293E}" srcId="{C248D2DC-068E-3B44-A66B-D256AB462D27}" destId="{E6E30C62-3B8C-0C4C-911F-0EF06A856D31}" srcOrd="1" destOrd="0" parTransId="{55CEB41D-786A-9F4F-8C99-24EF4D3F6337}" sibTransId="{DE77EBC2-94A5-1942-8D22-BF75AAEF741A}"/>
    <dgm:cxn modelId="{638E5E21-76F8-9C49-87BC-E7182AA64E69}" type="presOf" srcId="{D6B2F948-A2EC-C04A-8280-E2FE7FFFC589}" destId="{B6C39F07-6FA9-FD4E-9BE5-746EAFA2A187}" srcOrd="0" destOrd="0" presId="urn:microsoft.com/office/officeart/2005/8/layout/chevron2"/>
    <dgm:cxn modelId="{FCAA5823-61DB-D748-A846-C9825140209B}" srcId="{9545492D-9BBF-4E43-B256-5FF6BA8881B1}" destId="{0CCE8D08-1CFD-8446-BCCB-610DA53DA3EB}" srcOrd="0" destOrd="0" parTransId="{90317972-5B9D-7145-A712-9DA298B7F8BC}" sibTransId="{0C6F889F-2CDB-E642-92C4-5ACBEABA3904}"/>
    <dgm:cxn modelId="{6DCCD225-8324-B24B-961B-061FB34516F3}" type="presOf" srcId="{AFE79A35-F721-DA40-8F00-CBF167DA1643}" destId="{712430EC-0E22-B041-9487-2F41ECBF1BBF}" srcOrd="0" destOrd="1" presId="urn:microsoft.com/office/officeart/2005/8/layout/chevron2"/>
    <dgm:cxn modelId="{C7429C44-C320-4248-9C53-BE37EFADF2C7}" srcId="{44D021A6-4B7E-024F-AD43-8E5A82A2A120}" destId="{F64E1705-C15B-7249-BCDE-F86EEA152C0B}" srcOrd="2" destOrd="0" parTransId="{989FECC6-70F9-ED40-808C-A22C1AE55DEF}" sibTransId="{09A915B7-1B44-984E-9A50-E00EA6A44B81}"/>
    <dgm:cxn modelId="{11F1B545-CDBC-DC4E-AC9C-11D41B1DCF78}" srcId="{44D021A6-4B7E-024F-AD43-8E5A82A2A120}" destId="{AFE79A35-F721-DA40-8F00-CBF167DA1643}" srcOrd="1" destOrd="0" parTransId="{72BA8ECD-A649-1A41-B048-72C28F82783D}" sibTransId="{EDCC59C0-F725-E24F-9134-025144E09CC8}"/>
    <dgm:cxn modelId="{392E6656-4FB3-C149-A6CE-EEAC9535B8FE}" srcId="{8A8B3F63-0431-6C47-B092-4F58A1EA69E7}" destId="{44D021A6-4B7E-024F-AD43-8E5A82A2A120}" srcOrd="0" destOrd="0" parTransId="{0960F610-3572-F448-BFB9-6BF63EC33EB6}" sibTransId="{8E49DE80-D4FD-B440-8037-397CE4F9D1A5}"/>
    <dgm:cxn modelId="{DC2A3C59-BDE8-5B45-B891-A40E7603D678}" type="presOf" srcId="{BAF8FFBD-478F-9443-B2BD-25266451C8BE}" destId="{712430EC-0E22-B041-9487-2F41ECBF1BBF}" srcOrd="0" destOrd="0" presId="urn:microsoft.com/office/officeart/2005/8/layout/chevron2"/>
    <dgm:cxn modelId="{F5A9025F-0DC1-8144-8D50-C95EC6773EF2}" srcId="{8A8B3F63-0431-6C47-B092-4F58A1EA69E7}" destId="{9545492D-9BBF-4E43-B256-5FF6BA8881B1}" srcOrd="1" destOrd="0" parTransId="{A7D26B32-DA2F-3B40-A761-447BE3E93AD2}" sibTransId="{7DC448C8-8B0C-6D45-B0D6-48D865DF8C7C}"/>
    <dgm:cxn modelId="{650F9C6A-0E99-124D-9086-12F8160F4D31}" type="presOf" srcId="{51D17AC4-01FA-CD46-B025-A8E825825FE4}" destId="{C5BAC42C-4197-AC4E-907A-637D3D4FAC17}" srcOrd="0" destOrd="0" presId="urn:microsoft.com/office/officeart/2005/8/layout/chevron2"/>
    <dgm:cxn modelId="{F4A56E6B-3C44-204F-8A92-29249CDAC3FB}" srcId="{51D17AC4-01FA-CD46-B025-A8E825825FE4}" destId="{FBBC9CBC-E1CC-AA40-A015-E0C24B043338}" srcOrd="1" destOrd="0" parTransId="{3EBDBC26-B3EB-7945-ABE8-D66509FD6D1F}" sibTransId="{04CD052C-E3E4-2246-8B84-4A2DDE3BEF4F}"/>
    <dgm:cxn modelId="{4184F072-9BB4-9A44-83AB-71F0D4A4A7F1}" type="presOf" srcId="{0CCE8D08-1CFD-8446-BCCB-610DA53DA3EB}" destId="{5AC2C369-DBF6-2A45-BA94-30F681A2ACE7}" srcOrd="0" destOrd="0" presId="urn:microsoft.com/office/officeart/2005/8/layout/chevron2"/>
    <dgm:cxn modelId="{33236876-E757-484E-8B92-18364C25E6C5}" type="presOf" srcId="{44D021A6-4B7E-024F-AD43-8E5A82A2A120}" destId="{E5D099FE-F1FC-9245-BFE8-40B1E1E2E366}" srcOrd="0" destOrd="0" presId="urn:microsoft.com/office/officeart/2005/8/layout/chevron2"/>
    <dgm:cxn modelId="{E974D678-526E-FF40-AD56-C06F98850D13}" srcId="{9545492D-9BBF-4E43-B256-5FF6BA8881B1}" destId="{B544B318-EE6C-E64D-8BB8-49236F8E8753}" srcOrd="4" destOrd="0" parTransId="{DF3F6175-EE29-3D45-92E9-ED9D35AA8FC6}" sibTransId="{462EC3C8-8A2C-0540-B427-80DDEB72FA7C}"/>
    <dgm:cxn modelId="{E3623081-10AB-C344-B1A5-93B00981CAF3}" type="presOf" srcId="{FBBC9CBC-E1CC-AA40-A015-E0C24B043338}" destId="{32282043-27FF-AB43-A9DB-3FDE1DE657E0}" srcOrd="0" destOrd="1" presId="urn:microsoft.com/office/officeart/2005/8/layout/chevron2"/>
    <dgm:cxn modelId="{8A8E7D84-3D9A-AF48-A117-A63C5E7D8E29}" srcId="{8A8B3F63-0431-6C47-B092-4F58A1EA69E7}" destId="{C248D2DC-068E-3B44-A66B-D256AB462D27}" srcOrd="2" destOrd="0" parTransId="{99B062AA-95B7-A24A-91C6-5D4A8600646C}" sibTransId="{E14697AF-15A2-704C-BE33-69BA0B9597E7}"/>
    <dgm:cxn modelId="{58C46486-6CB4-3549-81DA-0D291816B00E}" srcId="{C248D2DC-068E-3B44-A66B-D256AB462D27}" destId="{D6B2F948-A2EC-C04A-8280-E2FE7FFFC589}" srcOrd="0" destOrd="0" parTransId="{CFF17BF8-8D9C-C54F-8882-C1816FD599ED}" sibTransId="{AE448EF9-E209-CE4C-8B7B-A4481F2F3917}"/>
    <dgm:cxn modelId="{9C841189-BF64-7146-8A2E-09F0E69624BD}" type="presOf" srcId="{E6E30C62-3B8C-0C4C-911F-0EF06A856D31}" destId="{B6C39F07-6FA9-FD4E-9BE5-746EAFA2A187}" srcOrd="0" destOrd="1" presId="urn:microsoft.com/office/officeart/2005/8/layout/chevron2"/>
    <dgm:cxn modelId="{D6EF6F89-FBD4-674C-B143-2168889A57F9}" srcId="{9545492D-9BBF-4E43-B256-5FF6BA8881B1}" destId="{2C60C4FB-B65F-1341-A838-DF45F6BD5BB5}" srcOrd="3" destOrd="0" parTransId="{C5191B98-408B-A34F-8EF3-A266D8D81519}" sibTransId="{B992BC41-DEDC-204A-B6AC-7D3BD38899F8}"/>
    <dgm:cxn modelId="{F52E2B8D-C1E7-3149-BA98-5D75CF0A9D32}" srcId="{9545492D-9BBF-4E43-B256-5FF6BA8881B1}" destId="{EA08FAE3-5A65-DF40-BBDD-077B4B4909F3}" srcOrd="5" destOrd="0" parTransId="{AAF13296-78C2-B745-B16E-2E0FBD0AF086}" sibTransId="{2B24E608-1449-D945-BB71-540D3DFFA228}"/>
    <dgm:cxn modelId="{1480D791-266B-C247-9EDA-AEF8A3E136B3}" type="presOf" srcId="{BCEABC51-DA95-844D-BED2-9736A9C6401E}" destId="{B6C39F07-6FA9-FD4E-9BE5-746EAFA2A187}" srcOrd="0" destOrd="3" presId="urn:microsoft.com/office/officeart/2005/8/layout/chevron2"/>
    <dgm:cxn modelId="{B2A7CA9D-B56C-7F46-B506-4FA61F451524}" srcId="{C248D2DC-068E-3B44-A66B-D256AB462D27}" destId="{D42109AE-BF9D-2343-8F9D-56B4B212A7B5}" srcOrd="2" destOrd="0" parTransId="{66BA6CC5-72FB-984B-A474-2566D79B10A6}" sibTransId="{0B159AF0-0986-C744-840F-4F2B4C471631}"/>
    <dgm:cxn modelId="{25BF2AA2-F002-C049-A854-EFD7E431BA3B}" type="presOf" srcId="{F1D427A1-EA0D-C449-BC3C-009914EF3D9E}" destId="{5AC2C369-DBF6-2A45-BA94-30F681A2ACE7}" srcOrd="0" destOrd="2" presId="urn:microsoft.com/office/officeart/2005/8/layout/chevron2"/>
    <dgm:cxn modelId="{E8372FA5-3A5B-DF4B-B389-9BEA843DEFBC}" type="presOf" srcId="{C248D2DC-068E-3B44-A66B-D256AB462D27}" destId="{D57253F7-87F1-4340-AB02-A41976CF96B2}" srcOrd="0" destOrd="0" presId="urn:microsoft.com/office/officeart/2005/8/layout/chevron2"/>
    <dgm:cxn modelId="{0B0125A7-5364-BF41-A5AA-DBDFD9D18AB2}" type="presOf" srcId="{B544B318-EE6C-E64D-8BB8-49236F8E8753}" destId="{5AC2C369-DBF6-2A45-BA94-30F681A2ACE7}" srcOrd="0" destOrd="4" presId="urn:microsoft.com/office/officeart/2005/8/layout/chevron2"/>
    <dgm:cxn modelId="{A1B35DAA-2ACF-B748-A73A-09D04793F9D0}" type="presOf" srcId="{8A8B3F63-0431-6C47-B092-4F58A1EA69E7}" destId="{FF70903E-EFFA-1F46-8B5E-9DFD39ECF5DB}" srcOrd="0" destOrd="0" presId="urn:microsoft.com/office/officeart/2005/8/layout/chevron2"/>
    <dgm:cxn modelId="{F09DECAD-D879-DB4F-A246-A167B23610C4}" type="presOf" srcId="{EA08FAE3-5A65-DF40-BBDD-077B4B4909F3}" destId="{5AC2C369-DBF6-2A45-BA94-30F681A2ACE7}" srcOrd="0" destOrd="5" presId="urn:microsoft.com/office/officeart/2005/8/layout/chevron2"/>
    <dgm:cxn modelId="{6BC4E3BC-F6A7-0B47-8CD0-E44C5C2D630C}" type="presOf" srcId="{2C60C4FB-B65F-1341-A838-DF45F6BD5BB5}" destId="{5AC2C369-DBF6-2A45-BA94-30F681A2ACE7}" srcOrd="0" destOrd="3" presId="urn:microsoft.com/office/officeart/2005/8/layout/chevron2"/>
    <dgm:cxn modelId="{D621F5BE-6D4A-1E4C-BFF5-BF4B6E5993E0}" type="presOf" srcId="{4F8DDCE1-080B-BD4E-83F7-CF5F6B5437D4}" destId="{32282043-27FF-AB43-A9DB-3FDE1DE657E0}" srcOrd="0" destOrd="0" presId="urn:microsoft.com/office/officeart/2005/8/layout/chevron2"/>
    <dgm:cxn modelId="{49DFD1C2-64AF-B54D-9C92-1933958DDA25}" srcId="{51D17AC4-01FA-CD46-B025-A8E825825FE4}" destId="{4F8DDCE1-080B-BD4E-83F7-CF5F6B5437D4}" srcOrd="0" destOrd="0" parTransId="{AEE0E38A-F85D-7F4E-8B0C-06E5D1AEEE01}" sibTransId="{2B3C96CE-4A57-1D45-87CB-F65C973DBDA5}"/>
    <dgm:cxn modelId="{F86A26C8-FC6E-1B40-A858-4461A55D7C14}" type="presOf" srcId="{9545492D-9BBF-4E43-B256-5FF6BA8881B1}" destId="{DC578203-C95B-B341-A8F6-6338F49CC4A9}" srcOrd="0" destOrd="0" presId="urn:microsoft.com/office/officeart/2005/8/layout/chevron2"/>
    <dgm:cxn modelId="{198BB6D8-3F42-9646-ACF4-3A2D1C2ABB1E}" srcId="{C248D2DC-068E-3B44-A66B-D256AB462D27}" destId="{BCEABC51-DA95-844D-BED2-9736A9C6401E}" srcOrd="3" destOrd="0" parTransId="{E83A6D60-CA9F-D743-A3A1-8AECD7EDA100}" sibTransId="{AD99DFC1-DCA7-2E4E-8A44-8195A8A29B15}"/>
    <dgm:cxn modelId="{6018C9D8-B5C2-614E-AC8A-BF3D00CF5D47}" srcId="{44D021A6-4B7E-024F-AD43-8E5A82A2A120}" destId="{BAF8FFBD-478F-9443-B2BD-25266451C8BE}" srcOrd="0" destOrd="0" parTransId="{9E98CCA7-E8F3-2A48-A90D-AA95D0257B27}" sibTransId="{1C495772-86A5-B74D-B855-8958B9A5DD16}"/>
    <dgm:cxn modelId="{F96757D9-A753-D947-955E-FE82B209FDDF}" type="presOf" srcId="{F64E1705-C15B-7249-BCDE-F86EEA152C0B}" destId="{712430EC-0E22-B041-9487-2F41ECBF1BBF}" srcOrd="0" destOrd="2" presId="urn:microsoft.com/office/officeart/2005/8/layout/chevron2"/>
    <dgm:cxn modelId="{72E8B3DB-1F2A-2645-B6F3-1B52250120B3}" type="presOf" srcId="{C231DBE9-1256-7344-B724-EE6E052ACBD9}" destId="{712430EC-0E22-B041-9487-2F41ECBF1BBF}" srcOrd="0" destOrd="3" presId="urn:microsoft.com/office/officeart/2005/8/layout/chevron2"/>
    <dgm:cxn modelId="{E12919F3-A0E5-C449-A9EE-4ACC432FF260}" srcId="{9545492D-9BBF-4E43-B256-5FF6BA8881B1}" destId="{D2049C90-1EA3-AC4F-A59D-4C84A712C50E}" srcOrd="1" destOrd="0" parTransId="{485B98F9-DC02-D445-84D6-A91F36E6FEE6}" sibTransId="{73051546-D2BB-DE4F-9712-3358D558FF08}"/>
    <dgm:cxn modelId="{766320F3-F508-D04E-B4BA-0088A052AB4E}" type="presOf" srcId="{D2049C90-1EA3-AC4F-A59D-4C84A712C50E}" destId="{5AC2C369-DBF6-2A45-BA94-30F681A2ACE7}" srcOrd="0" destOrd="1" presId="urn:microsoft.com/office/officeart/2005/8/layout/chevron2"/>
    <dgm:cxn modelId="{53BD12FC-4BC8-9F4D-BC1E-178C9378BCDA}" srcId="{51D17AC4-01FA-CD46-B025-A8E825825FE4}" destId="{C76593A3-AAB5-F642-AB45-CE616B9165C4}" srcOrd="2" destOrd="0" parTransId="{2D853E00-E5D1-2147-B0B2-A3BB2DB002E2}" sibTransId="{D41EE008-A549-1440-B1E8-D221553C8D4B}"/>
    <dgm:cxn modelId="{707C1D60-857F-8149-8013-E48A62F09F29}" type="presParOf" srcId="{FF70903E-EFFA-1F46-8B5E-9DFD39ECF5DB}" destId="{5F6BC56A-46E1-9D46-A820-E8C62CD78F66}" srcOrd="0" destOrd="0" presId="urn:microsoft.com/office/officeart/2005/8/layout/chevron2"/>
    <dgm:cxn modelId="{D9978CF4-F58D-8341-8E5E-1E5378E88499}" type="presParOf" srcId="{5F6BC56A-46E1-9D46-A820-E8C62CD78F66}" destId="{E5D099FE-F1FC-9245-BFE8-40B1E1E2E366}" srcOrd="0" destOrd="0" presId="urn:microsoft.com/office/officeart/2005/8/layout/chevron2"/>
    <dgm:cxn modelId="{E7ECF513-4E9B-6A44-915A-18A7EC34B598}" type="presParOf" srcId="{5F6BC56A-46E1-9D46-A820-E8C62CD78F66}" destId="{712430EC-0E22-B041-9487-2F41ECBF1BBF}" srcOrd="1" destOrd="0" presId="urn:microsoft.com/office/officeart/2005/8/layout/chevron2"/>
    <dgm:cxn modelId="{463683A1-40FF-DA44-97F1-039922DC3D5B}" type="presParOf" srcId="{FF70903E-EFFA-1F46-8B5E-9DFD39ECF5DB}" destId="{A4AE2114-782E-E54B-8908-EA7574228B43}" srcOrd="1" destOrd="0" presId="urn:microsoft.com/office/officeart/2005/8/layout/chevron2"/>
    <dgm:cxn modelId="{4E56D4AF-27BF-C441-959C-40A62D494F7C}" type="presParOf" srcId="{FF70903E-EFFA-1F46-8B5E-9DFD39ECF5DB}" destId="{99CC8C17-C1BA-9342-8312-D9BFE765A937}" srcOrd="2" destOrd="0" presId="urn:microsoft.com/office/officeart/2005/8/layout/chevron2"/>
    <dgm:cxn modelId="{028509A6-098A-F64F-8DAC-67A317F5DF1E}" type="presParOf" srcId="{99CC8C17-C1BA-9342-8312-D9BFE765A937}" destId="{DC578203-C95B-B341-A8F6-6338F49CC4A9}" srcOrd="0" destOrd="0" presId="urn:microsoft.com/office/officeart/2005/8/layout/chevron2"/>
    <dgm:cxn modelId="{5FEF6DA5-8E27-B54F-98BF-90A9C787B068}" type="presParOf" srcId="{99CC8C17-C1BA-9342-8312-D9BFE765A937}" destId="{5AC2C369-DBF6-2A45-BA94-30F681A2ACE7}" srcOrd="1" destOrd="0" presId="urn:microsoft.com/office/officeart/2005/8/layout/chevron2"/>
    <dgm:cxn modelId="{E91C3005-D4B8-1A47-BF2F-F23B2E883BCB}" type="presParOf" srcId="{FF70903E-EFFA-1F46-8B5E-9DFD39ECF5DB}" destId="{C77C0033-F0CD-6C4A-A138-362DDA4B6472}" srcOrd="3" destOrd="0" presId="urn:microsoft.com/office/officeart/2005/8/layout/chevron2"/>
    <dgm:cxn modelId="{8E85EED7-5CDA-874E-9A76-276390534948}" type="presParOf" srcId="{FF70903E-EFFA-1F46-8B5E-9DFD39ECF5DB}" destId="{E0AA7D16-740A-2F42-9613-E75F8A05F114}" srcOrd="4" destOrd="0" presId="urn:microsoft.com/office/officeart/2005/8/layout/chevron2"/>
    <dgm:cxn modelId="{53549A5E-6243-2F4C-9A21-9E662FF80C75}" type="presParOf" srcId="{E0AA7D16-740A-2F42-9613-E75F8A05F114}" destId="{D57253F7-87F1-4340-AB02-A41976CF96B2}" srcOrd="0" destOrd="0" presId="urn:microsoft.com/office/officeart/2005/8/layout/chevron2"/>
    <dgm:cxn modelId="{88602FCF-21A6-0447-AEB7-815596E29E1C}" type="presParOf" srcId="{E0AA7D16-740A-2F42-9613-E75F8A05F114}" destId="{B6C39F07-6FA9-FD4E-9BE5-746EAFA2A187}" srcOrd="1" destOrd="0" presId="urn:microsoft.com/office/officeart/2005/8/layout/chevron2"/>
    <dgm:cxn modelId="{01F9B5F4-679C-9540-850C-52BAD16F8FE5}" type="presParOf" srcId="{FF70903E-EFFA-1F46-8B5E-9DFD39ECF5DB}" destId="{3B74F119-25FC-E44E-84BE-6330C8A37035}" srcOrd="5" destOrd="0" presId="urn:microsoft.com/office/officeart/2005/8/layout/chevron2"/>
    <dgm:cxn modelId="{21B46AA5-B1CE-DA4A-B0AF-F692E5DB76B3}" type="presParOf" srcId="{FF70903E-EFFA-1F46-8B5E-9DFD39ECF5DB}" destId="{5071AD3E-EAE3-B247-8471-7B59C600B4AD}" srcOrd="6" destOrd="0" presId="urn:microsoft.com/office/officeart/2005/8/layout/chevron2"/>
    <dgm:cxn modelId="{376F07DD-D666-FA4A-8A1C-783CEA1B5CA4}" type="presParOf" srcId="{5071AD3E-EAE3-B247-8471-7B59C600B4AD}" destId="{C5BAC42C-4197-AC4E-907A-637D3D4FAC17}" srcOrd="0" destOrd="0" presId="urn:microsoft.com/office/officeart/2005/8/layout/chevron2"/>
    <dgm:cxn modelId="{557F4CF9-39D9-C749-AC2F-5BB2AB0CA6C7}" type="presParOf" srcId="{5071AD3E-EAE3-B247-8471-7B59C600B4AD}" destId="{32282043-27FF-AB43-A9DB-3FDE1DE657E0}"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8C718-321D-C54D-8AEA-7CBDABD6C0C5}">
      <dsp:nvSpPr>
        <dsp:cNvPr id="0" name=""/>
        <dsp:cNvSpPr/>
      </dsp:nvSpPr>
      <dsp:spPr>
        <a:xfrm>
          <a:off x="5051" y="129253"/>
          <a:ext cx="1909128" cy="604800"/>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SG" sz="1400" kern="1200" dirty="0"/>
            <a:t>Merchant</a:t>
          </a:r>
          <a:endParaRPr lang="en-GB" sz="1400" kern="1200" dirty="0"/>
        </a:p>
      </dsp:txBody>
      <dsp:txXfrm>
        <a:off x="5051" y="129253"/>
        <a:ext cx="1909128" cy="403200"/>
      </dsp:txXfrm>
    </dsp:sp>
    <dsp:sp modelId="{EE0421BA-31DA-5B40-8454-EC309E46A14D}">
      <dsp:nvSpPr>
        <dsp:cNvPr id="0" name=""/>
        <dsp:cNvSpPr/>
      </dsp:nvSpPr>
      <dsp:spPr>
        <a:xfrm>
          <a:off x="500631" y="532453"/>
          <a:ext cx="1700021" cy="1136953"/>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Uploads logos</a:t>
          </a:r>
          <a:endParaRPr lang="en-GB" sz="1400" kern="1200" dirty="0"/>
        </a:p>
        <a:p>
          <a:pPr marL="114300" lvl="1" indent="-114300" algn="l" defTabSz="622300">
            <a:lnSpc>
              <a:spcPct val="90000"/>
            </a:lnSpc>
            <a:spcBef>
              <a:spcPct val="0"/>
            </a:spcBef>
            <a:spcAft>
              <a:spcPct val="15000"/>
            </a:spcAft>
            <a:buChar char="•"/>
          </a:pPr>
          <a:r>
            <a:rPr lang="en-IN" sz="1400" kern="1200" dirty="0"/>
            <a:t>Logos inconsistent in size/format</a:t>
          </a:r>
          <a:endParaRPr lang="en-US" sz="1400" kern="1200" dirty="0">
            <a:latin typeface="Arial" panose="020B0604020202020204" pitchFamily="34" charset="0"/>
            <a:cs typeface="Arial" panose="020B0604020202020204" pitchFamily="34" charset="0"/>
          </a:endParaRPr>
        </a:p>
      </dsp:txBody>
      <dsp:txXfrm>
        <a:off x="533931" y="565753"/>
        <a:ext cx="1633421" cy="1070353"/>
      </dsp:txXfrm>
    </dsp:sp>
    <dsp:sp modelId="{32DA3362-29D1-8A48-B58E-9D6756331B83}">
      <dsp:nvSpPr>
        <dsp:cNvPr id="0" name=""/>
        <dsp:cNvSpPr/>
      </dsp:nvSpPr>
      <dsp:spPr>
        <a:xfrm>
          <a:off x="2177458" y="93194"/>
          <a:ext cx="558150" cy="47531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2177458" y="188257"/>
        <a:ext cx="415555" cy="285191"/>
      </dsp:txXfrm>
    </dsp:sp>
    <dsp:sp modelId="{21BC5DCC-FDA7-924B-9958-3ACED44848D3}">
      <dsp:nvSpPr>
        <dsp:cNvPr id="0" name=""/>
        <dsp:cNvSpPr/>
      </dsp:nvSpPr>
      <dsp:spPr>
        <a:xfrm>
          <a:off x="2967294" y="129253"/>
          <a:ext cx="1909128" cy="604800"/>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SG" sz="1400" kern="1200" dirty="0"/>
            <a:t>Commercial Team</a:t>
          </a:r>
          <a:endParaRPr lang="en-GB" sz="1400" kern="1200" dirty="0"/>
        </a:p>
      </dsp:txBody>
      <dsp:txXfrm>
        <a:off x="2967294" y="129253"/>
        <a:ext cx="1909128" cy="403200"/>
      </dsp:txXfrm>
    </dsp:sp>
    <dsp:sp modelId="{D8E08C21-70B7-874F-A319-71164A9A8F98}">
      <dsp:nvSpPr>
        <dsp:cNvPr id="0" name=""/>
        <dsp:cNvSpPr/>
      </dsp:nvSpPr>
      <dsp:spPr>
        <a:xfrm>
          <a:off x="3358320" y="532453"/>
          <a:ext cx="1909128" cy="1136953"/>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Forwards merchant files to Ops</a:t>
          </a:r>
          <a:endParaRPr lang="en-GB" sz="1400" kern="1200" dirty="0"/>
        </a:p>
        <a:p>
          <a:pPr marL="114300" lvl="1" indent="-114300" algn="l" defTabSz="622300">
            <a:lnSpc>
              <a:spcPct val="90000"/>
            </a:lnSpc>
            <a:spcBef>
              <a:spcPct val="0"/>
            </a:spcBef>
            <a:spcAft>
              <a:spcPct val="15000"/>
            </a:spcAft>
            <a:buChar char="•"/>
          </a:pPr>
          <a:r>
            <a:rPr lang="en-IN" sz="1400" kern="1200" dirty="0"/>
            <a:t>Causes delays with handoffs</a:t>
          </a:r>
        </a:p>
      </dsp:txBody>
      <dsp:txXfrm>
        <a:off x="3391620" y="565753"/>
        <a:ext cx="1842528" cy="1070353"/>
      </dsp:txXfrm>
    </dsp:sp>
    <dsp:sp modelId="{C2700D49-0FDF-7C4F-92F0-84020271A54B}">
      <dsp:nvSpPr>
        <dsp:cNvPr id="0" name=""/>
        <dsp:cNvSpPr/>
      </dsp:nvSpPr>
      <dsp:spPr>
        <a:xfrm>
          <a:off x="5165839" y="93194"/>
          <a:ext cx="613563" cy="47531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5165839" y="188257"/>
        <a:ext cx="470968" cy="285191"/>
      </dsp:txXfrm>
    </dsp:sp>
    <dsp:sp modelId="{46068763-A7C0-A440-AC3A-C2E290D1947A}">
      <dsp:nvSpPr>
        <dsp:cNvPr id="0" name=""/>
        <dsp:cNvSpPr/>
      </dsp:nvSpPr>
      <dsp:spPr>
        <a:xfrm>
          <a:off x="6034090" y="129253"/>
          <a:ext cx="1909128" cy="604800"/>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SG" sz="1400" kern="1200" dirty="0"/>
            <a:t>Marketing Ops team</a:t>
          </a:r>
          <a:endParaRPr lang="en-GB" sz="1400" kern="1200" dirty="0"/>
        </a:p>
      </dsp:txBody>
      <dsp:txXfrm>
        <a:off x="6034090" y="129253"/>
        <a:ext cx="1909128" cy="403200"/>
      </dsp:txXfrm>
    </dsp:sp>
    <dsp:sp modelId="{64460725-7CEE-B24C-A65F-F2FD1D01D1CF}">
      <dsp:nvSpPr>
        <dsp:cNvPr id="0" name=""/>
        <dsp:cNvSpPr/>
      </dsp:nvSpPr>
      <dsp:spPr>
        <a:xfrm>
          <a:off x="6425116" y="532453"/>
          <a:ext cx="1909128" cy="1136953"/>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Resizes logos </a:t>
          </a:r>
          <a:endParaRPr lang="en-GB" sz="1400" kern="1200" dirty="0"/>
        </a:p>
        <a:p>
          <a:pPr marL="114300" lvl="1" indent="-114300" algn="l" defTabSz="622300">
            <a:lnSpc>
              <a:spcPct val="90000"/>
            </a:lnSpc>
            <a:spcBef>
              <a:spcPct val="0"/>
            </a:spcBef>
            <a:spcAft>
              <a:spcPct val="15000"/>
            </a:spcAft>
            <a:buChar char="•"/>
          </a:pPr>
          <a:r>
            <a:rPr lang="en-IN" sz="1400" kern="1200"/>
            <a:t>Creates inverted version </a:t>
          </a:r>
          <a:endParaRPr lang="en-IN" sz="1400" kern="1200" dirty="0"/>
        </a:p>
        <a:p>
          <a:pPr marL="114300" lvl="1" indent="-114300" algn="l" defTabSz="622300">
            <a:lnSpc>
              <a:spcPct val="90000"/>
            </a:lnSpc>
            <a:spcBef>
              <a:spcPct val="0"/>
            </a:spcBef>
            <a:spcAft>
              <a:spcPct val="15000"/>
            </a:spcAft>
            <a:buChar char="•"/>
          </a:pPr>
          <a:r>
            <a:rPr lang="en-IN" sz="1400" kern="1200" dirty="0"/>
            <a:t>Uploads assets</a:t>
          </a:r>
        </a:p>
      </dsp:txBody>
      <dsp:txXfrm>
        <a:off x="6458416" y="565753"/>
        <a:ext cx="1842528" cy="1070353"/>
      </dsp:txXfrm>
    </dsp:sp>
    <dsp:sp modelId="{971BBA82-7FC6-F840-9C4E-557C52DCDFD3}">
      <dsp:nvSpPr>
        <dsp:cNvPr id="0" name=""/>
        <dsp:cNvSpPr/>
      </dsp:nvSpPr>
      <dsp:spPr>
        <a:xfrm>
          <a:off x="8232635" y="93194"/>
          <a:ext cx="613563" cy="475317"/>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8232635" y="188257"/>
        <a:ext cx="470968" cy="285191"/>
      </dsp:txXfrm>
    </dsp:sp>
    <dsp:sp modelId="{5C963CCE-1354-B947-9DFE-52E9ECA02951}">
      <dsp:nvSpPr>
        <dsp:cNvPr id="0" name=""/>
        <dsp:cNvSpPr/>
      </dsp:nvSpPr>
      <dsp:spPr>
        <a:xfrm>
          <a:off x="9100886" y="129253"/>
          <a:ext cx="1909128" cy="604800"/>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SG" sz="1400" kern="1200" dirty="0"/>
            <a:t>Commercial Team</a:t>
          </a:r>
          <a:endParaRPr lang="en-US" sz="1400" kern="1200" dirty="0"/>
        </a:p>
      </dsp:txBody>
      <dsp:txXfrm>
        <a:off x="9100886" y="129253"/>
        <a:ext cx="1909128" cy="403200"/>
      </dsp:txXfrm>
    </dsp:sp>
    <dsp:sp modelId="{222503D1-0C47-2F40-9361-12354177933C}">
      <dsp:nvSpPr>
        <dsp:cNvPr id="0" name=""/>
        <dsp:cNvSpPr/>
      </dsp:nvSpPr>
      <dsp:spPr>
        <a:xfrm>
          <a:off x="9491912" y="532453"/>
          <a:ext cx="1909128" cy="1136953"/>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a:t>Notifies merchant of updated page</a:t>
          </a:r>
          <a:endParaRPr lang="en-GB" sz="1400" kern="1200"/>
        </a:p>
      </dsp:txBody>
      <dsp:txXfrm>
        <a:off x="9525212" y="565753"/>
        <a:ext cx="1842528" cy="10703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3F735A8-33FB-B74A-A61D-8380262FB701}">
      <dsp:nvSpPr>
        <dsp:cNvPr id="0" name=""/>
        <dsp:cNvSpPr/>
      </dsp:nvSpPr>
      <dsp:spPr>
        <a:xfrm>
          <a:off x="1374" y="320121"/>
          <a:ext cx="1727549" cy="820664"/>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GB" sz="1400" kern="1200"/>
            <a:t>Merchant</a:t>
          </a:r>
          <a:endParaRPr lang="en-GB" sz="1400" kern="1200" dirty="0"/>
        </a:p>
      </dsp:txBody>
      <dsp:txXfrm>
        <a:off x="1374" y="320121"/>
        <a:ext cx="1727549" cy="547109"/>
      </dsp:txXfrm>
    </dsp:sp>
    <dsp:sp modelId="{0F006B30-1D55-F44D-81A8-2BB5311A6FAF}">
      <dsp:nvSpPr>
        <dsp:cNvPr id="0" name=""/>
        <dsp:cNvSpPr/>
      </dsp:nvSpPr>
      <dsp:spPr>
        <a:xfrm>
          <a:off x="355210" y="867230"/>
          <a:ext cx="1727549" cy="3150000"/>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Uploads logos directly through a web portal .</a:t>
          </a:r>
          <a:endParaRPr lang="en-GB"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Portal enforces basic checks (file type, size, dimensions).</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Ensures consistent input, no more random formats.</a:t>
          </a:r>
        </a:p>
      </dsp:txBody>
      <dsp:txXfrm>
        <a:off x="405808" y="917828"/>
        <a:ext cx="1626353" cy="3048804"/>
      </dsp:txXfrm>
    </dsp:sp>
    <dsp:sp modelId="{6C881DC5-05C0-D742-88B8-6C11AFEE88B1}">
      <dsp:nvSpPr>
        <dsp:cNvPr id="0" name=""/>
        <dsp:cNvSpPr/>
      </dsp:nvSpPr>
      <dsp:spPr>
        <a:xfrm>
          <a:off x="1990814" y="378621"/>
          <a:ext cx="555207" cy="43010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1990814" y="464643"/>
        <a:ext cx="426174" cy="258065"/>
      </dsp:txXfrm>
    </dsp:sp>
    <dsp:sp modelId="{6B0C03CA-2EEA-944C-8921-59F6C893A475}">
      <dsp:nvSpPr>
        <dsp:cNvPr id="0" name=""/>
        <dsp:cNvSpPr/>
      </dsp:nvSpPr>
      <dsp:spPr>
        <a:xfrm>
          <a:off x="2776484" y="320121"/>
          <a:ext cx="1727549" cy="820664"/>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GB" sz="1400" kern="1200" dirty="0"/>
            <a:t>Automation Service</a:t>
          </a:r>
        </a:p>
      </dsp:txBody>
      <dsp:txXfrm>
        <a:off x="2776484" y="320121"/>
        <a:ext cx="1727549" cy="547109"/>
      </dsp:txXfrm>
    </dsp:sp>
    <dsp:sp modelId="{2E3037E2-F335-5D4D-8AAB-122E768256EA}">
      <dsp:nvSpPr>
        <dsp:cNvPr id="0" name=""/>
        <dsp:cNvSpPr/>
      </dsp:nvSpPr>
      <dsp:spPr>
        <a:xfrm>
          <a:off x="3130320" y="867230"/>
          <a:ext cx="1727549" cy="3150000"/>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Automatically resizes into required formats (500×500, 1000×1000, 1500×1000).</a:t>
          </a:r>
          <a:endParaRPr lang="en-GB"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Generates black background / inverted version in parallel.</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Runs validation to flag corrupted or low-quality files.</a:t>
          </a:r>
        </a:p>
      </dsp:txBody>
      <dsp:txXfrm>
        <a:off x="3180918" y="917828"/>
        <a:ext cx="1626353" cy="3048804"/>
      </dsp:txXfrm>
    </dsp:sp>
    <dsp:sp modelId="{1BA38551-3A19-754C-B6D5-A7CD91A71C9D}">
      <dsp:nvSpPr>
        <dsp:cNvPr id="0" name=""/>
        <dsp:cNvSpPr/>
      </dsp:nvSpPr>
      <dsp:spPr>
        <a:xfrm>
          <a:off x="4765924" y="378621"/>
          <a:ext cx="555207" cy="43010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4765924" y="464643"/>
        <a:ext cx="426174" cy="258065"/>
      </dsp:txXfrm>
    </dsp:sp>
    <dsp:sp modelId="{82253D30-05E9-114E-98FE-0290749B7C28}">
      <dsp:nvSpPr>
        <dsp:cNvPr id="0" name=""/>
        <dsp:cNvSpPr/>
      </dsp:nvSpPr>
      <dsp:spPr>
        <a:xfrm>
          <a:off x="5551594" y="320121"/>
          <a:ext cx="1727549" cy="820664"/>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GB" sz="1400" kern="1200" dirty="0"/>
            <a:t>Backend System</a:t>
          </a:r>
        </a:p>
      </dsp:txBody>
      <dsp:txXfrm>
        <a:off x="5551594" y="320121"/>
        <a:ext cx="1727549" cy="547109"/>
      </dsp:txXfrm>
    </dsp:sp>
    <dsp:sp modelId="{0C374C00-27CF-4143-90CB-3959916D2568}">
      <dsp:nvSpPr>
        <dsp:cNvPr id="0" name=""/>
        <dsp:cNvSpPr/>
      </dsp:nvSpPr>
      <dsp:spPr>
        <a:xfrm>
          <a:off x="5905430" y="867230"/>
          <a:ext cx="1727549" cy="3150000"/>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Stores all processed assets in structured folders (per brand ID).</a:t>
          </a:r>
          <a:endParaRPr lang="en-GB" sz="1400" kern="1200" dirty="0"/>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Links files directly to the ShopBack brand page backend.</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dirty="0"/>
            <a:t>Removes manual uploading by Ops.</a:t>
          </a:r>
        </a:p>
      </dsp:txBody>
      <dsp:txXfrm>
        <a:off x="5956028" y="917828"/>
        <a:ext cx="1626353" cy="3048804"/>
      </dsp:txXfrm>
    </dsp:sp>
    <dsp:sp modelId="{BB4093C3-F458-D24D-A2D7-BC03C73F3E25}">
      <dsp:nvSpPr>
        <dsp:cNvPr id="0" name=""/>
        <dsp:cNvSpPr/>
      </dsp:nvSpPr>
      <dsp:spPr>
        <a:xfrm>
          <a:off x="7541034" y="378621"/>
          <a:ext cx="555207" cy="430109"/>
        </a:xfrm>
        <a:prstGeom prst="rightArrow">
          <a:avLst>
            <a:gd name="adj1" fmla="val 60000"/>
            <a:gd name="adj2" fmla="val 50000"/>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88950">
            <a:lnSpc>
              <a:spcPct val="90000"/>
            </a:lnSpc>
            <a:spcBef>
              <a:spcPct val="0"/>
            </a:spcBef>
            <a:spcAft>
              <a:spcPct val="35000"/>
            </a:spcAft>
            <a:buNone/>
          </a:pPr>
          <a:endParaRPr lang="en-GB" sz="1100" kern="1200"/>
        </a:p>
      </dsp:txBody>
      <dsp:txXfrm>
        <a:off x="7541034" y="464643"/>
        <a:ext cx="426174" cy="258065"/>
      </dsp:txXfrm>
    </dsp:sp>
    <dsp:sp modelId="{99D20AE9-CED7-2C48-A713-A5A47958AA75}">
      <dsp:nvSpPr>
        <dsp:cNvPr id="0" name=""/>
        <dsp:cNvSpPr/>
      </dsp:nvSpPr>
      <dsp:spPr>
        <a:xfrm>
          <a:off x="8326704" y="320121"/>
          <a:ext cx="1727549" cy="820664"/>
        </a:xfrm>
        <a:prstGeom prst="roundRect">
          <a:avLst>
            <a:gd name="adj" fmla="val 10000"/>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53340" numCol="1" spcCol="1270" anchor="t" anchorCtr="0">
          <a:noAutofit/>
        </a:bodyPr>
        <a:lstStyle/>
        <a:p>
          <a:pPr marL="0" lvl="0" indent="0" algn="l" defTabSz="622300">
            <a:lnSpc>
              <a:spcPct val="90000"/>
            </a:lnSpc>
            <a:spcBef>
              <a:spcPct val="0"/>
            </a:spcBef>
            <a:spcAft>
              <a:spcPct val="35000"/>
            </a:spcAft>
            <a:buNone/>
          </a:pPr>
          <a:r>
            <a:rPr lang="en-GB" sz="1400" kern="1200" dirty="0"/>
            <a:t>Merchant Notification</a:t>
          </a:r>
        </a:p>
      </dsp:txBody>
      <dsp:txXfrm>
        <a:off x="8326704" y="320121"/>
        <a:ext cx="1727549" cy="547109"/>
      </dsp:txXfrm>
    </dsp:sp>
    <dsp:sp modelId="{379FA456-4B8A-F640-8671-D08674F60F16}">
      <dsp:nvSpPr>
        <dsp:cNvPr id="0" name=""/>
        <dsp:cNvSpPr/>
      </dsp:nvSpPr>
      <dsp:spPr>
        <a:xfrm>
          <a:off x="8680540" y="867230"/>
          <a:ext cx="1727549" cy="3150000"/>
        </a:xfrm>
        <a:prstGeom prst="roundRect">
          <a:avLst>
            <a:gd name="adj" fmla="val 10000"/>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9568" tIns="99568" rIns="99568" bIns="99568" numCol="1" spcCol="1270" anchor="t" anchorCtr="0">
          <a:noAutofit/>
        </a:bodyPr>
        <a:lstStyle/>
        <a:p>
          <a:pPr marL="114300" lvl="1" indent="-114300" algn="l" defTabSz="622300">
            <a:lnSpc>
              <a:spcPct val="90000"/>
            </a:lnSpc>
            <a:spcBef>
              <a:spcPct val="0"/>
            </a:spcBef>
            <a:spcAft>
              <a:spcPct val="15000"/>
            </a:spcAft>
            <a:buFont typeface="Arial" panose="020B0604020202020204" pitchFamily="34" charset="0"/>
            <a:buChar char="•"/>
          </a:pPr>
          <a:r>
            <a:rPr lang="en-IN" sz="1400" kern="1200"/>
            <a:t>Sends auto-email once assets are processed and uploaded.</a:t>
          </a:r>
          <a:endParaRPr lang="en-GB" sz="1400" kern="1200"/>
        </a:p>
        <a:p>
          <a:pPr marL="114300" lvl="1" indent="-114300" algn="l" defTabSz="622300">
            <a:lnSpc>
              <a:spcPct val="90000"/>
            </a:lnSpc>
            <a:spcBef>
              <a:spcPct val="0"/>
            </a:spcBef>
            <a:spcAft>
              <a:spcPct val="15000"/>
            </a:spcAft>
            <a:buFont typeface="Arial" panose="020B0604020202020204" pitchFamily="34" charset="0"/>
            <a:buChar char="•"/>
          </a:pPr>
          <a:r>
            <a:rPr lang="en-IN" sz="1400" kern="1200"/>
            <a:t>Confirms readiness of brand page to merchant.</a:t>
          </a:r>
        </a:p>
        <a:p>
          <a:pPr marL="114300" lvl="1" indent="-114300" algn="l" defTabSz="622300">
            <a:lnSpc>
              <a:spcPct val="90000"/>
            </a:lnSpc>
            <a:spcBef>
              <a:spcPct val="0"/>
            </a:spcBef>
            <a:spcAft>
              <a:spcPct val="15000"/>
            </a:spcAft>
            <a:buFont typeface="Arial" panose="020B0604020202020204" pitchFamily="34" charset="0"/>
            <a:buChar char="•"/>
          </a:pPr>
          <a:r>
            <a:rPr lang="en-IN" sz="1400" kern="1200"/>
            <a:t>Future-ready: can evolve into a dashboard for self-service tracking.</a:t>
          </a:r>
        </a:p>
      </dsp:txBody>
      <dsp:txXfrm>
        <a:off x="8731138" y="917828"/>
        <a:ext cx="1626353" cy="30488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D099FE-F1FC-9245-BFE8-40B1E1E2E366}">
      <dsp:nvSpPr>
        <dsp:cNvPr id="0" name=""/>
        <dsp:cNvSpPr/>
      </dsp:nvSpPr>
      <dsp:spPr>
        <a:xfrm rot="5400000">
          <a:off x="-167968" y="138888"/>
          <a:ext cx="1354044" cy="1088384"/>
        </a:xfrm>
        <a:prstGeom prst="chevron">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85" tIns="6985" rIns="6985" bIns="6985" numCol="1" spcCol="1270" anchor="ctr" anchorCtr="0">
          <a:noAutofit/>
        </a:bodyPr>
        <a:lstStyle/>
        <a:p>
          <a:pPr marL="0" lvl="0" indent="0" algn="ctr" defTabSz="488950">
            <a:lnSpc>
              <a:spcPct val="90000"/>
            </a:lnSpc>
            <a:spcBef>
              <a:spcPct val="0"/>
            </a:spcBef>
            <a:spcAft>
              <a:spcPct val="35000"/>
            </a:spcAft>
            <a:buNone/>
          </a:pPr>
          <a:r>
            <a:rPr lang="en-GB" sz="1100" kern="1200" dirty="0"/>
            <a:t>Portal </a:t>
          </a:r>
          <a:br>
            <a:rPr lang="en-GB" sz="1100" kern="1200" dirty="0"/>
          </a:br>
          <a:r>
            <a:rPr lang="en-GB" sz="1100" kern="1200" dirty="0"/>
            <a:t>(Weeks 1-2)</a:t>
          </a:r>
        </a:p>
      </dsp:txBody>
      <dsp:txXfrm rot="-5400000">
        <a:off x="-35138" y="550250"/>
        <a:ext cx="1088384" cy="265660"/>
      </dsp:txXfrm>
    </dsp:sp>
    <dsp:sp modelId="{712430EC-0E22-B041-9487-2F41ECBF1BBF}">
      <dsp:nvSpPr>
        <dsp:cNvPr id="0" name=""/>
        <dsp:cNvSpPr/>
      </dsp:nvSpPr>
      <dsp:spPr>
        <a:xfrm rot="5400000">
          <a:off x="3355968" y="-2355369"/>
          <a:ext cx="880591" cy="5626589"/>
        </a:xfrm>
        <a:prstGeom prst="round2SameRect">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Build lightweight merchant upload portal.</a:t>
          </a:r>
          <a:endParaRPr lang="en-GB"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Enforce basic file checks (PNG/JPG, size, dimensions).</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Introduce brand_id naming convention.</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Quick pilot with Ops.</a:t>
          </a:r>
        </a:p>
      </dsp:txBody>
      <dsp:txXfrm rot="-5400000">
        <a:off x="982970" y="60616"/>
        <a:ext cx="5583602" cy="794617"/>
      </dsp:txXfrm>
    </dsp:sp>
    <dsp:sp modelId="{DC578203-C95B-B341-A8F6-6338F49CC4A9}">
      <dsp:nvSpPr>
        <dsp:cNvPr id="0" name=""/>
        <dsp:cNvSpPr/>
      </dsp:nvSpPr>
      <dsp:spPr>
        <a:xfrm rot="5400000">
          <a:off x="-238245" y="1417922"/>
          <a:ext cx="1354044" cy="947830"/>
        </a:xfrm>
        <a:prstGeom prst="chevron">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kern="1200" dirty="0"/>
            <a:t>Automation</a:t>
          </a:r>
          <a:br>
            <a:rPr lang="en-GB" sz="1300" kern="1200" dirty="0"/>
          </a:br>
          <a:r>
            <a:rPr lang="en-GB" sz="1300" kern="1200" dirty="0"/>
            <a:t>(Weeks 3-4)</a:t>
          </a:r>
        </a:p>
      </dsp:txBody>
      <dsp:txXfrm rot="-5400000">
        <a:off x="-35138" y="1688730"/>
        <a:ext cx="947830" cy="406214"/>
      </dsp:txXfrm>
    </dsp:sp>
    <dsp:sp modelId="{5AC2C369-DBF6-2A45-BA94-30F681A2ACE7}">
      <dsp:nvSpPr>
        <dsp:cNvPr id="0" name=""/>
        <dsp:cNvSpPr/>
      </dsp:nvSpPr>
      <dsp:spPr>
        <a:xfrm rot="5400000">
          <a:off x="3285922" y="-1158414"/>
          <a:ext cx="880128" cy="5626589"/>
        </a:xfrm>
        <a:prstGeom prst="round2SameRect">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endParaRPr lang="en-GB"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Automate resizing into 500×500, 1000×1000, 1500×1000.</a:t>
          </a:r>
          <a:endParaRPr lang="en-GB"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Generate logo-on-black variant.</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Run validation (reject corrupted/too small files).</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Pilot with 1–2 merchants.</a:t>
          </a:r>
        </a:p>
        <a:p>
          <a:pPr marL="57150" lvl="1" indent="-57150" algn="l" defTabSz="400050">
            <a:lnSpc>
              <a:spcPct val="90000"/>
            </a:lnSpc>
            <a:spcBef>
              <a:spcPct val="0"/>
            </a:spcBef>
            <a:spcAft>
              <a:spcPct val="15000"/>
            </a:spcAft>
            <a:buFont typeface="Arial" panose="020B0604020202020204" pitchFamily="34" charset="0"/>
            <a:buChar char="•"/>
          </a:pPr>
          <a:endParaRPr lang="en-IN" sz="900" kern="1200" dirty="0"/>
        </a:p>
      </dsp:txBody>
      <dsp:txXfrm rot="-5400000">
        <a:off x="912692" y="1257780"/>
        <a:ext cx="5583625" cy="794200"/>
      </dsp:txXfrm>
    </dsp:sp>
    <dsp:sp modelId="{D57253F7-87F1-4340-AB02-A41976CF96B2}">
      <dsp:nvSpPr>
        <dsp:cNvPr id="0" name=""/>
        <dsp:cNvSpPr/>
      </dsp:nvSpPr>
      <dsp:spPr>
        <a:xfrm rot="5400000">
          <a:off x="-238245" y="2626680"/>
          <a:ext cx="1354044" cy="947830"/>
        </a:xfrm>
        <a:prstGeom prst="chevron">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kern="1200" dirty="0"/>
            <a:t>Backend</a:t>
          </a:r>
          <a:br>
            <a:rPr lang="en-GB" sz="1300" kern="1200" dirty="0"/>
          </a:br>
          <a:r>
            <a:rPr lang="en-GB" sz="1300" kern="1200" dirty="0"/>
            <a:t>(Weeks 5-6)</a:t>
          </a:r>
        </a:p>
      </dsp:txBody>
      <dsp:txXfrm rot="-5400000">
        <a:off x="-35138" y="2897488"/>
        <a:ext cx="947830" cy="406214"/>
      </dsp:txXfrm>
    </dsp:sp>
    <dsp:sp modelId="{B6C39F07-6FA9-FD4E-9BE5-746EAFA2A187}">
      <dsp:nvSpPr>
        <dsp:cNvPr id="0" name=""/>
        <dsp:cNvSpPr/>
      </dsp:nvSpPr>
      <dsp:spPr>
        <a:xfrm rot="5400000">
          <a:off x="3285922" y="50343"/>
          <a:ext cx="880128" cy="5626589"/>
        </a:xfrm>
        <a:prstGeom prst="round2SameRect">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kern="1200"/>
            <a:t>Store assets in structured brand_id folders.</a:t>
          </a:r>
          <a:endParaRPr lang="en-GB"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IN" sz="1200" kern="1200"/>
            <a:t>Link via mock API or manifest.</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a:t>Add hashing/idempotency.</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Define exception workflow (Ops reviews flagged files only).</a:t>
          </a:r>
        </a:p>
      </dsp:txBody>
      <dsp:txXfrm rot="-5400000">
        <a:off x="912692" y="2466537"/>
        <a:ext cx="5583625" cy="794200"/>
      </dsp:txXfrm>
    </dsp:sp>
    <dsp:sp modelId="{C5BAC42C-4197-AC4E-907A-637D3D4FAC17}">
      <dsp:nvSpPr>
        <dsp:cNvPr id="0" name=""/>
        <dsp:cNvSpPr/>
      </dsp:nvSpPr>
      <dsp:spPr>
        <a:xfrm rot="5400000">
          <a:off x="-238245" y="3835437"/>
          <a:ext cx="1354044" cy="947830"/>
        </a:xfrm>
        <a:prstGeom prst="chevron">
          <a:avLst/>
        </a:prstGeom>
        <a:solidFill>
          <a:schemeClr val="lt1">
            <a:hueOff val="0"/>
            <a:satOff val="0"/>
            <a:lumOff val="0"/>
            <a:alphaOff val="0"/>
          </a:schemeClr>
        </a:solidFill>
        <a:ln w="19050" cap="flat" cmpd="sng" algn="ctr">
          <a:solidFill>
            <a:schemeClr val="accent2">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255" tIns="8255" rIns="8255" bIns="8255" numCol="1" spcCol="1270" anchor="ctr" anchorCtr="0">
          <a:noAutofit/>
        </a:bodyPr>
        <a:lstStyle/>
        <a:p>
          <a:pPr marL="0" lvl="0" indent="0" algn="ctr" defTabSz="577850">
            <a:lnSpc>
              <a:spcPct val="90000"/>
            </a:lnSpc>
            <a:spcBef>
              <a:spcPct val="0"/>
            </a:spcBef>
            <a:spcAft>
              <a:spcPct val="35000"/>
            </a:spcAft>
            <a:buNone/>
          </a:pPr>
          <a:r>
            <a:rPr lang="en-GB" sz="1300" kern="1200" dirty="0"/>
            <a:t>Notifications</a:t>
          </a:r>
          <a:br>
            <a:rPr lang="en-GB" sz="1300" kern="1200" dirty="0"/>
          </a:br>
          <a:r>
            <a:rPr lang="en-GB" sz="1300" kern="1200" dirty="0"/>
            <a:t>(Week 7)</a:t>
          </a:r>
        </a:p>
      </dsp:txBody>
      <dsp:txXfrm rot="-5400000">
        <a:off x="-35138" y="4106245"/>
        <a:ext cx="947830" cy="406214"/>
      </dsp:txXfrm>
    </dsp:sp>
    <dsp:sp modelId="{32282043-27FF-AB43-A9DB-3FDE1DE657E0}">
      <dsp:nvSpPr>
        <dsp:cNvPr id="0" name=""/>
        <dsp:cNvSpPr/>
      </dsp:nvSpPr>
      <dsp:spPr>
        <a:xfrm rot="5400000">
          <a:off x="3285922" y="1259100"/>
          <a:ext cx="880128" cy="5626589"/>
        </a:xfrm>
        <a:prstGeom prst="round2SameRect">
          <a:avLst/>
        </a:prstGeom>
        <a:solidFill>
          <a:schemeClr val="accent2">
            <a:alpha val="90000"/>
            <a:tint val="40000"/>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Send auto-emails with processed assets.</a:t>
          </a:r>
          <a:endParaRPr lang="en-GB" sz="1200" kern="1200" dirty="0"/>
        </a:p>
        <a:p>
          <a:pPr marL="114300" lvl="1" indent="-114300" algn="l" defTabSz="533400">
            <a:lnSpc>
              <a:spcPct val="90000"/>
            </a:lnSpc>
            <a:spcBef>
              <a:spcPct val="0"/>
            </a:spcBef>
            <a:spcAft>
              <a:spcPct val="15000"/>
            </a:spcAft>
            <a:buFont typeface="Arial" panose="020B0604020202020204" pitchFamily="34" charset="0"/>
            <a:buChar char="•"/>
          </a:pPr>
          <a:r>
            <a:rPr lang="en-IN" sz="1200" kern="1200"/>
            <a:t>Share direct links with merchants + Ops.</a:t>
          </a:r>
        </a:p>
        <a:p>
          <a:pPr marL="114300" lvl="1" indent="-114300" algn="l" defTabSz="533400">
            <a:lnSpc>
              <a:spcPct val="90000"/>
            </a:lnSpc>
            <a:spcBef>
              <a:spcPct val="0"/>
            </a:spcBef>
            <a:spcAft>
              <a:spcPct val="15000"/>
            </a:spcAft>
            <a:buFont typeface="Arial" panose="020B0604020202020204" pitchFamily="34" charset="0"/>
            <a:buChar char="•"/>
          </a:pPr>
          <a:r>
            <a:rPr lang="en-IN" sz="1200" kern="1200" dirty="0"/>
            <a:t>Define roadmap → dashboard + CMS integration.</a:t>
          </a:r>
        </a:p>
      </dsp:txBody>
      <dsp:txXfrm rot="-5400000">
        <a:off x="912692" y="3675294"/>
        <a:ext cx="5583625" cy="794200"/>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655A8D-67AA-3248-AA15-123A55BDC76E}" type="datetimeFigureOut">
              <a:rPr lang="en-US" smtClean="0"/>
              <a:t>9/15/25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C28B94-0D51-6B4B-B31F-CE9D8B20DA8A}" type="slidenum">
              <a:rPr lang="en-US" smtClean="0"/>
              <a:t>‹#›</a:t>
            </a:fld>
            <a:endParaRPr lang="en-US"/>
          </a:p>
        </p:txBody>
      </p:sp>
    </p:spTree>
    <p:extLst>
      <p:ext uri="{BB962C8B-B14F-4D97-AF65-F5344CB8AC3E}">
        <p14:creationId xmlns:p14="http://schemas.microsoft.com/office/powerpoint/2010/main" val="24656629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algn="l" rtl="0">
              <a:spcBef>
                <a:spcPts val="1200"/>
              </a:spcBef>
              <a:spcAft>
                <a:spcPts val="1200"/>
              </a:spcAft>
              <a:buNone/>
            </a:pPr>
            <a:r>
              <a:rPr lang="en-SG" sz="1800" b="0" i="0" u="none" strike="noStrike" dirty="0">
                <a:solidFill>
                  <a:srgbClr val="000000"/>
                </a:solidFill>
                <a:effectLst/>
                <a:latin typeface="Arial" panose="020B0604020202020204" pitchFamily="34" charset="0"/>
              </a:rPr>
              <a:t>Hi everyone, I’m Tanya Irani, </a:t>
            </a:r>
          </a:p>
          <a:p>
            <a:pPr algn="l" rtl="0">
              <a:spcBef>
                <a:spcPts val="1200"/>
              </a:spcBef>
              <a:spcAft>
                <a:spcPts val="1200"/>
              </a:spcAft>
              <a:buNone/>
            </a:pPr>
            <a:r>
              <a:rPr lang="en-SG" sz="1800" b="0" i="0" u="none" strike="noStrike" dirty="0">
                <a:solidFill>
                  <a:srgbClr val="000000"/>
                </a:solidFill>
                <a:effectLst/>
                <a:latin typeface="Arial" panose="020B0604020202020204" pitchFamily="34" charset="0"/>
              </a:rPr>
              <a:t>First of all, thanks so much for having here - I’m really excited to share my thinking behind the given case study and how we can strategically protect and grow </a:t>
            </a:r>
            <a:r>
              <a:rPr lang="en-SG" sz="1800" b="0" i="0" u="none" strike="noStrike" dirty="0" err="1">
                <a:solidFill>
                  <a:srgbClr val="000000"/>
                </a:solidFill>
                <a:effectLst/>
                <a:latin typeface="Arial" panose="020B0604020202020204" pitchFamily="34" charset="0"/>
              </a:rPr>
              <a:t>GrabFood’s</a:t>
            </a:r>
            <a:r>
              <a:rPr lang="en-SG" sz="1800" b="0" i="0" u="none" strike="noStrike" dirty="0">
                <a:solidFill>
                  <a:srgbClr val="000000"/>
                </a:solidFill>
                <a:effectLst/>
                <a:latin typeface="Arial" panose="020B0604020202020204" pitchFamily="34" charset="0"/>
              </a:rPr>
              <a:t> business.</a:t>
            </a:r>
            <a:endParaRPr lang="en-SG" b="0" i="0" u="none" strike="noStrike" dirty="0">
              <a:solidFill>
                <a:srgbClr val="000000"/>
              </a:solidFill>
              <a:effectLst/>
            </a:endParaRPr>
          </a:p>
          <a:p>
            <a:pPr algn="l" rtl="0">
              <a:spcBef>
                <a:spcPts val="1200"/>
              </a:spcBef>
              <a:spcAft>
                <a:spcPts val="1200"/>
              </a:spcAft>
              <a:buNone/>
            </a:pPr>
            <a:r>
              <a:rPr lang="en-SG" sz="1800" b="0" i="0" u="none" strike="noStrike" dirty="0">
                <a:solidFill>
                  <a:srgbClr val="000000"/>
                </a:solidFill>
                <a:effectLst/>
                <a:latin typeface="Arial" panose="020B0604020202020204" pitchFamily="34" charset="0"/>
              </a:rPr>
              <a:t>Let’s dive straight into it.</a:t>
            </a:r>
            <a:endParaRPr lang="en-SG" b="0" i="0" u="none" strike="noStrike" dirty="0">
              <a:solidFill>
                <a:srgbClr val="000000"/>
              </a:solidFill>
              <a:effectLst/>
            </a:endParaRPr>
          </a:p>
          <a:p>
            <a:pPr>
              <a:buNone/>
            </a:pPr>
            <a:br>
              <a:rPr lang="en-SG" dirty="0"/>
            </a:br>
            <a:br>
              <a:rPr lang="en-SG" dirty="0"/>
            </a:br>
            <a:endParaRPr lang="en-US" dirty="0"/>
          </a:p>
        </p:txBody>
      </p:sp>
      <p:sp>
        <p:nvSpPr>
          <p:cNvPr id="4" name="Slide Number Placeholder 3"/>
          <p:cNvSpPr>
            <a:spLocks noGrp="1"/>
          </p:cNvSpPr>
          <p:nvPr>
            <p:ph type="sldNum" sz="quarter" idx="5"/>
          </p:nvPr>
        </p:nvSpPr>
        <p:spPr/>
        <p:txBody>
          <a:bodyPr/>
          <a:lstStyle/>
          <a:p>
            <a:fld id="{4BC28B94-0D51-6B4B-B31F-CE9D8B20DA8A}" type="slidenum">
              <a:rPr lang="en-US" smtClean="0"/>
              <a:t>1</a:t>
            </a:fld>
            <a:endParaRPr lang="en-US"/>
          </a:p>
        </p:txBody>
      </p:sp>
    </p:spTree>
    <p:extLst>
      <p:ext uri="{BB962C8B-B14F-4D97-AF65-F5344CB8AC3E}">
        <p14:creationId xmlns:p14="http://schemas.microsoft.com/office/powerpoint/2010/main" val="664997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b="0" dirty="0"/>
              <a:t>Let me start by walking through the current workflow.</a:t>
            </a:r>
          </a:p>
          <a:p>
            <a:endParaRPr lang="en-IN" b="0" dirty="0"/>
          </a:p>
          <a:p>
            <a:r>
              <a:rPr lang="en-IN" b="0" dirty="0"/>
              <a:t>First, the merchant uploads logos through Google Drive. However, these files are often inconsistent in size or format, which creates issues downstream.</a:t>
            </a:r>
          </a:p>
          <a:p>
            <a:r>
              <a:rPr lang="en-IN" b="0" dirty="0"/>
              <a:t>The commercial team then takes these files and simply forwards them to Marketing Ops. This step doesn’t add much value, but introduces delays because of manual handoffs.</a:t>
            </a:r>
          </a:p>
          <a:p>
            <a:r>
              <a:rPr lang="en-IN" b="0" dirty="0"/>
              <a:t>Next, the Marketing Ops team has to manually resize the logos into required formats — 500×500, 1000×1000, and 1500×1000 — and also create an inverted version for dark backgrounds. After that, they upload all the assets into the backend system.</a:t>
            </a:r>
          </a:p>
          <a:p>
            <a:r>
              <a:rPr lang="en-IN" b="0" dirty="0"/>
              <a:t>Finally, the commercial team reverts back to the merchant once the page is updated.</a:t>
            </a:r>
          </a:p>
          <a:p>
            <a:endParaRPr lang="en-IN" b="0" dirty="0"/>
          </a:p>
          <a:p>
            <a:r>
              <a:rPr lang="en-IN" b="0" dirty="0"/>
              <a:t>This workflow creates a number of challenges. Manual, repetitive resizing and inversion make the process slow and heavy. Turnaround times are long, which delays merchant onboarding. Errors creep in, leading to inconsistent quality. And as the number of merchants grows, the workflow simply isn’t scalable. Finally, too many handoffs between teams create inefficiencies.</a:t>
            </a:r>
          </a:p>
          <a:p>
            <a:endParaRPr lang="en-IN" b="0" dirty="0"/>
          </a:p>
          <a:p>
            <a:r>
              <a:rPr lang="en-IN" b="0" dirty="0"/>
              <a:t>In short: Manual, repetitive workflows in logo onboarding cause delays, errors, and make the process unscalable.</a:t>
            </a:r>
          </a:p>
          <a:p>
            <a:endParaRPr lang="en-IN" b="0" dirty="0"/>
          </a:p>
          <a:p>
            <a:pPr algn="l">
              <a:buNone/>
            </a:pPr>
            <a:br>
              <a:rPr lang="en-SG" b="0" dirty="0"/>
            </a:br>
            <a:endParaRPr lang="en-US" b="0" dirty="0"/>
          </a:p>
        </p:txBody>
      </p:sp>
      <p:sp>
        <p:nvSpPr>
          <p:cNvPr id="4" name="Slide Number Placeholder 3"/>
          <p:cNvSpPr>
            <a:spLocks noGrp="1"/>
          </p:cNvSpPr>
          <p:nvPr>
            <p:ph type="sldNum" sz="quarter" idx="5"/>
          </p:nvPr>
        </p:nvSpPr>
        <p:spPr/>
        <p:txBody>
          <a:bodyPr/>
          <a:lstStyle/>
          <a:p>
            <a:fld id="{4BC28B94-0D51-6B4B-B31F-CE9D8B20DA8A}" type="slidenum">
              <a:rPr lang="en-US" smtClean="0"/>
              <a:t>2</a:t>
            </a:fld>
            <a:endParaRPr lang="en-US"/>
          </a:p>
        </p:txBody>
      </p:sp>
    </p:spTree>
    <p:extLst>
      <p:ext uri="{BB962C8B-B14F-4D97-AF65-F5344CB8AC3E}">
        <p14:creationId xmlns:p14="http://schemas.microsoft.com/office/powerpoint/2010/main" val="33066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sz="1800" b="0"/>
              <a:t>$Let </a:t>
            </a:r>
            <a:r>
              <a:rPr lang="en-IN" sz="1800" b="0" dirty="0"/>
              <a:t>me walk you through my proposed plan.</a:t>
            </a:r>
          </a:p>
          <a:p>
            <a:endParaRPr lang="en-IN" sz="1800" dirty="0"/>
          </a:p>
          <a:p>
            <a:r>
              <a:rPr lang="en-IN" sz="1800" b="1" dirty="0"/>
              <a:t>1) Merchant Upload</a:t>
            </a:r>
          </a:p>
          <a:p>
            <a:r>
              <a:rPr lang="en-IN" sz="1800" dirty="0"/>
              <a:t>“We start by simplifying the merchant’s experience.</a:t>
            </a:r>
            <a:br>
              <a:rPr lang="en-IN" sz="1800" dirty="0"/>
            </a:br>
            <a:r>
              <a:rPr lang="en-IN" sz="1800" dirty="0"/>
              <a:t>Instead of sending logos over Google Drive in all sorts of formats, merchants will now upload their logos directly through a simple portal.</a:t>
            </a:r>
            <a:br>
              <a:rPr lang="en-IN" sz="1800" dirty="0"/>
            </a:br>
            <a:r>
              <a:rPr lang="en-IN" sz="1800" dirty="0"/>
              <a:t>At upload, the system runs a few basic checks — for example, making sure the file is the right type and meets minimum size requirements.</a:t>
            </a:r>
            <a:br>
              <a:rPr lang="en-IN" sz="1800" dirty="0"/>
            </a:br>
            <a:r>
              <a:rPr lang="en-IN" sz="1800" dirty="0"/>
              <a:t>This ensures that from the very beginning, we are working with clean and consistent inputs, reducing rework downstream.”</a:t>
            </a:r>
          </a:p>
          <a:p>
            <a:endParaRPr lang="en-IN" sz="1800" dirty="0"/>
          </a:p>
          <a:p>
            <a:r>
              <a:rPr lang="en-IN" sz="1800" b="1" dirty="0"/>
              <a:t>2) Automation Service</a:t>
            </a:r>
          </a:p>
          <a:p>
            <a:r>
              <a:rPr lang="en-IN" sz="1800" dirty="0"/>
              <a:t>“Once the logo is uploaded, an automation service takes over.</a:t>
            </a:r>
            <a:br>
              <a:rPr lang="en-IN" sz="1800" dirty="0"/>
            </a:br>
            <a:r>
              <a:rPr lang="en-IN" sz="1800" dirty="0"/>
              <a:t>This service automatically creates all the required logo sizes and a dark-background version.</a:t>
            </a:r>
            <a:br>
              <a:rPr lang="en-IN" sz="1800" dirty="0"/>
            </a:br>
            <a:r>
              <a:rPr lang="en-IN" sz="1800" dirty="0"/>
              <a:t>By doing this instantly, we remove the repetitive, manual resizing and editing that the Ops team used to spend hours on.</a:t>
            </a:r>
            <a:br>
              <a:rPr lang="en-IN" sz="1800" dirty="0"/>
            </a:br>
            <a:r>
              <a:rPr lang="en-IN" sz="1800" dirty="0"/>
              <a:t>The system also checks for issues, like files that are too small or corrupted, and only flags Ops if something really needs human attention.”</a:t>
            </a:r>
            <a:br>
              <a:rPr lang="en-IN" sz="1800" dirty="0"/>
            </a:br>
            <a:endParaRPr lang="en-IN" sz="1800" dirty="0"/>
          </a:p>
          <a:p>
            <a:r>
              <a:rPr lang="en-IN" sz="1800" b="1" dirty="0"/>
              <a:t>3) Backend System</a:t>
            </a:r>
          </a:p>
          <a:p>
            <a:r>
              <a:rPr lang="en-IN" sz="1800" dirty="0"/>
              <a:t>“Next, the processed logos are stored in an organized, central system and linked directly to the merchant’s brand page.</a:t>
            </a:r>
            <a:br>
              <a:rPr lang="en-IN" sz="1800" dirty="0"/>
            </a:br>
            <a:r>
              <a:rPr lang="en-IN" sz="1800" dirty="0"/>
              <a:t>That means Ops no longer has to manually upload each version into the backend.</a:t>
            </a:r>
            <a:br>
              <a:rPr lang="en-IN" sz="1800" dirty="0"/>
            </a:br>
            <a:r>
              <a:rPr lang="en-IN" sz="1800" dirty="0"/>
              <a:t>Instead, the system makes sure files are named properly, stored in the right place, and ready for use immediately.</a:t>
            </a:r>
            <a:br>
              <a:rPr lang="en-IN" sz="1800" dirty="0"/>
            </a:br>
            <a:r>
              <a:rPr lang="en-IN" sz="1800" dirty="0"/>
              <a:t>This creates a smooth, zero-touch push from upload to backend availability.”</a:t>
            </a:r>
          </a:p>
          <a:p>
            <a:endParaRPr lang="en-IN" sz="1800" dirty="0"/>
          </a:p>
          <a:p>
            <a:r>
              <a:rPr lang="en-IN" sz="1800" b="1" dirty="0"/>
              <a:t>4) Merchant Notification</a:t>
            </a:r>
          </a:p>
          <a:p>
            <a:r>
              <a:rPr lang="en-IN" sz="1800" dirty="0"/>
              <a:t>“Finally, once everything is processed and stored, the system notifies the relevant teams and the merchant automatically.</a:t>
            </a:r>
            <a:br>
              <a:rPr lang="en-IN" sz="1800" dirty="0"/>
            </a:br>
            <a:r>
              <a:rPr lang="en-IN" sz="1800" dirty="0"/>
              <a:t>An email is sent confirming that all logo assets are ready, along with links to the processed files.</a:t>
            </a:r>
            <a:br>
              <a:rPr lang="en-IN" sz="1800" dirty="0"/>
            </a:br>
            <a:r>
              <a:rPr lang="en-IN" sz="1800" dirty="0"/>
              <a:t>In the future, this step could even expand into a simple dashboard, so merchants and Commercial can track the status themselves without needing to reach out to Ops.”</a:t>
            </a:r>
          </a:p>
          <a:p>
            <a:endParaRPr lang="en-IN" sz="1800" dirty="0"/>
          </a:p>
          <a:p>
            <a:r>
              <a:rPr lang="en-IN" sz="1800" dirty="0"/>
              <a:t>“And importantly, if something does go wrong — for example, if the file is the wrong size — the system doesn’t stop everything.</a:t>
            </a:r>
            <a:br>
              <a:rPr lang="en-IN" sz="1800" dirty="0"/>
            </a:br>
            <a:r>
              <a:rPr lang="en-IN" sz="1800" dirty="0"/>
              <a:t>It still produces what it can, flags only the problem, and routes that exception to Ops.</a:t>
            </a:r>
            <a:br>
              <a:rPr lang="en-IN" sz="1800" dirty="0"/>
            </a:br>
            <a:r>
              <a:rPr lang="en-IN" sz="1800" dirty="0"/>
              <a:t>This means Ops deals with exceptions, not every single file.”</a:t>
            </a:r>
          </a:p>
          <a:p>
            <a:endParaRPr lang="en-IN" sz="1800" dirty="0"/>
          </a:p>
          <a:p>
            <a:r>
              <a:rPr lang="en-IN" sz="1800" dirty="0"/>
              <a:t>“So overall, this new workflow removes manual tasks, standardizes the process, and cuts out unnecessary handoffs.</a:t>
            </a:r>
            <a:br>
              <a:rPr lang="en-IN" sz="1800" dirty="0"/>
            </a:br>
            <a:r>
              <a:rPr lang="en-IN" sz="1800" dirty="0"/>
              <a:t>Turnaround time goes from days to minutes, quality becomes consistent, and the process can easily scale as ShopBack grows its merchant base.”</a:t>
            </a:r>
          </a:p>
          <a:p>
            <a:pPr algn="l" rtl="0">
              <a:spcBef>
                <a:spcPts val="1200"/>
              </a:spcBef>
              <a:spcAft>
                <a:spcPts val="1200"/>
              </a:spcAft>
              <a:buNone/>
            </a:pPr>
            <a:endParaRPr lang="en-SG" sz="1200" b="0" i="0" u="none" strike="noStrike" dirty="0">
              <a:solidFill>
                <a:srgbClr val="000000"/>
              </a:solidFill>
              <a:effectLst/>
              <a:latin typeface="Arial" panose="020B0604020202020204" pitchFamily="34" charset="0"/>
            </a:endParaRPr>
          </a:p>
          <a:p>
            <a:pPr>
              <a:buNone/>
            </a:pPr>
            <a:br>
              <a:rPr lang="en-SG" sz="1200" b="0" i="0" u="none" strike="noStrike" dirty="0">
                <a:solidFill>
                  <a:srgbClr val="000000"/>
                </a:solidFill>
                <a:effectLst/>
                <a:latin typeface="Arial" panose="020B0604020202020204" pitchFamily="34" charset="0"/>
              </a:rPr>
            </a:br>
            <a:br>
              <a:rPr lang="en-SG" dirty="0"/>
            </a:br>
            <a:br>
              <a:rPr lang="en-SG" dirty="0"/>
            </a:br>
            <a:endParaRPr lang="en-US" dirty="0"/>
          </a:p>
        </p:txBody>
      </p:sp>
      <p:sp>
        <p:nvSpPr>
          <p:cNvPr id="4" name="Slide Number Placeholder 3"/>
          <p:cNvSpPr>
            <a:spLocks noGrp="1"/>
          </p:cNvSpPr>
          <p:nvPr>
            <p:ph type="sldNum" sz="quarter" idx="5"/>
          </p:nvPr>
        </p:nvSpPr>
        <p:spPr/>
        <p:txBody>
          <a:bodyPr/>
          <a:lstStyle/>
          <a:p>
            <a:fld id="{4BC28B94-0D51-6B4B-B31F-CE9D8B20DA8A}" type="slidenum">
              <a:rPr lang="en-US" smtClean="0"/>
              <a:t>3</a:t>
            </a:fld>
            <a:endParaRPr lang="en-US"/>
          </a:p>
        </p:txBody>
      </p:sp>
    </p:spTree>
    <p:extLst>
      <p:ext uri="{BB962C8B-B14F-4D97-AF65-F5344CB8AC3E}">
        <p14:creationId xmlns:p14="http://schemas.microsoft.com/office/powerpoint/2010/main" val="8612462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D4CB6-E4FC-F206-B2D6-1FCE2A9D48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209288-85F8-B252-D358-73582E00412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8CE71DD-21DE-05CC-A4E6-5013B7704D85}"/>
              </a:ext>
            </a:extLst>
          </p:cNvPr>
          <p:cNvSpPr>
            <a:spLocks noGrp="1"/>
          </p:cNvSpPr>
          <p:nvPr>
            <p:ph type="body" idx="1"/>
          </p:nvPr>
        </p:nvSpPr>
        <p:spPr/>
        <p:txBody>
          <a:bodyPr/>
          <a:lstStyle/>
          <a:p>
            <a:r>
              <a:rPr lang="en-IN" dirty="0"/>
              <a:t>Let me start with Step 1 — fixing the way logos enter the process. Our goal is to </a:t>
            </a:r>
            <a:r>
              <a:rPr lang="en-IN" b="1" dirty="0"/>
              <a:t>standardize inputs at the source</a:t>
            </a:r>
            <a:r>
              <a:rPr lang="en-IN" dirty="0"/>
              <a:t> so Ops doesn’t have to clean things up later. If we get this step right, everything downstream becomes faster and more reliable.”</a:t>
            </a:r>
            <a:br>
              <a:rPr lang="en-IN" dirty="0"/>
            </a:br>
            <a:endParaRPr lang="en-IN" dirty="0"/>
          </a:p>
          <a:p>
            <a:r>
              <a:rPr lang="en-IN" b="1" dirty="0"/>
              <a:t>Key features — what the portal does </a:t>
            </a:r>
            <a:br>
              <a:rPr lang="en-IN" dirty="0"/>
            </a:br>
            <a:r>
              <a:rPr lang="en-IN" dirty="0"/>
              <a:t>“On the top of the slide you’ll see the essential checks the portal performs the moment a merchant uploads a logo:</a:t>
            </a:r>
          </a:p>
          <a:p>
            <a:r>
              <a:rPr lang="en-IN" dirty="0"/>
              <a:t>It </a:t>
            </a:r>
            <a:r>
              <a:rPr lang="en-IN" b="1" dirty="0"/>
              <a:t>accepts only supported formats</a:t>
            </a:r>
            <a:r>
              <a:rPr lang="en-IN" dirty="0"/>
              <a:t> (PNG or JPG) and </a:t>
            </a:r>
            <a:r>
              <a:rPr lang="en-IN" b="1" dirty="0"/>
              <a:t>blocks wrong files</a:t>
            </a:r>
            <a:r>
              <a:rPr lang="en-IN" dirty="0"/>
              <a:t> up front.</a:t>
            </a:r>
          </a:p>
          <a:p>
            <a:r>
              <a:rPr lang="en-IN" dirty="0"/>
              <a:t>It </a:t>
            </a:r>
            <a:r>
              <a:rPr lang="en-IN" b="1" dirty="0"/>
              <a:t>enforces size and dimension guardrails</a:t>
            </a:r>
            <a:r>
              <a:rPr lang="en-IN" dirty="0"/>
              <a:t> so we don’t receive tiny or oddly shaped images that will look poor later.</a:t>
            </a:r>
          </a:p>
          <a:p>
            <a:r>
              <a:rPr lang="en-IN" dirty="0"/>
              <a:t>It </a:t>
            </a:r>
            <a:r>
              <a:rPr lang="en-IN" b="1" dirty="0"/>
              <a:t>auto-names files using the </a:t>
            </a:r>
            <a:r>
              <a:rPr lang="en-IN" b="1" dirty="0" err="1"/>
              <a:t>brand_id</a:t>
            </a:r>
            <a:r>
              <a:rPr lang="en-IN" dirty="0"/>
              <a:t>, which gives us traceability and simplifies mapping to the brand page.</a:t>
            </a:r>
          </a:p>
          <a:p>
            <a:r>
              <a:rPr lang="en-IN" dirty="0"/>
              <a:t>And it </a:t>
            </a:r>
            <a:r>
              <a:rPr lang="en-IN" b="1" dirty="0"/>
              <a:t>stores basic metadata</a:t>
            </a:r>
            <a:r>
              <a:rPr lang="en-IN" dirty="0"/>
              <a:t> — who uploaded, when, and for which brand — which lets Ops monitor submissions without manual follow-ups.</a:t>
            </a:r>
          </a:p>
          <a:p>
            <a:r>
              <a:rPr lang="en-IN" dirty="0"/>
              <a:t>In short: we turn a messy inbox into </a:t>
            </a:r>
            <a:r>
              <a:rPr lang="en-IN" b="1" dirty="0"/>
              <a:t>clean, standardized inputs</a:t>
            </a:r>
            <a:r>
              <a:rPr lang="en-IN" dirty="0"/>
              <a:t> for the automation step.”</a:t>
            </a:r>
            <a:br>
              <a:rPr lang="en-IN" dirty="0"/>
            </a:br>
            <a:endParaRPr lang="en-IN" dirty="0"/>
          </a:p>
          <a:p>
            <a:r>
              <a:rPr lang="en-IN" b="1" dirty="0"/>
              <a:t>Options we explored </a:t>
            </a:r>
          </a:p>
          <a:p>
            <a:r>
              <a:rPr lang="en-IN" b="1" dirty="0"/>
              <a:t>Simple Web Portal (recommended)</a:t>
            </a:r>
            <a:br>
              <a:rPr lang="en-IN" dirty="0"/>
            </a:br>
            <a:r>
              <a:rPr lang="en-IN" dirty="0"/>
              <a:t>“First, a </a:t>
            </a:r>
            <a:r>
              <a:rPr lang="en-IN" b="1" dirty="0"/>
              <a:t>simple web portal</a:t>
            </a:r>
            <a:r>
              <a:rPr lang="en-IN" dirty="0"/>
              <a:t>. The value here is </a:t>
            </a:r>
            <a:r>
              <a:rPr lang="en-IN" b="1" dirty="0"/>
              <a:t>speed and control</a:t>
            </a:r>
            <a:r>
              <a:rPr lang="en-IN" dirty="0"/>
              <a:t>. We can prototype quickly, make the merchant flow very simple — ‘upload and go’ — and we can tailor the validation rules to the exact needs Operations has defined.</a:t>
            </a:r>
            <a:br>
              <a:rPr lang="en-IN" dirty="0"/>
            </a:br>
            <a:r>
              <a:rPr lang="en-IN" dirty="0"/>
              <a:t>The trade-off is modest: we do need to host and lightly maintain the portal. But for an MVP, this gives us the </a:t>
            </a:r>
            <a:r>
              <a:rPr lang="en-IN" b="1" dirty="0"/>
              <a:t>fastest learning loop</a:t>
            </a:r>
            <a:r>
              <a:rPr lang="en-IN" dirty="0"/>
              <a:t> and the most flexibility to incorporate Ops feedback week-to-week.</a:t>
            </a:r>
          </a:p>
          <a:p>
            <a:r>
              <a:rPr lang="en-IN" b="1" dirty="0"/>
              <a:t>Full integration with the internal backend / content management system</a:t>
            </a:r>
            <a:br>
              <a:rPr lang="en-IN" dirty="0"/>
            </a:br>
            <a:r>
              <a:rPr lang="en-IN" dirty="0"/>
              <a:t>“The second path is to build this </a:t>
            </a:r>
            <a:r>
              <a:rPr lang="en-IN" b="1" dirty="0"/>
              <a:t>directly into ShopBack’s internal system</a:t>
            </a:r>
            <a:r>
              <a:rPr lang="en-IN" dirty="0"/>
              <a:t> that teams use to manage merchant pages.</a:t>
            </a:r>
            <a:br>
              <a:rPr lang="en-IN" dirty="0"/>
            </a:br>
            <a:r>
              <a:rPr lang="en-IN" b="1" dirty="0"/>
              <a:t>Assumption:</a:t>
            </a:r>
            <a:r>
              <a:rPr lang="en-IN" dirty="0"/>
              <a:t> I’m assuming ShopBack operates an internal backend or content management system for brand pages and assets.</a:t>
            </a:r>
            <a:br>
              <a:rPr lang="en-IN" dirty="0"/>
            </a:br>
            <a:r>
              <a:rPr lang="en-IN" dirty="0"/>
              <a:t>Long-term, this is the </a:t>
            </a:r>
            <a:r>
              <a:rPr lang="en-IN" b="1" dirty="0"/>
              <a:t>cleanest</a:t>
            </a:r>
            <a:r>
              <a:rPr lang="en-IN" dirty="0"/>
              <a:t> solution — one system, one login, one audit trail.</a:t>
            </a:r>
            <a:br>
              <a:rPr lang="en-IN" dirty="0"/>
            </a:br>
            <a:r>
              <a:rPr lang="en-IN" dirty="0"/>
              <a:t>The downside is timing: it’s a </a:t>
            </a:r>
            <a:r>
              <a:rPr lang="en-IN" b="1" dirty="0"/>
              <a:t>heavier engineering lift</a:t>
            </a:r>
            <a:r>
              <a:rPr lang="en-IN" dirty="0"/>
              <a:t>, so it’s not suited for a first iteration when we’re still validating rules and flow. This is the </a:t>
            </a:r>
            <a:r>
              <a:rPr lang="en-IN" b="1" dirty="0"/>
              <a:t>end-state</a:t>
            </a:r>
            <a:r>
              <a:rPr lang="en-IN" dirty="0"/>
              <a:t> once the process is proven.”</a:t>
            </a:r>
          </a:p>
          <a:p>
            <a:r>
              <a:rPr lang="en-IN" b="1" dirty="0"/>
              <a:t>External file-upload services (Google Forms, Dropbox, Box)</a:t>
            </a:r>
            <a:br>
              <a:rPr lang="en-IN" dirty="0"/>
            </a:br>
            <a:r>
              <a:rPr lang="en-IN" dirty="0"/>
              <a:t>“This looks fast on paper — we could stand something up in days — but it </a:t>
            </a:r>
            <a:r>
              <a:rPr lang="en-IN" b="1" dirty="0"/>
              <a:t>doesn’t fix the core problem</a:t>
            </a:r>
            <a:r>
              <a:rPr lang="en-IN" dirty="0"/>
              <a:t>. We’d still get inconsistent files and push the cleanup onto Ops. It’s familiar, but it </a:t>
            </a:r>
            <a:r>
              <a:rPr lang="en-IN" b="1" dirty="0"/>
              <a:t>doesn’t reduce workload</a:t>
            </a:r>
            <a:r>
              <a:rPr lang="en-IN" dirty="0"/>
              <a:t> or improve quality in a measurable way.”</a:t>
            </a:r>
          </a:p>
          <a:p>
            <a:r>
              <a:rPr lang="en-IN" b="1" dirty="0"/>
              <a:t>Low-code tools (Airtable, Formstack, Microsoft Power Apps)</a:t>
            </a:r>
            <a:br>
              <a:rPr lang="en-IN" dirty="0"/>
            </a:br>
            <a:r>
              <a:rPr lang="en-IN" dirty="0"/>
              <a:t>“Low-code can be great for a quick pilot: drag-and-drop forms, easy data storage. But when we need </a:t>
            </a:r>
            <a:r>
              <a:rPr lang="en-IN" b="1" dirty="0"/>
              <a:t>precise validation</a:t>
            </a:r>
            <a:r>
              <a:rPr lang="en-IN" dirty="0"/>
              <a:t> and the ability to evolve rules, these tools start to feel constrained. There’s also a </a:t>
            </a:r>
            <a:r>
              <a:rPr lang="en-IN" b="1" dirty="0"/>
              <a:t>dependency on an external vendor</a:t>
            </a:r>
            <a:r>
              <a:rPr lang="en-IN" dirty="0"/>
              <a:t> and potential friction when we try to scale or customize for ShopBack’s needs.”</a:t>
            </a:r>
          </a:p>
          <a:p>
            <a:endParaRPr lang="en-IN" dirty="0"/>
          </a:p>
          <a:p>
            <a:r>
              <a:rPr lang="en-IN" b="1" dirty="0"/>
              <a:t>Recommendation </a:t>
            </a:r>
            <a:br>
              <a:rPr lang="en-IN" dirty="0"/>
            </a:br>
            <a:r>
              <a:rPr lang="en-IN" dirty="0"/>
              <a:t>“My recommendation is to </a:t>
            </a:r>
            <a:r>
              <a:rPr lang="en-IN" b="1" dirty="0"/>
              <a:t>start with a Simple Web Portal MVP</a:t>
            </a:r>
            <a:r>
              <a:rPr lang="en-IN" dirty="0"/>
              <a:t>. It delivers value quickly, it lets us </a:t>
            </a:r>
            <a:r>
              <a:rPr lang="en-IN" b="1" dirty="0"/>
              <a:t>partner tightly with Operations</a:t>
            </a:r>
            <a:r>
              <a:rPr lang="en-IN" dirty="0"/>
              <a:t> to tune the rules, and it gives immediate relief to manual rework.</a:t>
            </a:r>
            <a:br>
              <a:rPr lang="en-IN" dirty="0"/>
            </a:br>
            <a:r>
              <a:rPr lang="en-IN" dirty="0"/>
              <a:t>Once the flow is stable and metrics look good, we plan a </a:t>
            </a:r>
            <a:r>
              <a:rPr lang="en-IN" b="1" dirty="0"/>
              <a:t>phase-two integration</a:t>
            </a:r>
            <a:r>
              <a:rPr lang="en-IN" dirty="0"/>
              <a:t> into ShopBack’s internal backend system to make it seamless at scale.”</a:t>
            </a:r>
          </a:p>
          <a:p>
            <a:pPr>
              <a:buNone/>
            </a:pPr>
            <a:r>
              <a:rPr lang="en-IN" dirty="0"/>
              <a:t>That’s Step 1. With clean inputs locked in, Step 2 — the automation service — can deliver outsized gains</a:t>
            </a:r>
            <a:endParaRPr lang="en-US" b="1" dirty="0"/>
          </a:p>
          <a:p>
            <a:pPr>
              <a:buNone/>
            </a:pPr>
            <a:endParaRPr lang="en-US" dirty="0"/>
          </a:p>
        </p:txBody>
      </p:sp>
      <p:sp>
        <p:nvSpPr>
          <p:cNvPr id="4" name="Slide Number Placeholder 3">
            <a:extLst>
              <a:ext uri="{FF2B5EF4-FFF2-40B4-BE49-F238E27FC236}">
                <a16:creationId xmlns:a16="http://schemas.microsoft.com/office/drawing/2014/main" id="{0356B824-D533-384C-AE22-46D34687674F}"/>
              </a:ext>
            </a:extLst>
          </p:cNvPr>
          <p:cNvSpPr>
            <a:spLocks noGrp="1"/>
          </p:cNvSpPr>
          <p:nvPr>
            <p:ph type="sldNum" sz="quarter" idx="5"/>
          </p:nvPr>
        </p:nvSpPr>
        <p:spPr/>
        <p:txBody>
          <a:bodyPr/>
          <a:lstStyle/>
          <a:p>
            <a:fld id="{4BC28B94-0D51-6B4B-B31F-CE9D8B20DA8A}" type="slidenum">
              <a:rPr lang="en-US" smtClean="0"/>
              <a:t>4</a:t>
            </a:fld>
            <a:endParaRPr lang="en-US"/>
          </a:p>
        </p:txBody>
      </p:sp>
    </p:spTree>
    <p:extLst>
      <p:ext uri="{BB962C8B-B14F-4D97-AF65-F5344CB8AC3E}">
        <p14:creationId xmlns:p14="http://schemas.microsoft.com/office/powerpoint/2010/main" val="26737079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Now moving to </a:t>
            </a:r>
            <a:r>
              <a:rPr lang="en-IN" b="1" dirty="0"/>
              <a:t>Step 2: Automation Service</a:t>
            </a:r>
            <a:r>
              <a:rPr lang="en-IN" dirty="0"/>
              <a:t>.</a:t>
            </a:r>
          </a:p>
          <a:p>
            <a:r>
              <a:rPr lang="en-IN" dirty="0"/>
              <a:t>This is where we replace the most manual and error-prone part of today’s process — resizing logos, creating inverted versions, and checking quality. Instead of Marketing Ops doing this by hand, we let automation handle it.</a:t>
            </a:r>
          </a:p>
          <a:p>
            <a:r>
              <a:rPr lang="en-IN" dirty="0"/>
              <a:t>Let me quickly highlight the </a:t>
            </a:r>
            <a:r>
              <a:rPr lang="en-IN" b="1" dirty="0"/>
              <a:t>key features</a:t>
            </a:r>
            <a:r>
              <a:rPr lang="en-IN" dirty="0"/>
              <a:t> of this step:</a:t>
            </a:r>
          </a:p>
          <a:p>
            <a:r>
              <a:rPr lang="en-IN" dirty="0"/>
              <a:t>Logos are automatically resized into the required formats, like 500×500, 1000×1000, and 1500×1000.</a:t>
            </a:r>
          </a:p>
          <a:p>
            <a:r>
              <a:rPr lang="en-IN" dirty="0"/>
              <a:t>A logo-on-black version is generated in parallel — but instead of crude </a:t>
            </a:r>
            <a:r>
              <a:rPr lang="en-IN" dirty="0" err="1"/>
              <a:t>color</a:t>
            </a:r>
            <a:r>
              <a:rPr lang="en-IN" dirty="0"/>
              <a:t> inversion, the process preserves brand identity and transparency.</a:t>
            </a:r>
          </a:p>
          <a:p>
            <a:r>
              <a:rPr lang="en-IN" dirty="0"/>
              <a:t>The service also runs validation: it rejects corrupted or tiny files that would look poor on the app.</a:t>
            </a:r>
          </a:p>
          <a:p>
            <a:r>
              <a:rPr lang="en-IN" dirty="0"/>
              <a:t>And importantly, it produces standardized outputs plus metadata, so every file can be traced and linked back to the merchant.</a:t>
            </a:r>
          </a:p>
          <a:p>
            <a:r>
              <a:rPr lang="en-IN" dirty="0"/>
              <a:t>Now, when we look at </a:t>
            </a:r>
            <a:r>
              <a:rPr lang="en-IN" b="1" dirty="0"/>
              <a:t>options</a:t>
            </a:r>
            <a:r>
              <a:rPr lang="en-IN" dirty="0"/>
              <a:t> to implement this:</a:t>
            </a:r>
          </a:p>
          <a:p>
            <a:r>
              <a:rPr lang="en-IN" dirty="0"/>
              <a:t>A </a:t>
            </a:r>
            <a:r>
              <a:rPr lang="en-IN" b="1" dirty="0"/>
              <a:t>Low-Code Automation Tool</a:t>
            </a:r>
            <a:r>
              <a:rPr lang="en-IN" dirty="0"/>
              <a:t> is fast to set up and easy to connect with cloud storage, but it struggles with brand-specific needs like proper logo inversion, and it doesn’t scale well for hundreds of merchants.</a:t>
            </a:r>
          </a:p>
          <a:p>
            <a:r>
              <a:rPr lang="en-IN" dirty="0"/>
              <a:t>An </a:t>
            </a:r>
            <a:r>
              <a:rPr lang="en-IN" b="1" dirty="0"/>
              <a:t>Off-the-Shelf Image Processing API</a:t>
            </a:r>
            <a:r>
              <a:rPr lang="en-IN" dirty="0"/>
              <a:t> like </a:t>
            </a:r>
            <a:r>
              <a:rPr lang="en-IN" dirty="0" err="1"/>
              <a:t>Cloudinary</a:t>
            </a:r>
            <a:r>
              <a:rPr lang="en-IN" dirty="0"/>
              <a:t> or </a:t>
            </a:r>
            <a:r>
              <a:rPr lang="en-IN" dirty="0" err="1"/>
              <a:t>Imgix</a:t>
            </a:r>
            <a:r>
              <a:rPr lang="en-IN" dirty="0"/>
              <a:t> is also quick and offers bonus features like a CDN, but it comes with vendor lock-in, recurring costs, and less control over </a:t>
            </a:r>
            <a:r>
              <a:rPr lang="en-IN" dirty="0" err="1"/>
              <a:t>ShopBack</a:t>
            </a:r>
            <a:r>
              <a:rPr lang="en-IN" dirty="0"/>
              <a:t>-specific rules.</a:t>
            </a:r>
          </a:p>
          <a:p>
            <a:r>
              <a:rPr lang="en-IN" dirty="0"/>
              <a:t>On the other hand, an </a:t>
            </a:r>
            <a:r>
              <a:rPr lang="en-IN" b="1" dirty="0"/>
              <a:t>In-House Script or Service</a:t>
            </a:r>
            <a:r>
              <a:rPr lang="en-IN" dirty="0"/>
              <a:t> gives us full flexibility. We can enforce brand rules, generate all variants, and even produce a metadata manifest for traceability. The </a:t>
            </a:r>
            <a:r>
              <a:rPr lang="en-IN" dirty="0" err="1"/>
              <a:t>tradeoff</a:t>
            </a:r>
            <a:r>
              <a:rPr lang="en-IN" dirty="0"/>
              <a:t> is that it needs some coding and basic maintenance.</a:t>
            </a:r>
          </a:p>
          <a:p>
            <a:r>
              <a:rPr lang="en-IN" dirty="0"/>
              <a:t>Our </a:t>
            </a:r>
            <a:r>
              <a:rPr lang="en-IN" b="1" dirty="0"/>
              <a:t>recommendation</a:t>
            </a:r>
            <a:r>
              <a:rPr lang="en-IN" dirty="0"/>
              <a:t> here is to start with the </a:t>
            </a:r>
            <a:r>
              <a:rPr lang="en-IN" b="1" dirty="0"/>
              <a:t>in-house automation service</a:t>
            </a:r>
            <a:r>
              <a:rPr lang="en-IN" dirty="0"/>
              <a:t> — for example, a lightweight script using Python and Pillow or OpenCV. This balances speed and control, ensures we can scale, and allows us to adapt the process as ShopBack’s needs evolve.</a:t>
            </a:r>
          </a:p>
          <a:p>
            <a:r>
              <a:rPr lang="en-IN" dirty="0"/>
              <a:t>Later, once the workflow is proven, we can explore layering in an API provider like </a:t>
            </a:r>
            <a:r>
              <a:rPr lang="en-IN" dirty="0" err="1"/>
              <a:t>Cloudinary</a:t>
            </a:r>
            <a:r>
              <a:rPr lang="en-IN" dirty="0"/>
              <a:t> for delivery or CDN features if those become important.</a:t>
            </a:r>
          </a:p>
          <a:p>
            <a:r>
              <a:rPr lang="en-IN" dirty="0"/>
              <a:t>So in short, Step 2 takes the bottleneck out of the Ops team’s hands, ensures logos are always high quality, and sets us up for scale.</a:t>
            </a:r>
          </a:p>
          <a:p>
            <a:endParaRPr lang="en-US" b="1" dirty="0"/>
          </a:p>
        </p:txBody>
      </p:sp>
      <p:sp>
        <p:nvSpPr>
          <p:cNvPr id="4" name="Slide Number Placeholder 3"/>
          <p:cNvSpPr>
            <a:spLocks noGrp="1"/>
          </p:cNvSpPr>
          <p:nvPr>
            <p:ph type="sldNum" sz="quarter" idx="5"/>
          </p:nvPr>
        </p:nvSpPr>
        <p:spPr/>
        <p:txBody>
          <a:bodyPr/>
          <a:lstStyle/>
          <a:p>
            <a:fld id="{4BC28B94-0D51-6B4B-B31F-CE9D8B20DA8A}" type="slidenum">
              <a:rPr lang="en-US" smtClean="0"/>
              <a:t>5</a:t>
            </a:fld>
            <a:endParaRPr lang="en-US"/>
          </a:p>
        </p:txBody>
      </p:sp>
    </p:spTree>
    <p:extLst>
      <p:ext uri="{BB962C8B-B14F-4D97-AF65-F5344CB8AC3E}">
        <p14:creationId xmlns:p14="http://schemas.microsoft.com/office/powerpoint/2010/main" val="3372942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C8540-DA38-D7D9-B0C8-8AF9FC98FF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52CE6E-C6D6-34F9-4605-4E8ED989860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4A231B15-3425-A5EB-2496-5E1F9A5D1B9B}"/>
              </a:ext>
            </a:extLst>
          </p:cNvPr>
          <p:cNvSpPr>
            <a:spLocks noGrp="1"/>
          </p:cNvSpPr>
          <p:nvPr>
            <p:ph type="body" idx="1"/>
          </p:nvPr>
        </p:nvSpPr>
        <p:spPr/>
        <p:txBody>
          <a:bodyPr/>
          <a:lstStyle/>
          <a:p>
            <a:r>
              <a:rPr lang="en-IN" b="0" dirty="0"/>
              <a:t>Now moving into Step 3, the Backend System.</a:t>
            </a:r>
          </a:p>
          <a:p>
            <a:r>
              <a:rPr lang="en-IN" b="0" dirty="0"/>
              <a:t>At this stage, all of the logos have been processed and validated. The question becomes: how do we store them in a way that is organized, scalable, and easy for Ops to trace? I explored a few different approaches here.</a:t>
            </a:r>
            <a:br>
              <a:rPr lang="en-IN" b="0" dirty="0"/>
            </a:br>
            <a:endParaRPr lang="en-IN" b="0" dirty="0"/>
          </a:p>
          <a:p>
            <a:r>
              <a:rPr lang="en-IN" b="0" dirty="0"/>
              <a:t>The first option is to rely purely on cloud storage — for example AWS S3 or Google Cloud Storage. This is very scalable, cheap, and can handle millions of files with no problem. We could organize folders by brand ID, which gives us some structure. But the limitation is that cloud storage by itself doesn’t give good visibility — Ops would still need to dig through folders manually. In other words, it’s excellent for raw scalability, but weak on traceability.</a:t>
            </a:r>
          </a:p>
          <a:p>
            <a:endParaRPr lang="en-IN" b="0" dirty="0"/>
          </a:p>
          <a:p>
            <a:r>
              <a:rPr lang="en-IN" b="0" dirty="0"/>
              <a:t>The second option is a database-first approach, where all assets are stored inside a database. The benefit here is strong traceability — every upload could be logged with brand ID, file name, and timestamp. But the challenge is that databases aren’t optimized for storing images at scale. It gets expensive and inefficient very quickly, and performance can also suffer. So while this gives visibility, it’s not the right tool for the job.</a:t>
            </a:r>
          </a:p>
          <a:p>
            <a:br>
              <a:rPr lang="en-IN" b="0" dirty="0"/>
            </a:br>
            <a:r>
              <a:rPr lang="en-IN" b="0" dirty="0"/>
              <a:t>The third option is to go straight for full CMS integration — plugging the assets directly into ShopBack’s internal content management system. That way, once logos are uploaded, they instantly become part of the merchant’s brand page. This would be seamless in the long term, but it comes with a heavy engineering lift. It’s not something we can stand up quickly, and so it isn’t suitable for an MVP.</a:t>
            </a:r>
          </a:p>
          <a:p>
            <a:br>
              <a:rPr lang="en-IN" b="0" dirty="0"/>
            </a:br>
            <a:r>
              <a:rPr lang="en-IN" b="0" dirty="0"/>
              <a:t>The fourth option, and the one I recommend, is a hybrid approach. Here’s how it works: all the processed images are stored in cloud storage, which gives us scalability and cost efficiency. At the same time, we capture metadata — things like brand ID, file paths, checksums, and timestamps — in a lightweight database. This way, every asset is traceable, searchable, and easy to integrate later into ShopBack’s CMS when the process is stable. This hybrid model gives us the best of both worlds: scalable storage plus strong visibility.</a:t>
            </a:r>
          </a:p>
          <a:p>
            <a:endParaRPr lang="en-IN" b="0" dirty="0"/>
          </a:p>
          <a:p>
            <a:r>
              <a:rPr lang="en-IN" b="0" dirty="0"/>
              <a:t>So in short, my recommendation is to start with the hybrid model. It keeps costs low, ensures Ops no longer has to manually upload or search for files, and future-proofs the system for full integration with ShopBack’s backend later.</a:t>
            </a:r>
          </a:p>
        </p:txBody>
      </p:sp>
      <p:sp>
        <p:nvSpPr>
          <p:cNvPr id="4" name="Slide Number Placeholder 3">
            <a:extLst>
              <a:ext uri="{FF2B5EF4-FFF2-40B4-BE49-F238E27FC236}">
                <a16:creationId xmlns:a16="http://schemas.microsoft.com/office/drawing/2014/main" id="{4CBFAC45-F701-1052-702E-86C42B41CB89}"/>
              </a:ext>
            </a:extLst>
          </p:cNvPr>
          <p:cNvSpPr>
            <a:spLocks noGrp="1"/>
          </p:cNvSpPr>
          <p:nvPr>
            <p:ph type="sldNum" sz="quarter" idx="5"/>
          </p:nvPr>
        </p:nvSpPr>
        <p:spPr/>
        <p:txBody>
          <a:bodyPr/>
          <a:lstStyle/>
          <a:p>
            <a:fld id="{4BC28B94-0D51-6B4B-B31F-CE9D8B20DA8A}" type="slidenum">
              <a:rPr lang="en-US" smtClean="0"/>
              <a:t>6</a:t>
            </a:fld>
            <a:endParaRPr lang="en-US"/>
          </a:p>
        </p:txBody>
      </p:sp>
    </p:spTree>
    <p:extLst>
      <p:ext uri="{BB962C8B-B14F-4D97-AF65-F5344CB8AC3E}">
        <p14:creationId xmlns:p14="http://schemas.microsoft.com/office/powerpoint/2010/main" val="23278858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17D46-3DDF-8A5F-4A00-B9536B49AE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2701FD-4792-1520-3C9B-72D55A48028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D6A614C-300E-548C-C350-7E377056F037}"/>
              </a:ext>
            </a:extLst>
          </p:cNvPr>
          <p:cNvSpPr>
            <a:spLocks noGrp="1"/>
          </p:cNvSpPr>
          <p:nvPr>
            <p:ph type="body" idx="1"/>
          </p:nvPr>
        </p:nvSpPr>
        <p:spPr/>
        <p:txBody>
          <a:bodyPr/>
          <a:lstStyle/>
          <a:p>
            <a:r>
              <a:rPr lang="en-IN" b="0" dirty="0"/>
              <a:t>Finally, let’s talk about Step 4 — Merchant Notification.</a:t>
            </a:r>
          </a:p>
          <a:p>
            <a:r>
              <a:rPr lang="en-IN" b="0" dirty="0"/>
              <a:t>One of the current bottlenecks is that once assets are prepared, Ops or Commercial teams have to manually inform the merchant. This back-and-forth takes time and creates room for delays. So the goal here is simple: make sure merchants are notified automatically once their assets are ready, without needing manual follow-ups.</a:t>
            </a:r>
          </a:p>
          <a:p>
            <a:endParaRPr lang="en-IN" b="0" dirty="0"/>
          </a:p>
          <a:p>
            <a:r>
              <a:rPr lang="en-IN" b="0" dirty="0"/>
              <a:t>The most straightforward option is email notifications.</a:t>
            </a:r>
            <a:br>
              <a:rPr lang="en-IN" b="0" dirty="0"/>
            </a:br>
            <a:r>
              <a:rPr lang="en-IN" b="0" dirty="0"/>
              <a:t>With this setup, the system automatically sends a confirmation email when files are processed. The subject line is clear — for example, ‘[ShopBack] Assets processed for Brand X’ — and the email can include links to the files or even attach smaller assets directly. The benefit is that merchants don’t need to learn a new tool. They already use email every day, so it’s low friction. The downside is limited tracking: we won’t always know if they’ve read or acknowledged it. But as a starting point, email works very well.</a:t>
            </a:r>
          </a:p>
          <a:p>
            <a:endParaRPr lang="en-IN" b="0" dirty="0"/>
          </a:p>
          <a:p>
            <a:r>
              <a:rPr lang="en-IN" b="0" dirty="0"/>
              <a:t>The second option is internal notifications, like Slack or Microsoft Teams alerts.</a:t>
            </a:r>
            <a:br>
              <a:rPr lang="en-IN" b="0" dirty="0"/>
            </a:br>
            <a:r>
              <a:rPr lang="en-IN" b="0" dirty="0"/>
              <a:t>These don’t go to the merchant — instead, they’re useful for keeping internal teams informed. Ops can see immediately when something has processed, which is great for monitoring. But it doesn’t solve the core need of letting the merchant know their brand page is ready. So this works best as a supplement, not a primary channel.</a:t>
            </a:r>
            <a:br>
              <a:rPr lang="en-IN" b="0" dirty="0"/>
            </a:br>
            <a:endParaRPr lang="en-IN" b="0" dirty="0"/>
          </a:p>
          <a:p>
            <a:r>
              <a:rPr lang="en-IN" b="0" dirty="0"/>
              <a:t>A third option is to integrate notifications into the merchant portal itself.</a:t>
            </a:r>
            <a:br>
              <a:rPr lang="en-IN" b="0" dirty="0"/>
            </a:br>
            <a:r>
              <a:rPr lang="en-IN" b="0" dirty="0"/>
              <a:t>In this version, merchants could log into the same portal they used to upload logos, and see the status of their submissions in real time. This is the cleanest long-term solution, because it enables self-service. Merchants wouldn’t have to rely on an email — they could check, download, or even re-upload assets directly. The challenge here is that it requires more development time and UI design, so it’s better suited for a later phase, once the core automation is stable.</a:t>
            </a:r>
          </a:p>
          <a:p>
            <a:endParaRPr lang="en-IN" b="0" dirty="0"/>
          </a:p>
          <a:p>
            <a:r>
              <a:rPr lang="en-IN" b="0" dirty="0"/>
              <a:t>A fourth option is SMS or WhatsApp alerts.</a:t>
            </a:r>
            <a:br>
              <a:rPr lang="en-IN" b="0" dirty="0"/>
            </a:br>
            <a:r>
              <a:rPr lang="en-IN" b="0" dirty="0"/>
              <a:t>These are immediate — merchants are unlikely to miss them — but they’re not ideal for sending multiple files or detailed information. They also add costs at scale, so they work best for urgent use cases, not as the primary channel.</a:t>
            </a:r>
          </a:p>
          <a:p>
            <a:br>
              <a:rPr lang="en-IN" b="0" dirty="0"/>
            </a:br>
            <a:r>
              <a:rPr lang="en-IN" b="0" dirty="0"/>
              <a:t>My recommendation is to start with email notifications.</a:t>
            </a:r>
            <a:br>
              <a:rPr lang="en-IN" b="0" dirty="0"/>
            </a:br>
            <a:r>
              <a:rPr lang="en-IN" b="0" dirty="0"/>
              <a:t>It’s the fastest and simplest way to deliver immediate value, and it aligns with how merchants already work today. Over time, we can evolve this into a portal dashboard for merchants, creating a truly self-service experience. For Ops and Commercial teams, Slack or Teams alerts can run in parallel, so they have visibility without needing to manually chase merchants.</a:t>
            </a:r>
          </a:p>
          <a:p>
            <a:br>
              <a:rPr lang="en-IN" b="0" dirty="0"/>
            </a:br>
            <a:r>
              <a:rPr lang="en-IN" b="0" dirty="0"/>
              <a:t>In short, this step closes the loop — assets flow in, automation processes them, the backend stores them, and the merchant is notified instantly. This makes the process feel professional, reliable, and scalable.</a:t>
            </a:r>
          </a:p>
          <a:p>
            <a:br>
              <a:rPr lang="en-IN" b="0" dirty="0"/>
            </a:br>
            <a:endParaRPr lang="en-IN" b="0" dirty="0"/>
          </a:p>
          <a:p>
            <a:endParaRPr lang="en-US" b="0" dirty="0"/>
          </a:p>
        </p:txBody>
      </p:sp>
      <p:sp>
        <p:nvSpPr>
          <p:cNvPr id="4" name="Slide Number Placeholder 3">
            <a:extLst>
              <a:ext uri="{FF2B5EF4-FFF2-40B4-BE49-F238E27FC236}">
                <a16:creationId xmlns:a16="http://schemas.microsoft.com/office/drawing/2014/main" id="{DA9A4706-37B3-AA98-C2B7-956702505F11}"/>
              </a:ext>
            </a:extLst>
          </p:cNvPr>
          <p:cNvSpPr>
            <a:spLocks noGrp="1"/>
          </p:cNvSpPr>
          <p:nvPr>
            <p:ph type="sldNum" sz="quarter" idx="5"/>
          </p:nvPr>
        </p:nvSpPr>
        <p:spPr/>
        <p:txBody>
          <a:bodyPr/>
          <a:lstStyle/>
          <a:p>
            <a:fld id="{4BC28B94-0D51-6B4B-B31F-CE9D8B20DA8A}" type="slidenum">
              <a:rPr lang="en-US" smtClean="0"/>
              <a:t>7</a:t>
            </a:fld>
            <a:endParaRPr lang="en-US"/>
          </a:p>
        </p:txBody>
      </p:sp>
    </p:spTree>
    <p:extLst>
      <p:ext uri="{BB962C8B-B14F-4D97-AF65-F5344CB8AC3E}">
        <p14:creationId xmlns:p14="http://schemas.microsoft.com/office/powerpoint/2010/main" val="16126890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Let me now walk you through how I’d run this project week by week.</a:t>
            </a:r>
          </a:p>
          <a:p>
            <a:r>
              <a:rPr lang="en-IN" dirty="0"/>
              <a:t>In </a:t>
            </a:r>
            <a:r>
              <a:rPr lang="en-IN" b="1" dirty="0"/>
              <a:t>Weeks 1 and 2</a:t>
            </a:r>
            <a:r>
              <a:rPr lang="en-IN" dirty="0"/>
              <a:t>, we start with the </a:t>
            </a:r>
            <a:r>
              <a:rPr lang="en-IN" b="1" dirty="0"/>
              <a:t>merchant portal</a:t>
            </a:r>
            <a:r>
              <a:rPr lang="en-IN" dirty="0"/>
              <a:t>. The focus here is speed — building a lightweight upload page that enforces basic file checks like PNG/JPG only, file size limits, and dimensions. We also introduce a brand ID naming convention, so everything is traceable downstream. By the end of week 2, we’ll have a working MVP live, with Ops and a few merchants piloting the portal and giving us feedback.</a:t>
            </a:r>
          </a:p>
          <a:p>
            <a:r>
              <a:rPr lang="en-IN" dirty="0"/>
              <a:t>In </a:t>
            </a:r>
            <a:r>
              <a:rPr lang="en-IN" b="1" dirty="0"/>
              <a:t>Weeks 3 and 4</a:t>
            </a:r>
            <a:r>
              <a:rPr lang="en-IN" dirty="0"/>
              <a:t>, we shift into the </a:t>
            </a:r>
            <a:r>
              <a:rPr lang="en-IN" b="1" dirty="0"/>
              <a:t>automation service</a:t>
            </a:r>
            <a:r>
              <a:rPr lang="en-IN" dirty="0"/>
              <a:t>. This is where resizing and variant generation gets automated. The system will produce the required formats — 500×500, 1000×1000, and 1500×1000 — as well as the black-background variant. It will also run validation checks to reject corrupted or too-small files. We’ll run a pilot with one or two merchants to confirm that turnaround time and output quality are consistent.</a:t>
            </a:r>
          </a:p>
          <a:p>
            <a:r>
              <a:rPr lang="en-IN" dirty="0"/>
              <a:t>In </a:t>
            </a:r>
            <a:r>
              <a:rPr lang="en-IN" b="1" dirty="0"/>
              <a:t>Weeks 5 and 6</a:t>
            </a:r>
            <a:r>
              <a:rPr lang="en-IN" dirty="0"/>
              <a:t>, we tackle the </a:t>
            </a:r>
            <a:r>
              <a:rPr lang="en-IN" b="1" dirty="0"/>
              <a:t>backend integration</a:t>
            </a:r>
            <a:r>
              <a:rPr lang="en-IN" dirty="0"/>
              <a:t>. Here, all processed assets are stored in structured brand ID folders, and we link them to the backend using either a mock API or manifest integration. We also add hashing so duplicate files don’t get created, and we define an exception-handling workflow where Ops only needs to step in for flagged cases. By the end of this phase, assets are linkable to brand pages and Ops shifts from heavy manual work to light exception review.</a:t>
            </a:r>
          </a:p>
          <a:p>
            <a:r>
              <a:rPr lang="en-IN" dirty="0"/>
              <a:t>Finally, in </a:t>
            </a:r>
            <a:r>
              <a:rPr lang="en-IN" b="1" dirty="0"/>
              <a:t>Week 7</a:t>
            </a:r>
            <a:r>
              <a:rPr lang="en-IN" dirty="0"/>
              <a:t>, we enable </a:t>
            </a:r>
            <a:r>
              <a:rPr lang="en-IN" b="1" dirty="0"/>
              <a:t>merchant notifications</a:t>
            </a:r>
            <a:r>
              <a:rPr lang="en-IN" dirty="0"/>
              <a:t>. As soon as assets are processed, the system automatically sends out an email with links or attachments, so merchants and Ops get instant visibility. At this stage, we’ve tested the full end-to-end flow with real files, and we also define the longer-term roadmap, such as evolving into a dashboard or direct integration into ShopBack’s CMS for seamless onboarding.</a:t>
            </a:r>
          </a:p>
          <a:p>
            <a:r>
              <a:rPr lang="en-IN" dirty="0"/>
              <a:t>So in just about seven weeks, we move from a manual, error-prone workflow to an automated, scalable process that reduces Ops workload and gives merchants a much faster, more consistent experience.</a:t>
            </a:r>
          </a:p>
        </p:txBody>
      </p:sp>
      <p:sp>
        <p:nvSpPr>
          <p:cNvPr id="4" name="Slide Number Placeholder 3"/>
          <p:cNvSpPr>
            <a:spLocks noGrp="1"/>
          </p:cNvSpPr>
          <p:nvPr>
            <p:ph type="sldNum" sz="quarter" idx="5"/>
          </p:nvPr>
        </p:nvSpPr>
        <p:spPr/>
        <p:txBody>
          <a:bodyPr/>
          <a:lstStyle/>
          <a:p>
            <a:fld id="{4BC28B94-0D51-6B4B-B31F-CE9D8B20DA8A}" type="slidenum">
              <a:rPr lang="en-US" smtClean="0"/>
              <a:t>8</a:t>
            </a:fld>
            <a:endParaRPr lang="en-US"/>
          </a:p>
        </p:txBody>
      </p:sp>
    </p:spTree>
    <p:extLst>
      <p:ext uri="{BB962C8B-B14F-4D97-AF65-F5344CB8AC3E}">
        <p14:creationId xmlns:p14="http://schemas.microsoft.com/office/powerpoint/2010/main" val="33904391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IN" dirty="0"/>
              <a:t>Let me close out by summarizing the overall benefits, the future improvements, and where AI can take this further.</a:t>
            </a:r>
          </a:p>
          <a:p>
            <a:r>
              <a:rPr lang="en-IN" dirty="0"/>
              <a:t>On the </a:t>
            </a:r>
            <a:r>
              <a:rPr lang="en-IN" b="1" dirty="0"/>
              <a:t>benefits side</a:t>
            </a:r>
            <a:r>
              <a:rPr lang="en-IN" dirty="0"/>
              <a:t>, the impact is clear:</a:t>
            </a:r>
            <a:br>
              <a:rPr lang="en-IN" dirty="0"/>
            </a:br>
            <a:r>
              <a:rPr lang="en-IN" dirty="0"/>
              <a:t>We reduce turnaround from hours or even days down to minutes.</a:t>
            </a:r>
            <a:br>
              <a:rPr lang="en-IN" dirty="0"/>
            </a:br>
            <a:r>
              <a:rPr lang="en-IN" dirty="0"/>
              <a:t>We deliver consistency and quality by standardizing outputs and cutting down on errors.</a:t>
            </a:r>
            <a:br>
              <a:rPr lang="en-IN" dirty="0"/>
            </a:br>
            <a:r>
              <a:rPr lang="en-IN" dirty="0"/>
              <a:t>Ops workload goes down significantly — instead of manually resizing or fixing files, they only review flagged exceptions.</a:t>
            </a:r>
            <a:br>
              <a:rPr lang="en-IN" dirty="0"/>
            </a:br>
            <a:r>
              <a:rPr lang="en-IN" dirty="0"/>
              <a:t>The system is built to scale, so as more merchants come onboard, we don’t need to add more headcount.</a:t>
            </a:r>
            <a:br>
              <a:rPr lang="en-IN" dirty="0"/>
            </a:br>
            <a:r>
              <a:rPr lang="en-IN" dirty="0"/>
              <a:t>And importantly, we improve merchant experience — merchants get notified instantly, their brand pages go live faster, and ShopBack looks more professional.</a:t>
            </a:r>
          </a:p>
          <a:p>
            <a:r>
              <a:rPr lang="en-IN" dirty="0"/>
              <a:t>Looking at </a:t>
            </a:r>
            <a:r>
              <a:rPr lang="en-IN" b="1" dirty="0"/>
              <a:t>future improvements</a:t>
            </a:r>
            <a:r>
              <a:rPr lang="en-IN" dirty="0"/>
              <a:t>, the roadmap is straightforward:</a:t>
            </a:r>
            <a:br>
              <a:rPr lang="en-IN" dirty="0"/>
            </a:br>
            <a:r>
              <a:rPr lang="en-IN" dirty="0"/>
              <a:t>We can integrate the process directly into ShopBack’s CMS, so it becomes a seamless part of merchant onboarding.</a:t>
            </a:r>
            <a:br>
              <a:rPr lang="en-IN" dirty="0"/>
            </a:br>
            <a:r>
              <a:rPr lang="en-IN" dirty="0"/>
              <a:t>We can move beyond email notifications into a self-service dashboard where merchants and Ops have real-time visibility of status and assets.</a:t>
            </a:r>
            <a:br>
              <a:rPr lang="en-IN" dirty="0"/>
            </a:br>
            <a:r>
              <a:rPr lang="en-IN" dirty="0"/>
              <a:t>And we can use the metadata we’ve been collecting for Ops analytics, so we can spot bottlenecks, identify common issues, and improve training and processes.</a:t>
            </a:r>
          </a:p>
          <a:p>
            <a:r>
              <a:rPr lang="en-IN" dirty="0"/>
              <a:t>Finally, in terms of </a:t>
            </a:r>
            <a:r>
              <a:rPr lang="en-IN" b="1" dirty="0"/>
              <a:t>AI enhancements</a:t>
            </a:r>
            <a:r>
              <a:rPr lang="en-IN" dirty="0"/>
              <a:t>, this is where we can go from automation to intelligence:</a:t>
            </a:r>
            <a:br>
              <a:rPr lang="en-IN" dirty="0"/>
            </a:br>
            <a:r>
              <a:rPr lang="en-IN" dirty="0"/>
              <a:t>AI can run smarter quality checks, automatically detecting blurry or off-brand logos.</a:t>
            </a:r>
            <a:br>
              <a:rPr lang="en-IN" dirty="0"/>
            </a:br>
            <a:r>
              <a:rPr lang="en-IN" dirty="0"/>
              <a:t>Vision models can separate logos from backgrounds and generate brand-safe variants.</a:t>
            </a:r>
            <a:br>
              <a:rPr lang="en-IN" dirty="0"/>
            </a:br>
            <a:r>
              <a:rPr lang="en-IN" dirty="0"/>
              <a:t>We can use AI to auto-tag and classify assets, making them easier to find and reuse in the backend.</a:t>
            </a:r>
            <a:br>
              <a:rPr lang="en-IN" dirty="0"/>
            </a:br>
            <a:r>
              <a:rPr lang="en-IN" dirty="0"/>
              <a:t>Predictive models can flag merchants who often submit non-compliant files, so Ops can step in earlier.</a:t>
            </a:r>
            <a:br>
              <a:rPr lang="en-IN" dirty="0"/>
            </a:br>
            <a:r>
              <a:rPr lang="en-IN" dirty="0"/>
              <a:t>And even a chatbot could be added, so merchants can ask ‘Where’s my logo?’ or ‘What failed?’ directly, without creating extra tickets for Ops.</a:t>
            </a:r>
          </a:p>
          <a:p>
            <a:r>
              <a:rPr lang="en-IN" b="1" dirty="0"/>
              <a:t>In conclusion</a:t>
            </a:r>
            <a:r>
              <a:rPr lang="en-IN" dirty="0"/>
              <a:t>, what we’ve built is an end-to-end workflow that delivers immediate value today while also being designed to grow. It reduces manual work, improves merchant experience, and positions ShopBack for scale. And with AI layered in, this isn’t just about automating tasks — it’s about creating a smarter, future-ready system for onboarding merchants at speed.</a:t>
            </a:r>
          </a:p>
        </p:txBody>
      </p:sp>
      <p:sp>
        <p:nvSpPr>
          <p:cNvPr id="4" name="Slide Number Placeholder 3"/>
          <p:cNvSpPr>
            <a:spLocks noGrp="1"/>
          </p:cNvSpPr>
          <p:nvPr>
            <p:ph type="sldNum" sz="quarter" idx="5"/>
          </p:nvPr>
        </p:nvSpPr>
        <p:spPr/>
        <p:txBody>
          <a:bodyPr/>
          <a:lstStyle/>
          <a:p>
            <a:fld id="{4BC28B94-0D51-6B4B-B31F-CE9D8B20DA8A}" type="slidenum">
              <a:rPr lang="en-US" smtClean="0"/>
              <a:t>9</a:t>
            </a:fld>
            <a:endParaRPr lang="en-US"/>
          </a:p>
        </p:txBody>
      </p:sp>
    </p:spTree>
    <p:extLst>
      <p:ext uri="{BB962C8B-B14F-4D97-AF65-F5344CB8AC3E}">
        <p14:creationId xmlns:p14="http://schemas.microsoft.com/office/powerpoint/2010/main" val="19421328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79E7B-36AB-9411-9E66-A800C105F47C}"/>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7D4950F9-48AA-BF94-67DF-474284FE05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4F51B7B-6BD1-3220-0F0A-D3D5D8959CE1}"/>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5" name="Footer Placeholder 4">
            <a:extLst>
              <a:ext uri="{FF2B5EF4-FFF2-40B4-BE49-F238E27FC236}">
                <a16:creationId xmlns:a16="http://schemas.microsoft.com/office/drawing/2014/main" id="{8C5A0CFA-A7BC-44F4-D723-14CE416B50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1B7FAE5-4944-5D8D-CB3A-F1E7DF3DCF2A}"/>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2277962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BD4E519A-C4A3-4BB6-4170-DFD35BB1208F}"/>
              </a:ext>
            </a:extLst>
          </p:cNvPr>
          <p:cNvGraphicFramePr>
            <a:graphicFrameLocks noGrp="1"/>
          </p:cNvGraphicFramePr>
          <p:nvPr userDrawn="1">
            <p:extLst>
              <p:ext uri="{D42A27DB-BD31-4B8C-83A1-F6EECF244321}">
                <p14:modId xmlns:p14="http://schemas.microsoft.com/office/powerpoint/2010/main" val="642626670"/>
              </p:ext>
            </p:extLst>
          </p:nvPr>
        </p:nvGraphicFramePr>
        <p:xfrm>
          <a:off x="0" y="6411103"/>
          <a:ext cx="12192000" cy="446565"/>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975354447"/>
                    </a:ext>
                  </a:extLst>
                </a:gridCol>
                <a:gridCol w="2438400">
                  <a:extLst>
                    <a:ext uri="{9D8B030D-6E8A-4147-A177-3AD203B41FA5}">
                      <a16:colId xmlns:a16="http://schemas.microsoft.com/office/drawing/2014/main" val="1869310819"/>
                    </a:ext>
                  </a:extLst>
                </a:gridCol>
                <a:gridCol w="2438400">
                  <a:extLst>
                    <a:ext uri="{9D8B030D-6E8A-4147-A177-3AD203B41FA5}">
                      <a16:colId xmlns:a16="http://schemas.microsoft.com/office/drawing/2014/main" val="1258480131"/>
                    </a:ext>
                  </a:extLst>
                </a:gridCol>
                <a:gridCol w="2438400">
                  <a:extLst>
                    <a:ext uri="{9D8B030D-6E8A-4147-A177-3AD203B41FA5}">
                      <a16:colId xmlns:a16="http://schemas.microsoft.com/office/drawing/2014/main" val="4175345294"/>
                    </a:ext>
                  </a:extLst>
                </a:gridCol>
                <a:gridCol w="2438400">
                  <a:extLst>
                    <a:ext uri="{9D8B030D-6E8A-4147-A177-3AD203B41FA5}">
                      <a16:colId xmlns:a16="http://schemas.microsoft.com/office/drawing/2014/main" val="151558303"/>
                    </a:ext>
                  </a:extLst>
                </a:gridCol>
              </a:tblGrid>
              <a:tr h="446565">
                <a:tc>
                  <a:txBody>
                    <a:bodyPr/>
                    <a:lstStyle/>
                    <a:p>
                      <a:pPr algn="ctr"/>
                      <a:r>
                        <a:rPr lang="en-IN" sz="1400" dirty="0">
                          <a:solidFill>
                            <a:schemeClr val="tx1"/>
                          </a:solidFill>
                        </a:rPr>
                        <a:t>As-Is Workflow</a:t>
                      </a:r>
                      <a:endParaRPr lang="en-SG" sz="1400" b="1" dirty="0">
                        <a:solidFill>
                          <a:schemeClr val="tx1"/>
                        </a:solidFill>
                        <a:latin typeface="Arial" panose="020B0604020202020204" pitchFamily="34" charset="0"/>
                        <a:cs typeface="Arial" panose="020B0604020202020204" pitchFamily="34" charset="0"/>
                      </a:endParaRP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 Be Workflow</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Implementation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Timeline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SG" sz="1400" b="0" dirty="0">
                          <a:solidFill>
                            <a:schemeClr val="tx1"/>
                          </a:solidFill>
                          <a:latin typeface="Arial" panose="020B0604020202020204" pitchFamily="34" charset="0"/>
                          <a:cs typeface="Arial" panose="020B0604020202020204" pitchFamily="34" charset="0"/>
                        </a:rPr>
                        <a:t>Benefits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34937843"/>
                  </a:ext>
                </a:extLst>
              </a:tr>
            </a:tbl>
          </a:graphicData>
        </a:graphic>
      </p:graphicFrame>
      <p:sp>
        <p:nvSpPr>
          <p:cNvPr id="8" name="Title 1">
            <a:extLst>
              <a:ext uri="{FF2B5EF4-FFF2-40B4-BE49-F238E27FC236}">
                <a16:creationId xmlns:a16="http://schemas.microsoft.com/office/drawing/2014/main" id="{9DDA534B-F383-E88D-2C43-71D7FBD8042D}"/>
              </a:ext>
            </a:extLst>
          </p:cNvPr>
          <p:cNvSpPr>
            <a:spLocks noGrp="1"/>
          </p:cNvSpPr>
          <p:nvPr>
            <p:ph type="title"/>
          </p:nvPr>
        </p:nvSpPr>
        <p:spPr>
          <a:xfrm>
            <a:off x="490655" y="0"/>
            <a:ext cx="10202745" cy="761747"/>
          </a:xfrm>
          <a:prstGeom prst="rect">
            <a:avLst/>
          </a:prstGeom>
        </p:spPr>
        <p:txBody>
          <a:bodyPr anchor="ctr"/>
          <a:lstStyle>
            <a:lvl1pPr>
              <a:defRPr sz="2000">
                <a:latin typeface="Arial" panose="020B0604020202020204" pitchFamily="34" charset="0"/>
                <a:cs typeface="Arial" panose="020B0604020202020204" pitchFamily="34" charset="0"/>
              </a:defRPr>
            </a:lvl1pPr>
          </a:lstStyle>
          <a:p>
            <a:r>
              <a:rPr lang="en-US"/>
              <a:t>Click to edit Master title style</a:t>
            </a:r>
            <a:endParaRPr lang="en-SG"/>
          </a:p>
        </p:txBody>
      </p:sp>
      <p:sp>
        <p:nvSpPr>
          <p:cNvPr id="9" name="Rectangle 8">
            <a:extLst>
              <a:ext uri="{FF2B5EF4-FFF2-40B4-BE49-F238E27FC236}">
                <a16:creationId xmlns:a16="http://schemas.microsoft.com/office/drawing/2014/main" id="{857A83A8-6135-2D4A-EE7C-4661AD9AA3FA}"/>
              </a:ext>
            </a:extLst>
          </p:cNvPr>
          <p:cNvSpPr/>
          <p:nvPr userDrawn="1"/>
        </p:nvSpPr>
        <p:spPr>
          <a:xfrm>
            <a:off x="156118" y="-1"/>
            <a:ext cx="178419" cy="801803"/>
          </a:xfrm>
          <a:prstGeom prst="rect">
            <a:avLst/>
          </a:prstGeom>
          <a:solidFill>
            <a:srgbClr val="D94814"/>
          </a:solidFill>
          <a:ln>
            <a:solidFill>
              <a:srgbClr val="E94619"/>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dirty="0"/>
          </a:p>
        </p:txBody>
      </p:sp>
      <p:pic>
        <p:nvPicPr>
          <p:cNvPr id="2050" name="Picture 2" descr="Cashback, Promo Codes + Vouchers | ShopBack SG">
            <a:extLst>
              <a:ext uri="{FF2B5EF4-FFF2-40B4-BE49-F238E27FC236}">
                <a16:creationId xmlns:a16="http://schemas.microsoft.com/office/drawing/2014/main" id="{19824C5B-1124-DD3D-0205-17133060F52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50794" y="188663"/>
            <a:ext cx="1390195" cy="424473"/>
          </a:xfrm>
          <a:prstGeom prst="rect">
            <a:avLst/>
          </a:prstGeom>
          <a:noFill/>
          <a:extLst>
            <a:ext uri="{909E8E84-426E-40DD-AFC4-6F175D3DCCD1}">
              <a14:hiddenFill xmlns:a14="http://schemas.microsoft.com/office/drawing/2010/main">
                <a:solidFill>
                  <a:srgbClr val="FFFFFF"/>
                </a:solidFill>
              </a14:hiddenFill>
            </a:ext>
          </a:extLst>
        </p:spPr>
      </p:pic>
      <p:cxnSp>
        <p:nvCxnSpPr>
          <p:cNvPr id="3" name="Straight Connector 2">
            <a:extLst>
              <a:ext uri="{FF2B5EF4-FFF2-40B4-BE49-F238E27FC236}">
                <a16:creationId xmlns:a16="http://schemas.microsoft.com/office/drawing/2014/main" id="{2E291C9E-3D48-B22E-C2AE-05FC483661C0}"/>
              </a:ext>
            </a:extLst>
          </p:cNvPr>
          <p:cNvCxnSpPr>
            <a:cxnSpLocks/>
          </p:cNvCxnSpPr>
          <p:nvPr userDrawn="1"/>
        </p:nvCxnSpPr>
        <p:spPr>
          <a:xfrm>
            <a:off x="0" y="801804"/>
            <a:ext cx="12192000" cy="0"/>
          </a:xfrm>
          <a:prstGeom prst="line">
            <a:avLst/>
          </a:prstGeom>
          <a:ln>
            <a:solidFill>
              <a:srgbClr val="D94814"/>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235304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BD4E519A-C4A3-4BB6-4170-DFD35BB1208F}"/>
              </a:ext>
            </a:extLst>
          </p:cNvPr>
          <p:cNvGraphicFramePr>
            <a:graphicFrameLocks noGrp="1"/>
          </p:cNvGraphicFramePr>
          <p:nvPr userDrawn="1">
            <p:extLst>
              <p:ext uri="{D42A27DB-BD31-4B8C-83A1-F6EECF244321}">
                <p14:modId xmlns:p14="http://schemas.microsoft.com/office/powerpoint/2010/main" val="468260493"/>
              </p:ext>
            </p:extLst>
          </p:nvPr>
        </p:nvGraphicFramePr>
        <p:xfrm>
          <a:off x="0" y="6411103"/>
          <a:ext cx="12192000" cy="446565"/>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975354447"/>
                    </a:ext>
                  </a:extLst>
                </a:gridCol>
                <a:gridCol w="2438400">
                  <a:extLst>
                    <a:ext uri="{9D8B030D-6E8A-4147-A177-3AD203B41FA5}">
                      <a16:colId xmlns:a16="http://schemas.microsoft.com/office/drawing/2014/main" val="1869310819"/>
                    </a:ext>
                  </a:extLst>
                </a:gridCol>
                <a:gridCol w="2438400">
                  <a:extLst>
                    <a:ext uri="{9D8B030D-6E8A-4147-A177-3AD203B41FA5}">
                      <a16:colId xmlns:a16="http://schemas.microsoft.com/office/drawing/2014/main" val="1258480131"/>
                    </a:ext>
                  </a:extLst>
                </a:gridCol>
                <a:gridCol w="2438400">
                  <a:extLst>
                    <a:ext uri="{9D8B030D-6E8A-4147-A177-3AD203B41FA5}">
                      <a16:colId xmlns:a16="http://schemas.microsoft.com/office/drawing/2014/main" val="4175345294"/>
                    </a:ext>
                  </a:extLst>
                </a:gridCol>
                <a:gridCol w="2438400">
                  <a:extLst>
                    <a:ext uri="{9D8B030D-6E8A-4147-A177-3AD203B41FA5}">
                      <a16:colId xmlns:a16="http://schemas.microsoft.com/office/drawing/2014/main" val="151558303"/>
                    </a:ext>
                  </a:extLst>
                </a:gridCol>
              </a:tblGrid>
              <a:tr h="446565">
                <a:tc>
                  <a:txBody>
                    <a:bodyPr/>
                    <a:lstStyle/>
                    <a:p>
                      <a:pPr algn="ctr"/>
                      <a:r>
                        <a:rPr lang="en-SG" sz="1400" b="0" dirty="0">
                          <a:solidFill>
                            <a:schemeClr val="tx1"/>
                          </a:solidFill>
                          <a:latin typeface="Arial" panose="020B0604020202020204" pitchFamily="34" charset="0"/>
                          <a:cs typeface="Arial" panose="020B0604020202020204" pitchFamily="34" charset="0"/>
                        </a:rPr>
                        <a:t>As-is Workflow</a:t>
                      </a:r>
                    </a:p>
                  </a:txBody>
                  <a:tcPr anchor="ctr">
                    <a:lnL w="12700" cmpd="sng">
                      <a:noFill/>
                    </a:lnL>
                    <a:lnR w="12700" cmpd="sng">
                      <a:noFill/>
                    </a:lnR>
                    <a:lnT w="762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 Be Workflow</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Implementation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Timeline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SG" sz="1400" b="0" dirty="0">
                          <a:solidFill>
                            <a:schemeClr val="tx1"/>
                          </a:solidFill>
                          <a:latin typeface="Arial" panose="020B0604020202020204" pitchFamily="34" charset="0"/>
                          <a:cs typeface="Arial" panose="020B0604020202020204" pitchFamily="34" charset="0"/>
                        </a:rPr>
                        <a:t>Benefits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34937843"/>
                  </a:ext>
                </a:extLst>
              </a:tr>
            </a:tbl>
          </a:graphicData>
        </a:graphic>
      </p:graphicFrame>
      <p:sp>
        <p:nvSpPr>
          <p:cNvPr id="8" name="Title 1">
            <a:extLst>
              <a:ext uri="{FF2B5EF4-FFF2-40B4-BE49-F238E27FC236}">
                <a16:creationId xmlns:a16="http://schemas.microsoft.com/office/drawing/2014/main" id="{9DDA534B-F383-E88D-2C43-71D7FBD8042D}"/>
              </a:ext>
            </a:extLst>
          </p:cNvPr>
          <p:cNvSpPr>
            <a:spLocks noGrp="1"/>
          </p:cNvSpPr>
          <p:nvPr>
            <p:ph type="title"/>
          </p:nvPr>
        </p:nvSpPr>
        <p:spPr>
          <a:xfrm>
            <a:off x="490655" y="0"/>
            <a:ext cx="10202745" cy="761747"/>
          </a:xfrm>
          <a:prstGeom prst="rect">
            <a:avLst/>
          </a:prstGeom>
        </p:spPr>
        <p:txBody>
          <a:bodyPr anchor="ctr"/>
          <a:lstStyle>
            <a:lvl1pPr>
              <a:defRPr sz="2000">
                <a:latin typeface="Arial" panose="020B0604020202020204" pitchFamily="34" charset="0"/>
                <a:cs typeface="Arial" panose="020B0604020202020204" pitchFamily="34" charset="0"/>
              </a:defRPr>
            </a:lvl1pPr>
          </a:lstStyle>
          <a:p>
            <a:r>
              <a:rPr lang="en-US"/>
              <a:t>Click to edit Master title style</a:t>
            </a:r>
            <a:endParaRPr lang="en-SG"/>
          </a:p>
        </p:txBody>
      </p:sp>
      <p:pic>
        <p:nvPicPr>
          <p:cNvPr id="3" name="Picture 2" descr="Cashback, Promo Codes + Vouchers | ShopBack SG">
            <a:extLst>
              <a:ext uri="{FF2B5EF4-FFF2-40B4-BE49-F238E27FC236}">
                <a16:creationId xmlns:a16="http://schemas.microsoft.com/office/drawing/2014/main" id="{07313D23-36AA-63FD-50DE-9ACA5C050BAF}"/>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50794" y="188663"/>
            <a:ext cx="1390195" cy="42447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F3357D84-D417-FCB0-ACE6-0F9AFF37D79D}"/>
              </a:ext>
            </a:extLst>
          </p:cNvPr>
          <p:cNvSpPr/>
          <p:nvPr userDrawn="1"/>
        </p:nvSpPr>
        <p:spPr>
          <a:xfrm>
            <a:off x="156118" y="-1"/>
            <a:ext cx="178419" cy="801803"/>
          </a:xfrm>
          <a:prstGeom prst="rect">
            <a:avLst/>
          </a:prstGeom>
          <a:solidFill>
            <a:srgbClr val="D94814"/>
          </a:solidFill>
          <a:ln>
            <a:solidFill>
              <a:srgbClr val="E94619"/>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dirty="0"/>
          </a:p>
        </p:txBody>
      </p:sp>
      <p:cxnSp>
        <p:nvCxnSpPr>
          <p:cNvPr id="11" name="Straight Connector 10">
            <a:extLst>
              <a:ext uri="{FF2B5EF4-FFF2-40B4-BE49-F238E27FC236}">
                <a16:creationId xmlns:a16="http://schemas.microsoft.com/office/drawing/2014/main" id="{5234C2CC-7DDF-7775-5D53-FCEFD72A1BA5}"/>
              </a:ext>
            </a:extLst>
          </p:cNvPr>
          <p:cNvCxnSpPr>
            <a:cxnSpLocks/>
          </p:cNvCxnSpPr>
          <p:nvPr userDrawn="1"/>
        </p:nvCxnSpPr>
        <p:spPr>
          <a:xfrm>
            <a:off x="0" y="801804"/>
            <a:ext cx="12192000" cy="0"/>
          </a:xfrm>
          <a:prstGeom prst="line">
            <a:avLst/>
          </a:prstGeom>
          <a:ln>
            <a:solidFill>
              <a:srgbClr val="D94814"/>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13508370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BD4E519A-C4A3-4BB6-4170-DFD35BB1208F}"/>
              </a:ext>
            </a:extLst>
          </p:cNvPr>
          <p:cNvGraphicFramePr>
            <a:graphicFrameLocks noGrp="1"/>
          </p:cNvGraphicFramePr>
          <p:nvPr userDrawn="1">
            <p:extLst>
              <p:ext uri="{D42A27DB-BD31-4B8C-83A1-F6EECF244321}">
                <p14:modId xmlns:p14="http://schemas.microsoft.com/office/powerpoint/2010/main" val="1279125987"/>
              </p:ext>
            </p:extLst>
          </p:nvPr>
        </p:nvGraphicFramePr>
        <p:xfrm>
          <a:off x="0" y="6411103"/>
          <a:ext cx="12192000" cy="446565"/>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975354447"/>
                    </a:ext>
                  </a:extLst>
                </a:gridCol>
                <a:gridCol w="2438400">
                  <a:extLst>
                    <a:ext uri="{9D8B030D-6E8A-4147-A177-3AD203B41FA5}">
                      <a16:colId xmlns:a16="http://schemas.microsoft.com/office/drawing/2014/main" val="1869310819"/>
                    </a:ext>
                  </a:extLst>
                </a:gridCol>
                <a:gridCol w="2438400">
                  <a:extLst>
                    <a:ext uri="{9D8B030D-6E8A-4147-A177-3AD203B41FA5}">
                      <a16:colId xmlns:a16="http://schemas.microsoft.com/office/drawing/2014/main" val="1258480131"/>
                    </a:ext>
                  </a:extLst>
                </a:gridCol>
                <a:gridCol w="2438400">
                  <a:extLst>
                    <a:ext uri="{9D8B030D-6E8A-4147-A177-3AD203B41FA5}">
                      <a16:colId xmlns:a16="http://schemas.microsoft.com/office/drawing/2014/main" val="4175345294"/>
                    </a:ext>
                  </a:extLst>
                </a:gridCol>
                <a:gridCol w="2438400">
                  <a:extLst>
                    <a:ext uri="{9D8B030D-6E8A-4147-A177-3AD203B41FA5}">
                      <a16:colId xmlns:a16="http://schemas.microsoft.com/office/drawing/2014/main" val="151558303"/>
                    </a:ext>
                  </a:extLst>
                </a:gridCol>
              </a:tblGrid>
              <a:tr h="446565">
                <a:tc>
                  <a:txBody>
                    <a:bodyPr/>
                    <a:lstStyle/>
                    <a:p>
                      <a:pPr algn="ctr"/>
                      <a:r>
                        <a:rPr lang="en-SG" sz="1400" b="0" dirty="0">
                          <a:solidFill>
                            <a:schemeClr val="tx1"/>
                          </a:solidFill>
                          <a:latin typeface="Arial" panose="020B0604020202020204" pitchFamily="34" charset="0"/>
                          <a:cs typeface="Arial" panose="020B0604020202020204" pitchFamily="34" charset="0"/>
                        </a:rPr>
                        <a:t>As-is Workflow</a:t>
                      </a:r>
                    </a:p>
                  </a:txBody>
                  <a:tcPr anchor="ctr">
                    <a:lnL w="12700" cmpd="sng">
                      <a:noFill/>
                    </a:lnL>
                    <a:lnR w="12700" cmpd="sng">
                      <a:noFill/>
                    </a:lnR>
                    <a:lnT w="762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 Be Workflow</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Implementation</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Timeline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SG" sz="1400" b="0" dirty="0">
                          <a:solidFill>
                            <a:schemeClr val="tx1"/>
                          </a:solidFill>
                          <a:latin typeface="Arial" panose="020B0604020202020204" pitchFamily="34" charset="0"/>
                          <a:cs typeface="Arial" panose="020B0604020202020204" pitchFamily="34" charset="0"/>
                        </a:rPr>
                        <a:t>Benefits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34937843"/>
                  </a:ext>
                </a:extLst>
              </a:tr>
            </a:tbl>
          </a:graphicData>
        </a:graphic>
      </p:graphicFrame>
      <p:sp>
        <p:nvSpPr>
          <p:cNvPr id="8" name="Title 1">
            <a:extLst>
              <a:ext uri="{FF2B5EF4-FFF2-40B4-BE49-F238E27FC236}">
                <a16:creationId xmlns:a16="http://schemas.microsoft.com/office/drawing/2014/main" id="{9DDA534B-F383-E88D-2C43-71D7FBD8042D}"/>
              </a:ext>
            </a:extLst>
          </p:cNvPr>
          <p:cNvSpPr>
            <a:spLocks noGrp="1"/>
          </p:cNvSpPr>
          <p:nvPr>
            <p:ph type="title"/>
          </p:nvPr>
        </p:nvSpPr>
        <p:spPr>
          <a:xfrm>
            <a:off x="490655" y="0"/>
            <a:ext cx="10202745" cy="761747"/>
          </a:xfrm>
          <a:prstGeom prst="rect">
            <a:avLst/>
          </a:prstGeom>
        </p:spPr>
        <p:txBody>
          <a:bodyPr anchor="ctr"/>
          <a:lstStyle>
            <a:lvl1pPr>
              <a:defRPr sz="2000">
                <a:latin typeface="Arial" panose="020B0604020202020204" pitchFamily="34" charset="0"/>
                <a:cs typeface="Arial" panose="020B0604020202020204" pitchFamily="34" charset="0"/>
              </a:defRPr>
            </a:lvl1pPr>
          </a:lstStyle>
          <a:p>
            <a:r>
              <a:rPr lang="en-US"/>
              <a:t>Click to edit Master title style</a:t>
            </a:r>
            <a:endParaRPr lang="en-SG"/>
          </a:p>
        </p:txBody>
      </p:sp>
      <p:sp>
        <p:nvSpPr>
          <p:cNvPr id="10" name="Slide Number Placeholder 3">
            <a:extLst>
              <a:ext uri="{FF2B5EF4-FFF2-40B4-BE49-F238E27FC236}">
                <a16:creationId xmlns:a16="http://schemas.microsoft.com/office/drawing/2014/main" id="{98C9BD90-555F-7F2E-7C99-5E5AA54616D2}"/>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D74D9C-D126-47FD-A949-B4C94120FFC4}" type="slidenum">
              <a:rPr lang="en-GB" smtClean="0"/>
              <a:t>‹#›</a:t>
            </a:fld>
            <a:endParaRPr lang="en-GB"/>
          </a:p>
        </p:txBody>
      </p:sp>
      <p:pic>
        <p:nvPicPr>
          <p:cNvPr id="3" name="Picture 2" descr="Cashback, Promo Codes + Vouchers | ShopBack SG">
            <a:extLst>
              <a:ext uri="{FF2B5EF4-FFF2-40B4-BE49-F238E27FC236}">
                <a16:creationId xmlns:a16="http://schemas.microsoft.com/office/drawing/2014/main" id="{0B8EF078-8FBE-F5CB-618A-F3F89FDBB807}"/>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50794" y="188663"/>
            <a:ext cx="1390195" cy="42447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B2BC0A6F-DAAE-0CDF-3A6D-4D73B97F9839}"/>
              </a:ext>
            </a:extLst>
          </p:cNvPr>
          <p:cNvSpPr/>
          <p:nvPr userDrawn="1"/>
        </p:nvSpPr>
        <p:spPr>
          <a:xfrm>
            <a:off x="156118" y="-1"/>
            <a:ext cx="178419" cy="801803"/>
          </a:xfrm>
          <a:prstGeom prst="rect">
            <a:avLst/>
          </a:prstGeom>
          <a:solidFill>
            <a:srgbClr val="D94814"/>
          </a:solidFill>
          <a:ln>
            <a:solidFill>
              <a:srgbClr val="E94619"/>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dirty="0"/>
          </a:p>
        </p:txBody>
      </p:sp>
      <p:cxnSp>
        <p:nvCxnSpPr>
          <p:cNvPr id="12" name="Straight Connector 11">
            <a:extLst>
              <a:ext uri="{FF2B5EF4-FFF2-40B4-BE49-F238E27FC236}">
                <a16:creationId xmlns:a16="http://schemas.microsoft.com/office/drawing/2014/main" id="{41EE549C-9E21-C284-D5E5-F300891D4A01}"/>
              </a:ext>
            </a:extLst>
          </p:cNvPr>
          <p:cNvCxnSpPr>
            <a:cxnSpLocks/>
          </p:cNvCxnSpPr>
          <p:nvPr userDrawn="1"/>
        </p:nvCxnSpPr>
        <p:spPr>
          <a:xfrm>
            <a:off x="0" y="801804"/>
            <a:ext cx="12192000" cy="0"/>
          </a:xfrm>
          <a:prstGeom prst="line">
            <a:avLst/>
          </a:prstGeom>
          <a:ln>
            <a:solidFill>
              <a:srgbClr val="D94814"/>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7576397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BD4E519A-C4A3-4BB6-4170-DFD35BB1208F}"/>
              </a:ext>
            </a:extLst>
          </p:cNvPr>
          <p:cNvGraphicFramePr>
            <a:graphicFrameLocks noGrp="1"/>
          </p:cNvGraphicFramePr>
          <p:nvPr userDrawn="1">
            <p:extLst>
              <p:ext uri="{D42A27DB-BD31-4B8C-83A1-F6EECF244321}">
                <p14:modId xmlns:p14="http://schemas.microsoft.com/office/powerpoint/2010/main" val="968037804"/>
              </p:ext>
            </p:extLst>
          </p:nvPr>
        </p:nvGraphicFramePr>
        <p:xfrm>
          <a:off x="0" y="6411103"/>
          <a:ext cx="12192000" cy="446565"/>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975354447"/>
                    </a:ext>
                  </a:extLst>
                </a:gridCol>
                <a:gridCol w="2438400">
                  <a:extLst>
                    <a:ext uri="{9D8B030D-6E8A-4147-A177-3AD203B41FA5}">
                      <a16:colId xmlns:a16="http://schemas.microsoft.com/office/drawing/2014/main" val="1869310819"/>
                    </a:ext>
                  </a:extLst>
                </a:gridCol>
                <a:gridCol w="2438400">
                  <a:extLst>
                    <a:ext uri="{9D8B030D-6E8A-4147-A177-3AD203B41FA5}">
                      <a16:colId xmlns:a16="http://schemas.microsoft.com/office/drawing/2014/main" val="1258480131"/>
                    </a:ext>
                  </a:extLst>
                </a:gridCol>
                <a:gridCol w="2438400">
                  <a:extLst>
                    <a:ext uri="{9D8B030D-6E8A-4147-A177-3AD203B41FA5}">
                      <a16:colId xmlns:a16="http://schemas.microsoft.com/office/drawing/2014/main" val="4175345294"/>
                    </a:ext>
                  </a:extLst>
                </a:gridCol>
                <a:gridCol w="2438400">
                  <a:extLst>
                    <a:ext uri="{9D8B030D-6E8A-4147-A177-3AD203B41FA5}">
                      <a16:colId xmlns:a16="http://schemas.microsoft.com/office/drawing/2014/main" val="151558303"/>
                    </a:ext>
                  </a:extLst>
                </a:gridCol>
              </a:tblGrid>
              <a:tr h="446565">
                <a:tc>
                  <a:txBody>
                    <a:bodyPr/>
                    <a:lstStyle/>
                    <a:p>
                      <a:pPr algn="ctr"/>
                      <a:r>
                        <a:rPr lang="en-SG" sz="1400" b="0" dirty="0">
                          <a:solidFill>
                            <a:schemeClr val="tx1"/>
                          </a:solidFill>
                          <a:latin typeface="Arial" panose="020B0604020202020204" pitchFamily="34" charset="0"/>
                          <a:cs typeface="Arial" panose="020B0604020202020204" pitchFamily="34" charset="0"/>
                        </a:rPr>
                        <a:t>As-is Workflow</a:t>
                      </a:r>
                    </a:p>
                  </a:txBody>
                  <a:tcPr anchor="ctr">
                    <a:lnL w="12700" cmpd="sng">
                      <a:noFill/>
                    </a:lnL>
                    <a:lnR w="12700" cmpd="sng">
                      <a:noFill/>
                    </a:lnR>
                    <a:lnT w="762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 Be Workflow</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Implementation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Timeline</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algn="ctr"/>
                      <a:r>
                        <a:rPr lang="en-SG" sz="1400" b="0" dirty="0">
                          <a:solidFill>
                            <a:schemeClr val="tx1"/>
                          </a:solidFill>
                          <a:latin typeface="Arial" panose="020B0604020202020204" pitchFamily="34" charset="0"/>
                          <a:cs typeface="Arial" panose="020B0604020202020204" pitchFamily="34" charset="0"/>
                        </a:rPr>
                        <a:t>Benefits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34937843"/>
                  </a:ext>
                </a:extLst>
              </a:tr>
            </a:tbl>
          </a:graphicData>
        </a:graphic>
      </p:graphicFrame>
      <p:sp>
        <p:nvSpPr>
          <p:cNvPr id="8" name="Title 1">
            <a:extLst>
              <a:ext uri="{FF2B5EF4-FFF2-40B4-BE49-F238E27FC236}">
                <a16:creationId xmlns:a16="http://schemas.microsoft.com/office/drawing/2014/main" id="{9DDA534B-F383-E88D-2C43-71D7FBD8042D}"/>
              </a:ext>
            </a:extLst>
          </p:cNvPr>
          <p:cNvSpPr>
            <a:spLocks noGrp="1"/>
          </p:cNvSpPr>
          <p:nvPr>
            <p:ph type="title"/>
          </p:nvPr>
        </p:nvSpPr>
        <p:spPr>
          <a:xfrm>
            <a:off x="490655" y="0"/>
            <a:ext cx="10202745" cy="761747"/>
          </a:xfrm>
          <a:prstGeom prst="rect">
            <a:avLst/>
          </a:prstGeom>
        </p:spPr>
        <p:txBody>
          <a:bodyPr anchor="ctr"/>
          <a:lstStyle>
            <a:lvl1pPr>
              <a:defRPr sz="2000">
                <a:latin typeface="Arial" panose="020B0604020202020204" pitchFamily="34" charset="0"/>
                <a:cs typeface="Arial" panose="020B0604020202020204" pitchFamily="34" charset="0"/>
              </a:defRPr>
            </a:lvl1pPr>
          </a:lstStyle>
          <a:p>
            <a:r>
              <a:rPr lang="en-US"/>
              <a:t>Click to edit Master title style</a:t>
            </a:r>
            <a:endParaRPr lang="en-SG"/>
          </a:p>
        </p:txBody>
      </p:sp>
      <p:sp>
        <p:nvSpPr>
          <p:cNvPr id="10" name="Slide Number Placeholder 3">
            <a:extLst>
              <a:ext uri="{FF2B5EF4-FFF2-40B4-BE49-F238E27FC236}">
                <a16:creationId xmlns:a16="http://schemas.microsoft.com/office/drawing/2014/main" id="{98C9BD90-555F-7F2E-7C99-5E5AA54616D2}"/>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D74D9C-D126-47FD-A949-B4C94120FFC4}" type="slidenum">
              <a:rPr lang="en-GB" smtClean="0"/>
              <a:t>‹#›</a:t>
            </a:fld>
            <a:endParaRPr lang="en-GB"/>
          </a:p>
        </p:txBody>
      </p:sp>
      <p:pic>
        <p:nvPicPr>
          <p:cNvPr id="3" name="Picture 2" descr="Cashback, Promo Codes + Vouchers | ShopBack SG">
            <a:extLst>
              <a:ext uri="{FF2B5EF4-FFF2-40B4-BE49-F238E27FC236}">
                <a16:creationId xmlns:a16="http://schemas.microsoft.com/office/drawing/2014/main" id="{1778666F-9539-48F8-2ED1-58800ED81A3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50794" y="188663"/>
            <a:ext cx="1390195" cy="424473"/>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E90A6F4B-8F74-F67E-A4A1-A33871A02B7E}"/>
              </a:ext>
            </a:extLst>
          </p:cNvPr>
          <p:cNvSpPr/>
          <p:nvPr userDrawn="1"/>
        </p:nvSpPr>
        <p:spPr>
          <a:xfrm>
            <a:off x="156118" y="-1"/>
            <a:ext cx="178419" cy="801803"/>
          </a:xfrm>
          <a:prstGeom prst="rect">
            <a:avLst/>
          </a:prstGeom>
          <a:solidFill>
            <a:srgbClr val="D94814"/>
          </a:solidFill>
          <a:ln>
            <a:solidFill>
              <a:srgbClr val="E94619"/>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dirty="0"/>
          </a:p>
        </p:txBody>
      </p:sp>
      <p:cxnSp>
        <p:nvCxnSpPr>
          <p:cNvPr id="5" name="Straight Connector 4">
            <a:extLst>
              <a:ext uri="{FF2B5EF4-FFF2-40B4-BE49-F238E27FC236}">
                <a16:creationId xmlns:a16="http://schemas.microsoft.com/office/drawing/2014/main" id="{61699F3F-34D4-9AFA-4DBD-32A5FB1FAE64}"/>
              </a:ext>
            </a:extLst>
          </p:cNvPr>
          <p:cNvCxnSpPr>
            <a:cxnSpLocks/>
          </p:cNvCxnSpPr>
          <p:nvPr userDrawn="1"/>
        </p:nvCxnSpPr>
        <p:spPr>
          <a:xfrm>
            <a:off x="0" y="801804"/>
            <a:ext cx="12192000" cy="0"/>
          </a:xfrm>
          <a:prstGeom prst="line">
            <a:avLst/>
          </a:prstGeom>
          <a:ln>
            <a:solidFill>
              <a:srgbClr val="D94814"/>
            </a:solidFill>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3917630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graphicFrame>
        <p:nvGraphicFramePr>
          <p:cNvPr id="6" name="Table 6">
            <a:extLst>
              <a:ext uri="{FF2B5EF4-FFF2-40B4-BE49-F238E27FC236}">
                <a16:creationId xmlns:a16="http://schemas.microsoft.com/office/drawing/2014/main" id="{BD4E519A-C4A3-4BB6-4170-DFD35BB1208F}"/>
              </a:ext>
            </a:extLst>
          </p:cNvPr>
          <p:cNvGraphicFramePr>
            <a:graphicFrameLocks noGrp="1"/>
          </p:cNvGraphicFramePr>
          <p:nvPr userDrawn="1">
            <p:extLst>
              <p:ext uri="{D42A27DB-BD31-4B8C-83A1-F6EECF244321}">
                <p14:modId xmlns:p14="http://schemas.microsoft.com/office/powerpoint/2010/main" val="3439151043"/>
              </p:ext>
            </p:extLst>
          </p:nvPr>
        </p:nvGraphicFramePr>
        <p:xfrm>
          <a:off x="0" y="6403043"/>
          <a:ext cx="12192000" cy="446565"/>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1975354447"/>
                    </a:ext>
                  </a:extLst>
                </a:gridCol>
                <a:gridCol w="2438400">
                  <a:extLst>
                    <a:ext uri="{9D8B030D-6E8A-4147-A177-3AD203B41FA5}">
                      <a16:colId xmlns:a16="http://schemas.microsoft.com/office/drawing/2014/main" val="1869310819"/>
                    </a:ext>
                  </a:extLst>
                </a:gridCol>
                <a:gridCol w="2438400">
                  <a:extLst>
                    <a:ext uri="{9D8B030D-6E8A-4147-A177-3AD203B41FA5}">
                      <a16:colId xmlns:a16="http://schemas.microsoft.com/office/drawing/2014/main" val="1258480131"/>
                    </a:ext>
                  </a:extLst>
                </a:gridCol>
                <a:gridCol w="2438400">
                  <a:extLst>
                    <a:ext uri="{9D8B030D-6E8A-4147-A177-3AD203B41FA5}">
                      <a16:colId xmlns:a16="http://schemas.microsoft.com/office/drawing/2014/main" val="4175345294"/>
                    </a:ext>
                  </a:extLst>
                </a:gridCol>
                <a:gridCol w="2438400">
                  <a:extLst>
                    <a:ext uri="{9D8B030D-6E8A-4147-A177-3AD203B41FA5}">
                      <a16:colId xmlns:a16="http://schemas.microsoft.com/office/drawing/2014/main" val="151558303"/>
                    </a:ext>
                  </a:extLst>
                </a:gridCol>
              </a:tblGrid>
              <a:tr h="446565">
                <a:tc>
                  <a:txBody>
                    <a:bodyPr/>
                    <a:lstStyle/>
                    <a:p>
                      <a:pPr algn="ctr"/>
                      <a:r>
                        <a:rPr lang="en-SG" sz="1400" b="0" dirty="0">
                          <a:solidFill>
                            <a:schemeClr val="tx1"/>
                          </a:solidFill>
                          <a:latin typeface="Arial" panose="020B0604020202020204" pitchFamily="34" charset="0"/>
                          <a:cs typeface="Arial" panose="020B0604020202020204" pitchFamily="34" charset="0"/>
                        </a:rPr>
                        <a:t>As-is Workflow</a:t>
                      </a:r>
                    </a:p>
                  </a:txBody>
                  <a:tcPr anchor="ctr">
                    <a:lnL w="12700" cmpd="sng">
                      <a:noFill/>
                    </a:lnL>
                    <a:lnR w="12700" cmpd="sng">
                      <a:noFill/>
                    </a:lnR>
                    <a:lnT w="76200" cap="flat" cmpd="sng" algn="ctr">
                      <a:noFill/>
                      <a:prstDash val="solid"/>
                      <a:round/>
                      <a:headEnd type="none" w="med" len="med"/>
                      <a:tailEnd type="none" w="med" len="med"/>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To Be Workflow</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Implementation</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SG"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Timeline</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algn="ctr"/>
                      <a:r>
                        <a:rPr lang="en-SG" sz="1400" b="1" dirty="0">
                          <a:solidFill>
                            <a:schemeClr val="tx1"/>
                          </a:solidFill>
                          <a:latin typeface="Arial" panose="020B0604020202020204" pitchFamily="34" charset="0"/>
                          <a:cs typeface="Arial" panose="020B0604020202020204" pitchFamily="34" charset="0"/>
                        </a:rPr>
                        <a:t>Benefits</a:t>
                      </a:r>
                    </a:p>
                  </a:txBody>
                  <a:tcPr anchor="ctr">
                    <a:lnL w="12700" cmpd="sng">
                      <a:noFill/>
                    </a:lnL>
                    <a:lnR w="12700" cmpd="sng">
                      <a:noFill/>
                    </a:lnR>
                    <a:lnT w="12700" cap="flat" cmpd="sng" algn="ctr">
                      <a:solidFill>
                        <a:schemeClr val="tx1"/>
                      </a:solidFill>
                      <a:prstDash val="solid"/>
                      <a:round/>
                      <a:headEnd type="none" w="med" len="med"/>
                      <a:tailEnd type="none" w="med" len="med"/>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34937843"/>
                  </a:ext>
                </a:extLst>
              </a:tr>
            </a:tbl>
          </a:graphicData>
        </a:graphic>
      </p:graphicFrame>
      <p:sp>
        <p:nvSpPr>
          <p:cNvPr id="8" name="Title 1">
            <a:extLst>
              <a:ext uri="{FF2B5EF4-FFF2-40B4-BE49-F238E27FC236}">
                <a16:creationId xmlns:a16="http://schemas.microsoft.com/office/drawing/2014/main" id="{9DDA534B-F383-E88D-2C43-71D7FBD8042D}"/>
              </a:ext>
            </a:extLst>
          </p:cNvPr>
          <p:cNvSpPr>
            <a:spLocks noGrp="1"/>
          </p:cNvSpPr>
          <p:nvPr>
            <p:ph type="title"/>
          </p:nvPr>
        </p:nvSpPr>
        <p:spPr>
          <a:xfrm>
            <a:off x="490655" y="0"/>
            <a:ext cx="10202745" cy="761747"/>
          </a:xfrm>
          <a:prstGeom prst="rect">
            <a:avLst/>
          </a:prstGeom>
        </p:spPr>
        <p:txBody>
          <a:bodyPr anchor="ctr"/>
          <a:lstStyle>
            <a:lvl1pPr>
              <a:defRPr sz="2000">
                <a:latin typeface="Arial" panose="020B0604020202020204" pitchFamily="34" charset="0"/>
                <a:cs typeface="Arial" panose="020B0604020202020204" pitchFamily="34" charset="0"/>
              </a:defRPr>
            </a:lvl1pPr>
          </a:lstStyle>
          <a:p>
            <a:r>
              <a:rPr lang="en-US"/>
              <a:t>Click to edit Master title style</a:t>
            </a:r>
            <a:endParaRPr lang="en-SG"/>
          </a:p>
        </p:txBody>
      </p:sp>
      <p:sp>
        <p:nvSpPr>
          <p:cNvPr id="10" name="Slide Number Placeholder 3">
            <a:extLst>
              <a:ext uri="{FF2B5EF4-FFF2-40B4-BE49-F238E27FC236}">
                <a16:creationId xmlns:a16="http://schemas.microsoft.com/office/drawing/2014/main" id="{98C9BD90-555F-7F2E-7C99-5E5AA54616D2}"/>
              </a:ext>
            </a:extLst>
          </p:cNvPr>
          <p:cNvSpPr>
            <a:spLocks noGrp="1"/>
          </p:cNvSpPr>
          <p:nvPr>
            <p:ph type="sldNum" sz="quarter" idx="4"/>
          </p:nvPr>
        </p:nvSpPr>
        <p:spPr>
          <a:xfrm>
            <a:off x="9448800" y="649287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D74D9C-D126-47FD-A949-B4C94120FFC4}" type="slidenum">
              <a:rPr lang="en-GB" smtClean="0"/>
              <a:t>‹#›</a:t>
            </a:fld>
            <a:endParaRPr lang="en-GB"/>
          </a:p>
        </p:txBody>
      </p:sp>
      <p:pic>
        <p:nvPicPr>
          <p:cNvPr id="3" name="Picture 2" descr="Cashback, Promo Codes + Vouchers | ShopBack SG">
            <a:extLst>
              <a:ext uri="{FF2B5EF4-FFF2-40B4-BE49-F238E27FC236}">
                <a16:creationId xmlns:a16="http://schemas.microsoft.com/office/drawing/2014/main" id="{12DBABC5-8F7C-D683-A670-52EB6F89A28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550794" y="188663"/>
            <a:ext cx="1390195" cy="424473"/>
          </a:xfrm>
          <a:prstGeom prst="rect">
            <a:avLst/>
          </a:prstGeom>
          <a:noFill/>
          <a:extLst>
            <a:ext uri="{909E8E84-426E-40DD-AFC4-6F175D3DCCD1}">
              <a14:hiddenFill xmlns:a14="http://schemas.microsoft.com/office/drawing/2010/main">
                <a:solidFill>
                  <a:srgbClr val="FFFFFF"/>
                </a:solidFill>
              </a14:hiddenFill>
            </a:ext>
          </a:extLst>
        </p:spPr>
      </p:pic>
      <p:cxnSp>
        <p:nvCxnSpPr>
          <p:cNvPr id="4" name="Straight Connector 3">
            <a:extLst>
              <a:ext uri="{FF2B5EF4-FFF2-40B4-BE49-F238E27FC236}">
                <a16:creationId xmlns:a16="http://schemas.microsoft.com/office/drawing/2014/main" id="{A0D476CE-DF59-6135-DCD7-AF41A66A3D00}"/>
              </a:ext>
            </a:extLst>
          </p:cNvPr>
          <p:cNvCxnSpPr>
            <a:cxnSpLocks/>
          </p:cNvCxnSpPr>
          <p:nvPr userDrawn="1"/>
        </p:nvCxnSpPr>
        <p:spPr>
          <a:xfrm>
            <a:off x="0" y="801804"/>
            <a:ext cx="12192000" cy="0"/>
          </a:xfrm>
          <a:prstGeom prst="line">
            <a:avLst/>
          </a:prstGeom>
          <a:ln>
            <a:solidFill>
              <a:srgbClr val="D94814"/>
            </a:solidFill>
          </a:ln>
        </p:spPr>
        <p:style>
          <a:lnRef idx="3">
            <a:schemeClr val="accent2"/>
          </a:lnRef>
          <a:fillRef idx="0">
            <a:schemeClr val="accent2"/>
          </a:fillRef>
          <a:effectRef idx="2">
            <a:schemeClr val="accent2"/>
          </a:effectRef>
          <a:fontRef idx="minor">
            <a:schemeClr val="tx1"/>
          </a:fontRef>
        </p:style>
      </p:cxnSp>
      <p:sp>
        <p:nvSpPr>
          <p:cNvPr id="5" name="Rectangle 4">
            <a:extLst>
              <a:ext uri="{FF2B5EF4-FFF2-40B4-BE49-F238E27FC236}">
                <a16:creationId xmlns:a16="http://schemas.microsoft.com/office/drawing/2014/main" id="{3893C37D-FBEB-2352-E178-0E22E796E780}"/>
              </a:ext>
            </a:extLst>
          </p:cNvPr>
          <p:cNvSpPr/>
          <p:nvPr userDrawn="1"/>
        </p:nvSpPr>
        <p:spPr>
          <a:xfrm>
            <a:off x="156118" y="-1"/>
            <a:ext cx="178419" cy="801803"/>
          </a:xfrm>
          <a:prstGeom prst="rect">
            <a:avLst/>
          </a:prstGeom>
          <a:solidFill>
            <a:srgbClr val="D94814"/>
          </a:solidFill>
          <a:ln>
            <a:solidFill>
              <a:srgbClr val="E94619"/>
            </a:solidFill>
          </a:ln>
        </p:spPr>
        <p:style>
          <a:lnRef idx="1">
            <a:schemeClr val="accent2"/>
          </a:lnRef>
          <a:fillRef idx="3">
            <a:schemeClr val="accent2"/>
          </a:fillRef>
          <a:effectRef idx="2">
            <a:schemeClr val="accent2"/>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737422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5501B-312D-A9CC-25FB-D33123A7CF7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87D96A7-1BDB-92B3-B364-3DB1FB2ED1E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06FE711-E8D0-4329-2AB3-EFB8B97EF5B3}"/>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5" name="Footer Placeholder 4">
            <a:extLst>
              <a:ext uri="{FF2B5EF4-FFF2-40B4-BE49-F238E27FC236}">
                <a16:creationId xmlns:a16="http://schemas.microsoft.com/office/drawing/2014/main" id="{43D386A9-DEA6-EF55-31F0-7B3C28B56A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39D14D-8920-23EE-94A7-15BC6C181B1A}"/>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25392114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E4657-5D82-95EC-E7E7-E76BBC8583C1}"/>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6F68D19A-8C2A-4B79-04A0-3D76B2AB485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17E5E4F9-A7A2-B07E-3BE8-E35B1E2FAC4A}"/>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5" name="Footer Placeholder 4">
            <a:extLst>
              <a:ext uri="{FF2B5EF4-FFF2-40B4-BE49-F238E27FC236}">
                <a16:creationId xmlns:a16="http://schemas.microsoft.com/office/drawing/2014/main" id="{43267E68-C7E3-EFAD-0D1A-DFDA25F910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CFA254-E3BC-B198-FD18-21AE80179A85}"/>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1028647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76F4F-A6BD-2D73-FDCC-D71665E943D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3118607-435E-3105-8D3F-D217A4B147E3}"/>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DD04C027-BF28-A494-4237-224E16202DDB}"/>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82D8DE8F-10D3-B9C5-708F-6582558EE602}"/>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6" name="Footer Placeholder 5">
            <a:extLst>
              <a:ext uri="{FF2B5EF4-FFF2-40B4-BE49-F238E27FC236}">
                <a16:creationId xmlns:a16="http://schemas.microsoft.com/office/drawing/2014/main" id="{573D6D95-9F16-6788-E5D2-4F52CC59FBF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4B4FB2-747D-5B9C-AE84-31E0A7D5FAC0}"/>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597105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138529-6619-AA0F-FE9E-272E2390263C}"/>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6F7D2B87-D68A-D7A4-C029-BF4D7AE2FBF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5A73EDCB-BB89-B145-406E-59427517123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4BBF56D5-05F5-16DD-0D03-1383B0FA493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B59ED9B-819B-9627-A9CD-071E46F41BF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BD57225-EB5E-E25A-8211-693D06BAF9AE}"/>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8" name="Footer Placeholder 7">
            <a:extLst>
              <a:ext uri="{FF2B5EF4-FFF2-40B4-BE49-F238E27FC236}">
                <a16:creationId xmlns:a16="http://schemas.microsoft.com/office/drawing/2014/main" id="{1D7A56C9-A1CA-463B-7E4E-9D96E84F6D4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62CDCA-C723-F718-B91C-D0C9AD0B7B68}"/>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7846160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067C4-5110-8593-AE2F-1506B09CC627}"/>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CAD54C88-82B7-FEC0-6E5D-535F06B066E1}"/>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4" name="Footer Placeholder 3">
            <a:extLst>
              <a:ext uri="{FF2B5EF4-FFF2-40B4-BE49-F238E27FC236}">
                <a16:creationId xmlns:a16="http://schemas.microsoft.com/office/drawing/2014/main" id="{F65AF4B8-3E6B-8C42-F23B-BBDDC48D807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7742E8B-C633-916F-2113-30D53AEBDF42}"/>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280782030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ED0F53-FF07-5872-DF84-931565D80F70}"/>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3" name="Footer Placeholder 2">
            <a:extLst>
              <a:ext uri="{FF2B5EF4-FFF2-40B4-BE49-F238E27FC236}">
                <a16:creationId xmlns:a16="http://schemas.microsoft.com/office/drawing/2014/main" id="{1CAFAE53-D817-C2B0-E09C-921C6FC89B0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FFA1A2-B949-B484-E77B-EB901F70C420}"/>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42679018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3BE2E-78E2-F8E9-0C5E-B342139EC90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317EB373-0A77-658D-9ECB-DC144B7B8F3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54C3FF7-0B8A-D140-1054-16C50A42077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2B9BC6-DFD2-6543-960C-50EA7B289FDC}"/>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6" name="Footer Placeholder 5">
            <a:extLst>
              <a:ext uri="{FF2B5EF4-FFF2-40B4-BE49-F238E27FC236}">
                <a16:creationId xmlns:a16="http://schemas.microsoft.com/office/drawing/2014/main" id="{16327A32-0334-E819-F94C-620A224B37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2BBF69-96E1-39F7-22A8-89D72F74FCE7}"/>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2996645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36933-2575-46A8-777D-A93ADEFBFCC0}"/>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0833B12-45AE-9C9A-CC98-0F5D9FFF37A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A341240-7D3E-AFAD-71B6-131C52C45F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F1AE21B-A7E0-14D5-A2D6-807F527D565B}"/>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6" name="Footer Placeholder 5">
            <a:extLst>
              <a:ext uri="{FF2B5EF4-FFF2-40B4-BE49-F238E27FC236}">
                <a16:creationId xmlns:a16="http://schemas.microsoft.com/office/drawing/2014/main" id="{8BC0456A-F0C3-6D0A-8F1B-DC1B64CE530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0E7696-C784-A772-D338-AC72AEFD004F}"/>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4054748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8484A3-E0EE-85D8-0041-258CF7DC4E2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FAFBA05-8B27-CE4B-3CBE-2610AEDE106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1FC96CC-4C85-EEE5-6980-3E640872A4FF}"/>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5" name="Footer Placeholder 4">
            <a:extLst>
              <a:ext uri="{FF2B5EF4-FFF2-40B4-BE49-F238E27FC236}">
                <a16:creationId xmlns:a16="http://schemas.microsoft.com/office/drawing/2014/main" id="{289D6849-CA1B-49D9-8115-2D315AEAA0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76A66B-5AA6-66FC-49DF-B93B926BFEC0}"/>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26753888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ED6801-F3A6-A76F-FA07-D4321750DFC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9808AF6-9BC8-2790-06FF-C54EB1588073}"/>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7950995-4B13-2E4D-0E31-10566971A9A5}"/>
              </a:ext>
            </a:extLst>
          </p:cNvPr>
          <p:cNvSpPr>
            <a:spLocks noGrp="1"/>
          </p:cNvSpPr>
          <p:nvPr>
            <p:ph type="dt" sz="half" idx="10"/>
          </p:nvPr>
        </p:nvSpPr>
        <p:spPr/>
        <p:txBody>
          <a:bodyPr/>
          <a:lstStyle/>
          <a:p>
            <a:fld id="{93D815EB-E4D7-7149-8B3A-8B247E5B5790}" type="datetimeFigureOut">
              <a:rPr lang="en-US" smtClean="0"/>
              <a:t>9/15/25</a:t>
            </a:fld>
            <a:endParaRPr lang="en-US"/>
          </a:p>
        </p:txBody>
      </p:sp>
      <p:sp>
        <p:nvSpPr>
          <p:cNvPr id="5" name="Footer Placeholder 4">
            <a:extLst>
              <a:ext uri="{FF2B5EF4-FFF2-40B4-BE49-F238E27FC236}">
                <a16:creationId xmlns:a16="http://schemas.microsoft.com/office/drawing/2014/main" id="{785CA408-65D2-5148-49CB-D22FB9B5D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6CBE69-2810-9735-604B-C3DB308A80F9}"/>
              </a:ext>
            </a:extLst>
          </p:cNvPr>
          <p:cNvSpPr>
            <a:spLocks noGrp="1"/>
          </p:cNvSpPr>
          <p:nvPr>
            <p:ph type="sldNum" sz="quarter" idx="12"/>
          </p:nvPr>
        </p:nvSpPr>
        <p:spPr/>
        <p:txBody>
          <a:bodyPr/>
          <a:lstStyle/>
          <a:p>
            <a:fld id="{D8646B3F-8BB1-EA4C-9A0E-74449364131B}" type="slidenum">
              <a:rPr lang="en-US" smtClean="0"/>
              <a:t>‹#›</a:t>
            </a:fld>
            <a:endParaRPr lang="en-US"/>
          </a:p>
        </p:txBody>
      </p:sp>
    </p:spTree>
    <p:extLst>
      <p:ext uri="{BB962C8B-B14F-4D97-AF65-F5344CB8AC3E}">
        <p14:creationId xmlns:p14="http://schemas.microsoft.com/office/powerpoint/2010/main" val="30832719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1E63949-9A93-0BA1-986B-332323AC617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E6B9A05C-CBDC-8058-4810-2DAC5AE0E1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D3788758-1DD5-B7C8-FCCF-7B94F5710B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3D815EB-E4D7-7149-8B3A-8B247E5B5790}" type="datetimeFigureOut">
              <a:rPr lang="en-US" smtClean="0"/>
              <a:t>9/15/25</a:t>
            </a:fld>
            <a:endParaRPr lang="en-US"/>
          </a:p>
        </p:txBody>
      </p:sp>
      <p:sp>
        <p:nvSpPr>
          <p:cNvPr id="5" name="Footer Placeholder 4">
            <a:extLst>
              <a:ext uri="{FF2B5EF4-FFF2-40B4-BE49-F238E27FC236}">
                <a16:creationId xmlns:a16="http://schemas.microsoft.com/office/drawing/2014/main" id="{847AE63B-1215-5A41-0CB6-1033D083247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28A220F-6785-D099-B7FE-DD82B93B38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8646B3F-8BB1-EA4C-9A0E-74449364131B}" type="slidenum">
              <a:rPr lang="en-US" smtClean="0"/>
              <a:t>‹#›</a:t>
            </a:fld>
            <a:endParaRPr lang="en-US"/>
          </a:p>
        </p:txBody>
      </p:sp>
    </p:spTree>
    <p:extLst>
      <p:ext uri="{BB962C8B-B14F-4D97-AF65-F5344CB8AC3E}">
        <p14:creationId xmlns:p14="http://schemas.microsoft.com/office/powerpoint/2010/main" val="725511013"/>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 id="2147483662" r:id="rId4"/>
    <p:sldLayoutId id="2147483663" r:id="rId5"/>
    <p:sldLayoutId id="2147483664" r:id="rId6"/>
    <p:sldLayoutId id="2147483650" r:id="rId7"/>
    <p:sldLayoutId id="2147483651" r:id="rId8"/>
    <p:sldLayoutId id="2147483652" r:id="rId9"/>
    <p:sldLayoutId id="2147483653" r:id="rId10"/>
    <p:sldLayoutId id="2147483654" r:id="rId11"/>
    <p:sldLayoutId id="2147483655" r:id="rId12"/>
    <p:sldLayoutId id="2147483656" r:id="rId13"/>
    <p:sldLayoutId id="2147483657" r:id="rId14"/>
    <p:sldLayoutId id="2147483658" r:id="rId15"/>
    <p:sldLayoutId id="2147483659"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4.sv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39" name="Straight Connector 1038">
            <a:extLst>
              <a:ext uri="{FF2B5EF4-FFF2-40B4-BE49-F238E27FC236}">
                <a16:creationId xmlns:a16="http://schemas.microsoft.com/office/drawing/2014/main" id="{249EDD1B-F94D-B4E6-ACAA-566B9A26FDE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199390"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33C947A-7D51-8BF8-7931-03E32200E644}"/>
              </a:ext>
            </a:extLst>
          </p:cNvPr>
          <p:cNvSpPr txBox="1"/>
          <p:nvPr/>
        </p:nvSpPr>
        <p:spPr>
          <a:xfrm>
            <a:off x="8199390" y="2728803"/>
            <a:ext cx="3847467" cy="1400394"/>
          </a:xfrm>
          <a:prstGeom prst="rect">
            <a:avLst/>
          </a:prstGeom>
        </p:spPr>
        <p:txBody>
          <a:bodyPr vert="horz" lIns="91440" tIns="45720" rIns="91440" bIns="45720" rtlCol="0">
            <a:normAutofit/>
          </a:bodyPr>
          <a:lstStyle/>
          <a:p>
            <a:pPr>
              <a:lnSpc>
                <a:spcPct val="90000"/>
              </a:lnSpc>
              <a:spcAft>
                <a:spcPts val="600"/>
              </a:spcAft>
            </a:pPr>
            <a:r>
              <a:rPr lang="en-US" sz="2000" b="1" dirty="0"/>
              <a:t>Tanya Irani — </a:t>
            </a:r>
          </a:p>
          <a:p>
            <a:pPr>
              <a:lnSpc>
                <a:spcPct val="90000"/>
              </a:lnSpc>
              <a:spcAft>
                <a:spcPts val="600"/>
              </a:spcAft>
            </a:pPr>
            <a:r>
              <a:rPr lang="en-US" sz="2000" b="1" dirty="0"/>
              <a:t>Case Study</a:t>
            </a:r>
            <a:br>
              <a:rPr lang="en-US" sz="2000" dirty="0"/>
            </a:br>
            <a:r>
              <a:rPr lang="en-US" sz="2000" i="1" dirty="0"/>
              <a:t>Intern, </a:t>
            </a:r>
            <a:r>
              <a:rPr lang="en-IN" sz="2000" i="1" dirty="0"/>
              <a:t>Operations Automation</a:t>
            </a:r>
            <a:r>
              <a:rPr lang="en-US" sz="2000" i="1" dirty="0"/>
              <a:t>, ShopBack</a:t>
            </a:r>
          </a:p>
          <a:p>
            <a:pPr>
              <a:lnSpc>
                <a:spcPct val="90000"/>
              </a:lnSpc>
              <a:spcAft>
                <a:spcPts val="600"/>
              </a:spcAft>
            </a:pPr>
            <a:endParaRPr lang="en-US" sz="2000" dirty="0"/>
          </a:p>
        </p:txBody>
      </p:sp>
      <p:sp>
        <p:nvSpPr>
          <p:cNvPr id="2" name="Rectangle 1">
            <a:extLst>
              <a:ext uri="{FF2B5EF4-FFF2-40B4-BE49-F238E27FC236}">
                <a16:creationId xmlns:a16="http://schemas.microsoft.com/office/drawing/2014/main" id="{914F3570-28EA-3684-A82E-1A77BC183441}"/>
              </a:ext>
            </a:extLst>
          </p:cNvPr>
          <p:cNvSpPr/>
          <p:nvPr/>
        </p:nvSpPr>
        <p:spPr>
          <a:xfrm>
            <a:off x="0" y="0"/>
            <a:ext cx="7772400" cy="6858000"/>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dirty="0"/>
          </a:p>
        </p:txBody>
      </p:sp>
      <p:pic>
        <p:nvPicPr>
          <p:cNvPr id="1030" name="Picture 6" descr="A message from Henry · ShopBack">
            <a:extLst>
              <a:ext uri="{FF2B5EF4-FFF2-40B4-BE49-F238E27FC236}">
                <a16:creationId xmlns:a16="http://schemas.microsoft.com/office/drawing/2014/main" id="{7D905CFF-2E5B-E50D-0CA0-73FE4F2B6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14404" y="1606776"/>
            <a:ext cx="5943591" cy="33432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03847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6D0398-93F9-A970-F924-87A5A46CF3E8}"/>
              </a:ext>
            </a:extLst>
          </p:cNvPr>
          <p:cNvSpPr>
            <a:spLocks noGrp="1"/>
          </p:cNvSpPr>
          <p:nvPr>
            <p:ph type="title"/>
          </p:nvPr>
        </p:nvSpPr>
        <p:spPr/>
        <p:txBody>
          <a:bodyPr/>
          <a:lstStyle/>
          <a:p>
            <a:r>
              <a:rPr lang="en-IN" dirty="0"/>
              <a:t>Current Workflow &amp; Challenges</a:t>
            </a:r>
            <a:endParaRPr lang="en-US" dirty="0"/>
          </a:p>
        </p:txBody>
      </p:sp>
      <p:sp>
        <p:nvSpPr>
          <p:cNvPr id="23" name="TextBox 22">
            <a:extLst>
              <a:ext uri="{FF2B5EF4-FFF2-40B4-BE49-F238E27FC236}">
                <a16:creationId xmlns:a16="http://schemas.microsoft.com/office/drawing/2014/main" id="{D8CC9664-8ED9-6AE8-D781-1ECE57A9A72E}"/>
              </a:ext>
            </a:extLst>
          </p:cNvPr>
          <p:cNvSpPr txBox="1"/>
          <p:nvPr/>
        </p:nvSpPr>
        <p:spPr>
          <a:xfrm>
            <a:off x="1301464" y="5510269"/>
            <a:ext cx="10013190" cy="338554"/>
          </a:xfrm>
          <a:prstGeom prst="rect">
            <a:avLst/>
          </a:prstGeom>
          <a:noFill/>
        </p:spPr>
        <p:txBody>
          <a:bodyPr wrap="none" rtlCol="0">
            <a:spAutoFit/>
          </a:bodyPr>
          <a:lstStyle/>
          <a:p>
            <a:r>
              <a:rPr lang="en-IN" sz="1600" b="1" dirty="0"/>
              <a:t>“Manual, repetitive workflows in logo onboarding cause delays, errors, and make the process unscalable.”</a:t>
            </a:r>
          </a:p>
        </p:txBody>
      </p:sp>
      <p:sp>
        <p:nvSpPr>
          <p:cNvPr id="24" name="Rectangle 23">
            <a:extLst>
              <a:ext uri="{FF2B5EF4-FFF2-40B4-BE49-F238E27FC236}">
                <a16:creationId xmlns:a16="http://schemas.microsoft.com/office/drawing/2014/main" id="{6993C9A2-8CA8-0571-3FE9-154F9C9ACE60}"/>
              </a:ext>
            </a:extLst>
          </p:cNvPr>
          <p:cNvSpPr/>
          <p:nvPr/>
        </p:nvSpPr>
        <p:spPr>
          <a:xfrm>
            <a:off x="359227" y="3594650"/>
            <a:ext cx="11406093" cy="288534"/>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Challenges</a:t>
            </a:r>
          </a:p>
        </p:txBody>
      </p:sp>
      <p:graphicFrame>
        <p:nvGraphicFramePr>
          <p:cNvPr id="37" name="Diagram 36">
            <a:extLst>
              <a:ext uri="{FF2B5EF4-FFF2-40B4-BE49-F238E27FC236}">
                <a16:creationId xmlns:a16="http://schemas.microsoft.com/office/drawing/2014/main" id="{B0085127-E62F-E440-8A22-85836AE19E90}"/>
              </a:ext>
            </a:extLst>
          </p:cNvPr>
          <p:cNvGraphicFramePr/>
          <p:nvPr>
            <p:extLst>
              <p:ext uri="{D42A27DB-BD31-4B8C-83A1-F6EECF244321}">
                <p14:modId xmlns:p14="http://schemas.microsoft.com/office/powerpoint/2010/main" val="3694039239"/>
              </p:ext>
            </p:extLst>
          </p:nvPr>
        </p:nvGraphicFramePr>
        <p:xfrm>
          <a:off x="359227" y="1283401"/>
          <a:ext cx="11406093" cy="17986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38" name="Table 37">
            <a:extLst>
              <a:ext uri="{FF2B5EF4-FFF2-40B4-BE49-F238E27FC236}">
                <a16:creationId xmlns:a16="http://schemas.microsoft.com/office/drawing/2014/main" id="{BD4BAA74-A8F1-FC50-5CF2-C5086212EECF}"/>
              </a:ext>
            </a:extLst>
          </p:cNvPr>
          <p:cNvGraphicFramePr>
            <a:graphicFrameLocks noGrp="1"/>
          </p:cNvGraphicFramePr>
          <p:nvPr>
            <p:extLst>
              <p:ext uri="{D42A27DB-BD31-4B8C-83A1-F6EECF244321}">
                <p14:modId xmlns:p14="http://schemas.microsoft.com/office/powerpoint/2010/main" val="2699356438"/>
              </p:ext>
            </p:extLst>
          </p:nvPr>
        </p:nvGraphicFramePr>
        <p:xfrm>
          <a:off x="1458686" y="4076000"/>
          <a:ext cx="9514115" cy="960120"/>
        </p:xfrm>
        <a:graphic>
          <a:graphicData uri="http://schemas.openxmlformats.org/drawingml/2006/table">
            <a:tbl>
              <a:tblPr firstRow="1" bandRow="1">
                <a:tableStyleId>{5C22544A-7EE6-4342-B048-85BDC9FD1C3A}</a:tableStyleId>
              </a:tblPr>
              <a:tblGrid>
                <a:gridCol w="5551714">
                  <a:extLst>
                    <a:ext uri="{9D8B030D-6E8A-4147-A177-3AD203B41FA5}">
                      <a16:colId xmlns:a16="http://schemas.microsoft.com/office/drawing/2014/main" val="1548109362"/>
                    </a:ext>
                  </a:extLst>
                </a:gridCol>
                <a:gridCol w="3962401">
                  <a:extLst>
                    <a:ext uri="{9D8B030D-6E8A-4147-A177-3AD203B41FA5}">
                      <a16:colId xmlns:a16="http://schemas.microsoft.com/office/drawing/2014/main" val="3198512829"/>
                    </a:ext>
                  </a:extLst>
                </a:gridCol>
              </a:tblGrid>
              <a:tr h="0">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500" b="0" dirty="0">
                          <a:solidFill>
                            <a:schemeClr val="tx1"/>
                          </a:solidFill>
                        </a:rPr>
                        <a:t>Manual, repetitive tasks → resizing + inversion</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500" b="0" dirty="0">
                          <a:solidFill>
                            <a:schemeClr val="tx1"/>
                          </a:solidFill>
                        </a:rPr>
                        <a:t>Errors → inconsistent quality</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5309310"/>
                  </a:ext>
                </a:extLst>
              </a:tr>
              <a:tr h="295433">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500" b="0" dirty="0">
                          <a:solidFill>
                            <a:schemeClr val="tx1"/>
                          </a:solidFill>
                        </a:rPr>
                        <a:t>Slow turnaround → delays brand activation</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500" b="0" dirty="0">
                          <a:solidFill>
                            <a:schemeClr val="tx1"/>
                          </a:solidFill>
                        </a:rPr>
                        <a:t>Not scalable → can’t handle growth</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18606797"/>
                  </a:ext>
                </a:extLst>
              </a:tr>
              <a:tr h="228756">
                <a:tc>
                  <a:txBody>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IN" sz="1500" b="0" dirty="0">
                          <a:solidFill>
                            <a:schemeClr val="tx1"/>
                          </a:solidFill>
                        </a:rPr>
                        <a:t>Too many handoffs → inefficiency</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285750" indent="-285750" algn="ctr">
                        <a:buFont typeface="Arial" panose="020B0604020202020204" pitchFamily="34" charset="0"/>
                        <a:buChar char="•"/>
                      </a:pPr>
                      <a:endParaRPr lang="en-US" sz="1500" b="0" dirty="0">
                        <a:solidFill>
                          <a:schemeClr val="tx1"/>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36849"/>
                  </a:ext>
                </a:extLst>
              </a:tr>
            </a:tbl>
          </a:graphicData>
        </a:graphic>
      </p:graphicFrame>
    </p:spTree>
    <p:extLst>
      <p:ext uri="{BB962C8B-B14F-4D97-AF65-F5344CB8AC3E}">
        <p14:creationId xmlns:p14="http://schemas.microsoft.com/office/powerpoint/2010/main" val="243033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9239925-4112-8A34-4FBD-4D2B40FF07D3}"/>
              </a:ext>
            </a:extLst>
          </p:cNvPr>
          <p:cNvSpPr>
            <a:spLocks noGrp="1"/>
          </p:cNvSpPr>
          <p:nvPr>
            <p:ph type="title"/>
          </p:nvPr>
        </p:nvSpPr>
        <p:spPr>
          <a:xfrm>
            <a:off x="537532" y="-12763"/>
            <a:ext cx="10202745" cy="761747"/>
          </a:xfrm>
        </p:spPr>
        <p:txBody>
          <a:bodyPr/>
          <a:lstStyle/>
          <a:p>
            <a:r>
              <a:rPr lang="en-SG" dirty="0"/>
              <a:t>Proposed Workflow</a:t>
            </a:r>
            <a:endParaRPr lang="en-US" dirty="0"/>
          </a:p>
        </p:txBody>
      </p:sp>
      <p:graphicFrame>
        <p:nvGraphicFramePr>
          <p:cNvPr id="2" name="Diagram 1">
            <a:extLst>
              <a:ext uri="{FF2B5EF4-FFF2-40B4-BE49-F238E27FC236}">
                <a16:creationId xmlns:a16="http://schemas.microsoft.com/office/drawing/2014/main" id="{4489321A-E309-C771-E204-D45F6FA17A7A}"/>
              </a:ext>
            </a:extLst>
          </p:cNvPr>
          <p:cNvGraphicFramePr/>
          <p:nvPr>
            <p:extLst>
              <p:ext uri="{D42A27DB-BD31-4B8C-83A1-F6EECF244321}">
                <p14:modId xmlns:p14="http://schemas.microsoft.com/office/powerpoint/2010/main" val="3804318302"/>
              </p:ext>
            </p:extLst>
          </p:nvPr>
        </p:nvGraphicFramePr>
        <p:xfrm>
          <a:off x="1009650" y="1260324"/>
          <a:ext cx="10409464" cy="433735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7" name="TextBox 16">
            <a:extLst>
              <a:ext uri="{FF2B5EF4-FFF2-40B4-BE49-F238E27FC236}">
                <a16:creationId xmlns:a16="http://schemas.microsoft.com/office/drawing/2014/main" id="{5218A7B0-52F7-AC98-B6BB-72E4FF5D1FDB}"/>
              </a:ext>
            </a:extLst>
          </p:cNvPr>
          <p:cNvSpPr txBox="1"/>
          <p:nvPr/>
        </p:nvSpPr>
        <p:spPr>
          <a:xfrm>
            <a:off x="1947182" y="5739684"/>
            <a:ext cx="8534400" cy="369332"/>
          </a:xfrm>
          <a:prstGeom prst="rect">
            <a:avLst/>
          </a:prstGeom>
          <a:noFill/>
        </p:spPr>
        <p:txBody>
          <a:bodyPr wrap="square">
            <a:spAutoFit/>
          </a:bodyPr>
          <a:lstStyle/>
          <a:p>
            <a:r>
              <a:rPr lang="en-IN" b="1" dirty="0"/>
              <a:t>“Automation streamlines onboarding, reduces manual work, and enables scale.”</a:t>
            </a:r>
            <a:endParaRPr lang="en-US" b="1" dirty="0"/>
          </a:p>
        </p:txBody>
      </p:sp>
    </p:spTree>
    <p:extLst>
      <p:ext uri="{BB962C8B-B14F-4D97-AF65-F5344CB8AC3E}">
        <p14:creationId xmlns:p14="http://schemas.microsoft.com/office/powerpoint/2010/main" val="3908921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798E2-68CD-BA18-EC14-3F0B188FE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527B6F-E2EA-E61F-157B-C57366E1EB56}"/>
              </a:ext>
            </a:extLst>
          </p:cNvPr>
          <p:cNvSpPr>
            <a:spLocks noGrp="1"/>
          </p:cNvSpPr>
          <p:nvPr>
            <p:ph type="title"/>
          </p:nvPr>
        </p:nvSpPr>
        <p:spPr/>
        <p:txBody>
          <a:bodyPr/>
          <a:lstStyle/>
          <a:p>
            <a:r>
              <a:rPr lang="en-IN" dirty="0"/>
              <a:t>Step 1: Merchant Upload Portal</a:t>
            </a:r>
            <a:endParaRPr lang="en-US" dirty="0"/>
          </a:p>
        </p:txBody>
      </p:sp>
      <p:sp>
        <p:nvSpPr>
          <p:cNvPr id="7" name="TextBox 6">
            <a:extLst>
              <a:ext uri="{FF2B5EF4-FFF2-40B4-BE49-F238E27FC236}">
                <a16:creationId xmlns:a16="http://schemas.microsoft.com/office/drawing/2014/main" id="{D1B712EE-426F-54B4-4813-2D0CDAE54E90}"/>
              </a:ext>
            </a:extLst>
          </p:cNvPr>
          <p:cNvSpPr txBox="1"/>
          <p:nvPr/>
        </p:nvSpPr>
        <p:spPr>
          <a:xfrm>
            <a:off x="199767" y="1873137"/>
            <a:ext cx="5540030" cy="1754326"/>
          </a:xfrm>
          <a:prstGeom prst="rect">
            <a:avLst/>
          </a:prstGeom>
          <a:solidFill>
            <a:schemeClr val="accent6">
              <a:lumMod val="20000"/>
              <a:lumOff val="80000"/>
            </a:schemeClr>
          </a:solidFill>
          <a:ln w="38100">
            <a:solidFill>
              <a:schemeClr val="accent2"/>
            </a:solidFill>
            <a:prstDash val="dash"/>
          </a:ln>
        </p:spPr>
        <p:txBody>
          <a:bodyPr wrap="square">
            <a:spAutoFit/>
          </a:bodyPr>
          <a:lstStyle/>
          <a:p>
            <a:pPr algn="ctr">
              <a:buNone/>
            </a:pPr>
            <a:r>
              <a:rPr lang="en-IN" sz="1200" b="1" dirty="0"/>
              <a:t>SIMPLE WEB PORTAL</a:t>
            </a:r>
            <a:endParaRPr lang="en-SG" sz="1200" b="1" dirty="0">
              <a:solidFill>
                <a:schemeClr val="tx2"/>
              </a:solidFill>
              <a:latin typeface="Arial" panose="020B0604020202020204" pitchFamily="34" charset="0"/>
              <a:cs typeface="Arial" panose="020B0604020202020204" pitchFamily="34" charset="0"/>
            </a:endParaRPr>
          </a:p>
          <a:p>
            <a:r>
              <a:rPr lang="en-IN" sz="1200" b="1" dirty="0"/>
              <a:t>Pros: </a:t>
            </a:r>
            <a:r>
              <a:rPr lang="en-IN" sz="1200" dirty="0"/>
              <a:t>	Quick to prototype and iterate</a:t>
            </a:r>
          </a:p>
          <a:p>
            <a:r>
              <a:rPr lang="en-IN" sz="1200" dirty="0"/>
              <a:t>	Easy for merchants to use — just upload and go</a:t>
            </a:r>
          </a:p>
          <a:p>
            <a:r>
              <a:rPr lang="en-IN" sz="1200" dirty="0"/>
              <a:t>	Allows custom validation rules (file type, size, dimensions)</a:t>
            </a:r>
            <a:br>
              <a:rPr lang="en-IN" sz="1200" dirty="0"/>
            </a:br>
            <a:r>
              <a:rPr lang="en-IN" sz="1200" dirty="0"/>
              <a:t> </a:t>
            </a:r>
            <a:r>
              <a:rPr lang="en-IN" sz="1200" b="1" dirty="0"/>
              <a:t>Cons :</a:t>
            </a:r>
            <a:r>
              <a:rPr lang="en-IN" sz="1200" dirty="0"/>
              <a:t>	Requires basic hosting and ongoing maintenance</a:t>
            </a:r>
          </a:p>
          <a:p>
            <a:r>
              <a:rPr lang="en-IN" sz="1200" b="1" i="1" dirty="0"/>
              <a:t>Reasoning:</a:t>
            </a:r>
            <a:br>
              <a:rPr lang="en-IN" sz="1200" dirty="0"/>
            </a:br>
            <a:r>
              <a:rPr lang="en-IN" sz="1200" dirty="0"/>
              <a:t>This option balances speed and flexibility. It can be developed as a lightweight MVP, tested quickly with Ops, and iterated on without heavy engineering investment.</a:t>
            </a:r>
          </a:p>
        </p:txBody>
      </p:sp>
      <p:sp>
        <p:nvSpPr>
          <p:cNvPr id="8" name="TextBox 7">
            <a:extLst>
              <a:ext uri="{FF2B5EF4-FFF2-40B4-BE49-F238E27FC236}">
                <a16:creationId xmlns:a16="http://schemas.microsoft.com/office/drawing/2014/main" id="{67C2EA8B-7255-6486-CB82-B45FA7DA2AB7}"/>
              </a:ext>
            </a:extLst>
          </p:cNvPr>
          <p:cNvSpPr txBox="1"/>
          <p:nvPr/>
        </p:nvSpPr>
        <p:spPr>
          <a:xfrm>
            <a:off x="5993024" y="3720415"/>
            <a:ext cx="5936302" cy="1754326"/>
          </a:xfrm>
          <a:prstGeom prst="rect">
            <a:avLst/>
          </a:prstGeom>
          <a:noFill/>
          <a:ln w="38100">
            <a:solidFill>
              <a:schemeClr val="accent2"/>
            </a:solidFill>
            <a:prstDash val="dash"/>
          </a:ln>
        </p:spPr>
        <p:txBody>
          <a:bodyPr wrap="square">
            <a:spAutoFit/>
          </a:bodyPr>
          <a:lstStyle/>
          <a:p>
            <a:pPr algn="ctr">
              <a:buNone/>
            </a:pPr>
            <a:r>
              <a:rPr lang="en-IN" sz="1200" b="1" dirty="0"/>
              <a:t>LOW – CODE TOOL</a:t>
            </a:r>
          </a:p>
          <a:p>
            <a:r>
              <a:rPr lang="en-IN" sz="1200" b="1" dirty="0"/>
              <a:t>Pros:</a:t>
            </a:r>
            <a:r>
              <a:rPr lang="en-IN" sz="1200" dirty="0"/>
              <a:t>	Very fast deployment with drag-and-drop design</a:t>
            </a:r>
            <a:br>
              <a:rPr lang="en-IN" sz="1200" dirty="0"/>
            </a:br>
            <a:r>
              <a:rPr lang="en-IN" sz="1200" dirty="0"/>
              <a:t>	Easy to integrate with spreadsheets or databases</a:t>
            </a:r>
            <a:br>
              <a:rPr lang="en-IN" sz="1200" dirty="0"/>
            </a:br>
            <a:r>
              <a:rPr lang="en-IN" sz="1200" b="1" dirty="0"/>
              <a:t>Cons:</a:t>
            </a:r>
            <a:r>
              <a:rPr lang="en-IN" sz="1200" dirty="0"/>
              <a:t>	Limited flexibility for custom validation (e.g., precise image dimension checks)</a:t>
            </a:r>
            <a:br>
              <a:rPr lang="en-IN" sz="1200" dirty="0"/>
            </a:br>
            <a:r>
              <a:rPr lang="en-IN" sz="1200" dirty="0"/>
              <a:t>	 Dependent on external vendor; harder to adapt for ShopBack’s needs</a:t>
            </a:r>
          </a:p>
          <a:p>
            <a:r>
              <a:rPr lang="en-IN" sz="1200" b="1" i="1" dirty="0"/>
              <a:t>Reasoning:</a:t>
            </a:r>
            <a:br>
              <a:rPr lang="en-IN" sz="1200" dirty="0"/>
            </a:br>
            <a:r>
              <a:rPr lang="en-IN" sz="1200" dirty="0"/>
              <a:t>Good for proof-of-concept or very small-scale pilots, but not ideal for ShopBack’s long-term needs where we need precise control over validation and scalability.</a:t>
            </a:r>
          </a:p>
        </p:txBody>
      </p:sp>
      <p:sp>
        <p:nvSpPr>
          <p:cNvPr id="9" name="TextBox 8">
            <a:extLst>
              <a:ext uri="{FF2B5EF4-FFF2-40B4-BE49-F238E27FC236}">
                <a16:creationId xmlns:a16="http://schemas.microsoft.com/office/drawing/2014/main" id="{21DBAEF5-5FB4-B154-E7B6-F67BEF898224}"/>
              </a:ext>
            </a:extLst>
          </p:cNvPr>
          <p:cNvSpPr txBox="1"/>
          <p:nvPr/>
        </p:nvSpPr>
        <p:spPr>
          <a:xfrm>
            <a:off x="5993024" y="1859340"/>
            <a:ext cx="5936302" cy="1569660"/>
          </a:xfrm>
          <a:prstGeom prst="rect">
            <a:avLst/>
          </a:prstGeom>
          <a:noFill/>
          <a:ln w="38100">
            <a:solidFill>
              <a:schemeClr val="accent2"/>
            </a:solidFill>
            <a:prstDash val="dash"/>
          </a:ln>
        </p:spPr>
        <p:txBody>
          <a:bodyPr wrap="square">
            <a:spAutoFit/>
          </a:bodyPr>
          <a:lstStyle/>
          <a:p>
            <a:pPr algn="ctr">
              <a:buNone/>
            </a:pPr>
            <a:r>
              <a:rPr lang="en-IN" sz="1200" b="1" dirty="0"/>
              <a:t>FULL INTEGRATION WITH ShopBack CMS</a:t>
            </a:r>
          </a:p>
          <a:p>
            <a:r>
              <a:rPr lang="en-IN" sz="1200" b="1" dirty="0"/>
              <a:t>Pros :</a:t>
            </a:r>
            <a:r>
              <a:rPr lang="en-IN" sz="1200" dirty="0"/>
              <a:t>	Seamless in the long run → directly part of merchant onboarding</a:t>
            </a:r>
            <a:br>
              <a:rPr lang="en-IN" sz="1200" dirty="0"/>
            </a:br>
            <a:r>
              <a:rPr lang="en-IN" sz="1200" dirty="0"/>
              <a:t>	Eliminates the need for a separate tool</a:t>
            </a:r>
            <a:br>
              <a:rPr lang="en-IN" sz="1200" dirty="0"/>
            </a:br>
            <a:r>
              <a:rPr lang="en-IN" sz="1200" b="1" dirty="0"/>
              <a:t>Cons: </a:t>
            </a:r>
            <a:r>
              <a:rPr lang="en-IN" sz="1200" dirty="0"/>
              <a:t>	Heavy engineering lift → not suited for MVP</a:t>
            </a:r>
          </a:p>
          <a:p>
            <a:r>
              <a:rPr lang="en-IN" sz="1200" b="1" dirty="0"/>
              <a:t>Assumption:</a:t>
            </a:r>
            <a:endParaRPr lang="en-IN" sz="1200" dirty="0"/>
          </a:p>
          <a:p>
            <a:r>
              <a:rPr lang="en-IN" sz="1200" i="1" dirty="0"/>
              <a:t>I am assuming ShopBack uses an internal backend or content management system (CMS) to manage merchant brand pages and assets. Integrating this workflow directly into that system would be the ideal end-state once the process is proven.</a:t>
            </a:r>
            <a:endParaRPr lang="en-IN" sz="1200" dirty="0"/>
          </a:p>
        </p:txBody>
      </p:sp>
      <p:sp>
        <p:nvSpPr>
          <p:cNvPr id="10" name="TextBox 9">
            <a:extLst>
              <a:ext uri="{FF2B5EF4-FFF2-40B4-BE49-F238E27FC236}">
                <a16:creationId xmlns:a16="http://schemas.microsoft.com/office/drawing/2014/main" id="{2D65F249-B14B-5046-D3A6-2D301D607313}"/>
              </a:ext>
            </a:extLst>
          </p:cNvPr>
          <p:cNvSpPr txBox="1"/>
          <p:nvPr/>
        </p:nvSpPr>
        <p:spPr>
          <a:xfrm>
            <a:off x="205771" y="3886629"/>
            <a:ext cx="5540030" cy="1569660"/>
          </a:xfrm>
          <a:prstGeom prst="rect">
            <a:avLst/>
          </a:prstGeom>
          <a:noFill/>
          <a:ln w="38100">
            <a:solidFill>
              <a:schemeClr val="accent2"/>
            </a:solidFill>
            <a:prstDash val="dash"/>
          </a:ln>
        </p:spPr>
        <p:txBody>
          <a:bodyPr wrap="square">
            <a:spAutoFit/>
          </a:bodyPr>
          <a:lstStyle/>
          <a:p>
            <a:pPr algn="ctr"/>
            <a:r>
              <a:rPr lang="en-IN" sz="1200" b="1" dirty="0"/>
              <a:t>EXTERNAL FILE UPLAOD SERVICE</a:t>
            </a:r>
          </a:p>
          <a:p>
            <a:r>
              <a:rPr lang="en-IN" sz="1200" b="1" dirty="0"/>
              <a:t>Pros:</a:t>
            </a:r>
            <a:r>
              <a:rPr lang="en-IN" sz="1200" dirty="0"/>
              <a:t>	Very quick setup (days, not weeks)</a:t>
            </a:r>
            <a:br>
              <a:rPr lang="en-IN" sz="1200" dirty="0"/>
            </a:br>
            <a:r>
              <a:rPr lang="en-IN" sz="1200" dirty="0"/>
              <a:t>	Familiar to many users</a:t>
            </a:r>
            <a:br>
              <a:rPr lang="en-IN" sz="1200" dirty="0"/>
            </a:br>
            <a:r>
              <a:rPr lang="en-IN" sz="1200" b="1" dirty="0"/>
              <a:t>Cons:</a:t>
            </a:r>
            <a:r>
              <a:rPr lang="en-IN" sz="1200" dirty="0"/>
              <a:t>	Minimal control over validation</a:t>
            </a:r>
            <a:br>
              <a:rPr lang="en-IN" sz="1200" dirty="0"/>
            </a:br>
            <a:r>
              <a:rPr lang="en-IN" sz="1200" dirty="0"/>
              <a:t>	Files still inconsistent; Ops workload remains high</a:t>
            </a:r>
          </a:p>
          <a:p>
            <a:r>
              <a:rPr lang="en-IN" sz="1200" b="1" i="1" dirty="0"/>
              <a:t>Reasoning:</a:t>
            </a:r>
            <a:br>
              <a:rPr lang="en-IN" sz="1200" dirty="0"/>
            </a:br>
            <a:r>
              <a:rPr lang="en-IN" sz="1200" dirty="0"/>
              <a:t>Does not address the real issue of inconsistent inputs. It does not solve the core issue of </a:t>
            </a:r>
            <a:r>
              <a:rPr lang="en-IN" sz="1200" b="1" dirty="0"/>
              <a:t>standardizing inputs</a:t>
            </a:r>
            <a:endParaRPr lang="en-IN" sz="1200" dirty="0"/>
          </a:p>
        </p:txBody>
      </p:sp>
      <p:pic>
        <p:nvPicPr>
          <p:cNvPr id="12" name="Graphic 11" descr="Tick with solid fill">
            <a:extLst>
              <a:ext uri="{FF2B5EF4-FFF2-40B4-BE49-F238E27FC236}">
                <a16:creationId xmlns:a16="http://schemas.microsoft.com/office/drawing/2014/main" id="{722CF3C4-5A51-ABD4-B014-37C684290E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78158" y="1803293"/>
            <a:ext cx="627737" cy="627737"/>
          </a:xfrm>
          <a:prstGeom prst="rect">
            <a:avLst/>
          </a:prstGeom>
        </p:spPr>
      </p:pic>
      <p:sp>
        <p:nvSpPr>
          <p:cNvPr id="14" name="TextBox 13">
            <a:extLst>
              <a:ext uri="{FF2B5EF4-FFF2-40B4-BE49-F238E27FC236}">
                <a16:creationId xmlns:a16="http://schemas.microsoft.com/office/drawing/2014/main" id="{25913F69-9FEB-C096-9E6B-835A2C8DE8F8}"/>
              </a:ext>
            </a:extLst>
          </p:cNvPr>
          <p:cNvSpPr txBox="1"/>
          <p:nvPr/>
        </p:nvSpPr>
        <p:spPr>
          <a:xfrm>
            <a:off x="298878" y="5799877"/>
            <a:ext cx="11746741" cy="553998"/>
          </a:xfrm>
          <a:prstGeom prst="rect">
            <a:avLst/>
          </a:prstGeom>
          <a:noFill/>
        </p:spPr>
        <p:txBody>
          <a:bodyPr wrap="square">
            <a:spAutoFit/>
          </a:bodyPr>
          <a:lstStyle/>
          <a:p>
            <a:r>
              <a:rPr lang="en-IN" sz="1500" dirty="0"/>
              <a:t>Recommendation: Start with a Simple Web Portal MVP for quick wins, and plan integration into ShopBack’s internal backend system once validated.</a:t>
            </a:r>
            <a:endParaRPr lang="en-US" sz="1500" dirty="0"/>
          </a:p>
        </p:txBody>
      </p:sp>
      <p:grpSp>
        <p:nvGrpSpPr>
          <p:cNvPr id="3" name="Group 2">
            <a:extLst>
              <a:ext uri="{FF2B5EF4-FFF2-40B4-BE49-F238E27FC236}">
                <a16:creationId xmlns:a16="http://schemas.microsoft.com/office/drawing/2014/main" id="{EBC76263-0A11-981B-47FB-97F3C2AB6537}"/>
              </a:ext>
            </a:extLst>
          </p:cNvPr>
          <p:cNvGrpSpPr/>
          <p:nvPr/>
        </p:nvGrpSpPr>
        <p:grpSpPr>
          <a:xfrm>
            <a:off x="244574" y="880198"/>
            <a:ext cx="11899241" cy="861785"/>
            <a:chOff x="146378" y="865231"/>
            <a:chExt cx="11899241" cy="861785"/>
          </a:xfrm>
        </p:grpSpPr>
        <p:sp>
          <p:nvSpPr>
            <p:cNvPr id="11" name="Rectangle: Rounded Corners 28">
              <a:extLst>
                <a:ext uri="{FF2B5EF4-FFF2-40B4-BE49-F238E27FC236}">
                  <a16:creationId xmlns:a16="http://schemas.microsoft.com/office/drawing/2014/main" id="{A0A9A7B9-6B45-4435-7509-69ED59699259}"/>
                </a:ext>
              </a:extLst>
            </p:cNvPr>
            <p:cNvSpPr/>
            <p:nvPr/>
          </p:nvSpPr>
          <p:spPr>
            <a:xfrm>
              <a:off x="146378" y="865231"/>
              <a:ext cx="11899241" cy="86178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00" dirty="0">
                <a:solidFill>
                  <a:schemeClr val="tx1"/>
                </a:solidFill>
              </a:endParaRPr>
            </a:p>
            <a:p>
              <a:pPr marL="1200150" lvl="2" indent="-285750">
                <a:buFont typeface="Arial" panose="020B0604020202020204" pitchFamily="34" charset="0"/>
                <a:buChar char="•"/>
              </a:pPr>
              <a:r>
                <a:rPr lang="en-IN" sz="1300" dirty="0">
                  <a:solidFill>
                    <a:sysClr val="windowText" lastClr="000000"/>
                  </a:solidFill>
                </a:rPr>
                <a:t>Accepts only supported formats (PNG/JPG</a:t>
              </a:r>
            </a:p>
            <a:p>
              <a:pPr marL="1200150" lvl="2" indent="-285750">
                <a:buFont typeface="Arial" panose="020B0604020202020204" pitchFamily="34" charset="0"/>
                <a:buChar char="•"/>
              </a:pPr>
              <a:r>
                <a:rPr lang="en-IN" sz="1300" dirty="0">
                  <a:solidFill>
                    <a:sysClr val="windowText" lastClr="000000"/>
                  </a:solidFill>
                </a:rPr>
                <a:t>Enforces dimension and file-size checks</a:t>
              </a:r>
            </a:p>
            <a:p>
              <a:pPr marL="1200150" lvl="2" indent="-285750">
                <a:buFont typeface="Arial" panose="020B0604020202020204" pitchFamily="34" charset="0"/>
                <a:buChar char="•"/>
              </a:pPr>
              <a:r>
                <a:rPr lang="en-IN" sz="1300" dirty="0">
                  <a:solidFill>
                    <a:schemeClr val="tx1"/>
                  </a:solidFill>
                </a:rPr>
                <a:t>Provides clean, standardized inputs for downstream automation</a:t>
              </a:r>
            </a:p>
          </p:txBody>
        </p:sp>
        <p:sp>
          <p:nvSpPr>
            <p:cNvPr id="13" name="TextBox 12">
              <a:extLst>
                <a:ext uri="{FF2B5EF4-FFF2-40B4-BE49-F238E27FC236}">
                  <a16:creationId xmlns:a16="http://schemas.microsoft.com/office/drawing/2014/main" id="{62A4C2A6-43D7-30F5-B8A9-58BD4261AF52}"/>
                </a:ext>
              </a:extLst>
            </p:cNvPr>
            <p:cNvSpPr txBox="1"/>
            <p:nvPr/>
          </p:nvSpPr>
          <p:spPr>
            <a:xfrm>
              <a:off x="6502358" y="999236"/>
              <a:ext cx="5529943" cy="492443"/>
            </a:xfrm>
            <a:prstGeom prst="rect">
              <a:avLst/>
            </a:prstGeom>
            <a:noFill/>
          </p:spPr>
          <p:txBody>
            <a:bodyPr wrap="square" rtlCol="0">
              <a:spAutoFit/>
            </a:bodyPr>
            <a:lstStyle/>
            <a:p>
              <a:pPr marL="285750" indent="-285750">
                <a:buFont typeface="Arial" panose="020B0604020202020204" pitchFamily="34" charset="0"/>
                <a:buChar char="•"/>
              </a:pPr>
              <a:r>
                <a:rPr lang="en-IN" sz="1300" dirty="0">
                  <a:solidFill>
                    <a:sysClr val="windowText" lastClr="000000"/>
                  </a:solidFill>
                </a:rPr>
                <a:t>Auto-names files with </a:t>
              </a:r>
              <a:r>
                <a:rPr lang="en-IN" sz="1300" b="1" dirty="0">
                  <a:solidFill>
                    <a:sysClr val="windowText" lastClr="000000"/>
                  </a:solidFill>
                </a:rPr>
                <a:t>brand_id</a:t>
              </a:r>
              <a:r>
                <a:rPr lang="en-IN" sz="1300" dirty="0">
                  <a:solidFill>
                    <a:sysClr val="windowText" lastClr="000000"/>
                  </a:solidFill>
                </a:rPr>
                <a:t> for traceability</a:t>
              </a:r>
            </a:p>
            <a:p>
              <a:pPr marL="285750" indent="-285750">
                <a:buFont typeface="Arial" panose="020B0604020202020204" pitchFamily="34" charset="0"/>
                <a:buChar char="•"/>
              </a:pPr>
              <a:r>
                <a:rPr lang="en-IN" sz="1300" dirty="0">
                  <a:solidFill>
                    <a:sysClr val="windowText" lastClr="000000"/>
                  </a:solidFill>
                </a:rPr>
                <a:t>Stores metadata (upload time, merchant ID) for Ops monitoring</a:t>
              </a:r>
            </a:p>
          </p:txBody>
        </p:sp>
        <p:sp>
          <p:nvSpPr>
            <p:cNvPr id="15" name="TextBox 14">
              <a:extLst>
                <a:ext uri="{FF2B5EF4-FFF2-40B4-BE49-F238E27FC236}">
                  <a16:creationId xmlns:a16="http://schemas.microsoft.com/office/drawing/2014/main" id="{F271C5BB-8E48-3078-AB29-9EA1F63FE7EB}"/>
                </a:ext>
              </a:extLst>
            </p:cNvPr>
            <p:cNvSpPr txBox="1"/>
            <p:nvPr/>
          </p:nvSpPr>
          <p:spPr>
            <a:xfrm>
              <a:off x="4989244" y="865231"/>
              <a:ext cx="1513114" cy="323165"/>
            </a:xfrm>
            <a:prstGeom prst="rect">
              <a:avLst/>
            </a:prstGeom>
            <a:noFill/>
          </p:spPr>
          <p:txBody>
            <a:bodyPr wrap="square" rtlCol="0">
              <a:spAutoFit/>
            </a:bodyPr>
            <a:lstStyle/>
            <a:p>
              <a:r>
                <a:rPr lang="en-US" sz="1500" dirty="0"/>
                <a:t>Key features</a:t>
              </a:r>
            </a:p>
          </p:txBody>
        </p:sp>
      </p:grpSp>
    </p:spTree>
    <p:extLst>
      <p:ext uri="{BB962C8B-B14F-4D97-AF65-F5344CB8AC3E}">
        <p14:creationId xmlns:p14="http://schemas.microsoft.com/office/powerpoint/2010/main" val="17962371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C25E1D-D1C1-4BEC-03F1-4E9E65AF5F01}"/>
              </a:ext>
            </a:extLst>
          </p:cNvPr>
          <p:cNvSpPr>
            <a:spLocks noGrp="1"/>
          </p:cNvSpPr>
          <p:nvPr>
            <p:ph type="title"/>
          </p:nvPr>
        </p:nvSpPr>
        <p:spPr/>
        <p:txBody>
          <a:bodyPr/>
          <a:lstStyle/>
          <a:p>
            <a:r>
              <a:rPr lang="en-IN" dirty="0"/>
              <a:t>Step 2: Automation Service</a:t>
            </a:r>
            <a:endParaRPr lang="en-US" dirty="0"/>
          </a:p>
        </p:txBody>
      </p:sp>
      <p:sp>
        <p:nvSpPr>
          <p:cNvPr id="7" name="TextBox 6">
            <a:extLst>
              <a:ext uri="{FF2B5EF4-FFF2-40B4-BE49-F238E27FC236}">
                <a16:creationId xmlns:a16="http://schemas.microsoft.com/office/drawing/2014/main" id="{77D2C187-A4D8-3D80-29A5-0C85B967E438}"/>
              </a:ext>
            </a:extLst>
          </p:cNvPr>
          <p:cNvSpPr txBox="1"/>
          <p:nvPr/>
        </p:nvSpPr>
        <p:spPr>
          <a:xfrm>
            <a:off x="3325983" y="3923070"/>
            <a:ext cx="5540030" cy="1569660"/>
          </a:xfrm>
          <a:prstGeom prst="rect">
            <a:avLst/>
          </a:prstGeom>
          <a:solidFill>
            <a:schemeClr val="accent6">
              <a:lumMod val="20000"/>
              <a:lumOff val="80000"/>
            </a:schemeClr>
          </a:solidFill>
          <a:ln w="38100">
            <a:solidFill>
              <a:schemeClr val="accent2"/>
            </a:solidFill>
            <a:prstDash val="dash"/>
          </a:ln>
        </p:spPr>
        <p:txBody>
          <a:bodyPr wrap="square">
            <a:spAutoFit/>
          </a:bodyPr>
          <a:lstStyle/>
          <a:p>
            <a:pPr algn="ctr"/>
            <a:r>
              <a:rPr lang="en-IN" sz="1200" b="1" dirty="0"/>
              <a:t>IN HOUSE SCRIPT</a:t>
            </a:r>
          </a:p>
          <a:p>
            <a:r>
              <a:rPr lang="en-IN" sz="1200" b="1" dirty="0"/>
              <a:t>Pros:</a:t>
            </a:r>
            <a:r>
              <a:rPr lang="en-IN" sz="1200" dirty="0"/>
              <a:t>	 Full flexibility → can enforce brand rules (e.g., formats, dimensions)</a:t>
            </a:r>
            <a:br>
              <a:rPr lang="en-IN" sz="1200" dirty="0"/>
            </a:br>
            <a:r>
              <a:rPr lang="en-IN" sz="1200" dirty="0"/>
              <a:t>	Easy to extend (e.g., metadata manifest, new formats later)</a:t>
            </a:r>
            <a:br>
              <a:rPr lang="en-IN" sz="1200" dirty="0"/>
            </a:br>
            <a:r>
              <a:rPr lang="en-IN" sz="1200" dirty="0"/>
              <a:t>	Can be tightly integrated with portal + backend</a:t>
            </a:r>
            <a:br>
              <a:rPr lang="en-IN" sz="1200" dirty="0"/>
            </a:br>
            <a:r>
              <a:rPr lang="en-IN" sz="1200" b="1" dirty="0"/>
              <a:t>Cons:</a:t>
            </a:r>
            <a:r>
              <a:rPr lang="en-IN" sz="1200" dirty="0"/>
              <a:t>	Requires some initial coding + maintenance</a:t>
            </a:r>
          </a:p>
          <a:p>
            <a:r>
              <a:rPr lang="en-IN" sz="1200" b="1" dirty="0"/>
              <a:t>Reasoning:</a:t>
            </a:r>
            <a:br>
              <a:rPr lang="en-IN" sz="1200" dirty="0"/>
            </a:br>
            <a:r>
              <a:rPr lang="en-IN" sz="1200" dirty="0"/>
              <a:t>Best balance of flexibility and control. Ensures outputs are predictable and fully traceable. Fits ShopBack’s need for </a:t>
            </a:r>
            <a:r>
              <a:rPr lang="en-IN" sz="1200" b="1" dirty="0"/>
              <a:t>scalability + custom validation</a:t>
            </a:r>
            <a:r>
              <a:rPr lang="en-IN" sz="1200" dirty="0"/>
              <a:t>.</a:t>
            </a:r>
          </a:p>
        </p:txBody>
      </p:sp>
      <p:sp>
        <p:nvSpPr>
          <p:cNvPr id="9" name="TextBox 8">
            <a:extLst>
              <a:ext uri="{FF2B5EF4-FFF2-40B4-BE49-F238E27FC236}">
                <a16:creationId xmlns:a16="http://schemas.microsoft.com/office/drawing/2014/main" id="{DE9D9304-D746-73A5-4A7D-81132AA260A3}"/>
              </a:ext>
            </a:extLst>
          </p:cNvPr>
          <p:cNvSpPr txBox="1"/>
          <p:nvPr/>
        </p:nvSpPr>
        <p:spPr>
          <a:xfrm>
            <a:off x="5949221" y="1838360"/>
            <a:ext cx="6083079" cy="1754326"/>
          </a:xfrm>
          <a:prstGeom prst="rect">
            <a:avLst/>
          </a:prstGeom>
          <a:noFill/>
          <a:ln w="38100">
            <a:solidFill>
              <a:schemeClr val="accent2"/>
            </a:solidFill>
            <a:prstDash val="dash"/>
          </a:ln>
        </p:spPr>
        <p:txBody>
          <a:bodyPr wrap="square">
            <a:spAutoFit/>
          </a:bodyPr>
          <a:lstStyle/>
          <a:p>
            <a:pPr algn="ctr">
              <a:buNone/>
            </a:pPr>
            <a:r>
              <a:rPr lang="en-IN" sz="1200" b="1" dirty="0"/>
              <a:t>OFF-THE-SHELF IMAGE PROCESSING LIBRARY / API</a:t>
            </a:r>
          </a:p>
          <a:p>
            <a:r>
              <a:rPr lang="en-IN" sz="1200" b="1" dirty="0"/>
              <a:t>Pros:</a:t>
            </a:r>
            <a:r>
              <a:rPr lang="en-IN" sz="1200" dirty="0"/>
              <a:t>	Very quick to implement, APIs already handle resizing and variants</a:t>
            </a:r>
            <a:br>
              <a:rPr lang="en-IN" sz="1200" dirty="0"/>
            </a:br>
            <a:r>
              <a:rPr lang="en-IN" sz="1200" dirty="0"/>
              <a:t>	 Includes CDN options for delivery (bonus if needed later)</a:t>
            </a:r>
            <a:br>
              <a:rPr lang="en-IN" sz="1200" dirty="0"/>
            </a:br>
            <a:r>
              <a:rPr lang="en-IN" sz="1200" b="1" dirty="0"/>
              <a:t>Cons:</a:t>
            </a:r>
            <a:r>
              <a:rPr lang="en-IN" sz="1200" dirty="0"/>
              <a:t>	 Vendor lock-in, recurring cost per file</a:t>
            </a:r>
            <a:br>
              <a:rPr lang="en-IN" sz="1200" dirty="0"/>
            </a:br>
            <a:r>
              <a:rPr lang="en-IN" sz="1200" dirty="0"/>
              <a:t>	 Limited ability to enforce </a:t>
            </a:r>
            <a:r>
              <a:rPr lang="en-IN" sz="1200" i="1" dirty="0"/>
              <a:t>ShopBack-specific validation rules</a:t>
            </a:r>
            <a:br>
              <a:rPr lang="en-IN" sz="1200" dirty="0"/>
            </a:br>
            <a:r>
              <a:rPr lang="en-IN" sz="1200" dirty="0"/>
              <a:t>	 Metadata integration may be partial / manual</a:t>
            </a:r>
          </a:p>
          <a:p>
            <a:r>
              <a:rPr lang="en-IN" sz="1200" b="1" dirty="0"/>
              <a:t>Reasoning:</a:t>
            </a:r>
            <a:br>
              <a:rPr lang="en-IN" sz="1200" dirty="0"/>
            </a:br>
            <a:r>
              <a:rPr lang="en-IN" sz="1200" dirty="0"/>
              <a:t>Good for MVP speed, but Ops would lose </a:t>
            </a:r>
            <a:r>
              <a:rPr lang="en-IN" sz="1200" b="1" dirty="0"/>
              <a:t>fine-grained control</a:t>
            </a:r>
            <a:r>
              <a:rPr lang="en-IN" sz="1200" dirty="0"/>
              <a:t>. Costs can grow with scale.</a:t>
            </a:r>
          </a:p>
        </p:txBody>
      </p:sp>
      <p:sp>
        <p:nvSpPr>
          <p:cNvPr id="10" name="TextBox 9">
            <a:extLst>
              <a:ext uri="{FF2B5EF4-FFF2-40B4-BE49-F238E27FC236}">
                <a16:creationId xmlns:a16="http://schemas.microsoft.com/office/drawing/2014/main" id="{F9B8B24E-A2DC-8D02-0CB5-F0BDDE02ABEB}"/>
              </a:ext>
            </a:extLst>
          </p:cNvPr>
          <p:cNvSpPr txBox="1"/>
          <p:nvPr/>
        </p:nvSpPr>
        <p:spPr>
          <a:xfrm>
            <a:off x="298879" y="1845900"/>
            <a:ext cx="5499756" cy="1754326"/>
          </a:xfrm>
          <a:prstGeom prst="rect">
            <a:avLst/>
          </a:prstGeom>
          <a:noFill/>
          <a:ln w="38100">
            <a:solidFill>
              <a:schemeClr val="accent2"/>
            </a:solidFill>
            <a:prstDash val="dash"/>
          </a:ln>
        </p:spPr>
        <p:txBody>
          <a:bodyPr wrap="square">
            <a:spAutoFit/>
          </a:bodyPr>
          <a:lstStyle/>
          <a:p>
            <a:pPr algn="ctr"/>
            <a:r>
              <a:rPr lang="en-IN" sz="1200" b="1" dirty="0"/>
              <a:t>LOW-CODE AUTOMATION TOOL </a:t>
            </a:r>
          </a:p>
          <a:p>
            <a:r>
              <a:rPr lang="en-IN" sz="1200" b="1" dirty="0"/>
              <a:t>Pros :</a:t>
            </a:r>
            <a:r>
              <a:rPr lang="en-IN" sz="1200" dirty="0"/>
              <a:t>	Fast deployment with drag-and-drop flows</a:t>
            </a:r>
            <a:br>
              <a:rPr lang="en-IN" sz="1200" dirty="0"/>
            </a:br>
            <a:r>
              <a:rPr lang="en-IN" sz="1200" dirty="0"/>
              <a:t>	Easy to connect with cloud storage or email</a:t>
            </a:r>
            <a:br>
              <a:rPr lang="en-IN" sz="1200" dirty="0"/>
            </a:br>
            <a:r>
              <a:rPr lang="en-IN" sz="1200" b="1" dirty="0"/>
              <a:t>Cons:</a:t>
            </a:r>
            <a:r>
              <a:rPr lang="en-IN" sz="1200" dirty="0"/>
              <a:t>	 Weak at image-specific tasks (e.g., brand-safe inversion)</a:t>
            </a:r>
            <a:br>
              <a:rPr lang="en-IN" sz="1200" dirty="0"/>
            </a:br>
            <a:r>
              <a:rPr lang="en-IN" sz="1200" dirty="0"/>
              <a:t>	Doesn’t scale well for large merchant volumes</a:t>
            </a:r>
            <a:br>
              <a:rPr lang="en-IN" sz="1200" dirty="0"/>
            </a:br>
            <a:r>
              <a:rPr lang="en-IN" sz="1200" dirty="0"/>
              <a:t>	Limited support for structured metadata generation</a:t>
            </a:r>
          </a:p>
          <a:p>
            <a:r>
              <a:rPr lang="en-IN" sz="1200" b="1" dirty="0"/>
              <a:t>Reasoning:</a:t>
            </a:r>
            <a:br>
              <a:rPr lang="en-IN" sz="1200" dirty="0"/>
            </a:br>
            <a:r>
              <a:rPr lang="en-IN" sz="1200" dirty="0"/>
              <a:t>Fine for proof-of-concept, but not sustainable for production. </a:t>
            </a:r>
            <a:r>
              <a:rPr lang="en-IN" sz="1200" b="1" dirty="0"/>
              <a:t>Image quality and validation</a:t>
            </a:r>
            <a:r>
              <a:rPr lang="en-IN" sz="1200" dirty="0"/>
              <a:t> risks remain.</a:t>
            </a:r>
          </a:p>
        </p:txBody>
      </p:sp>
      <p:pic>
        <p:nvPicPr>
          <p:cNvPr id="12" name="Graphic 11" descr="Tick with solid fill">
            <a:extLst>
              <a:ext uri="{FF2B5EF4-FFF2-40B4-BE49-F238E27FC236}">
                <a16:creationId xmlns:a16="http://schemas.microsoft.com/office/drawing/2014/main" id="{723A5181-CA96-19E7-F9DA-06FC956F76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52144" y="3680933"/>
            <a:ext cx="627737" cy="627737"/>
          </a:xfrm>
          <a:prstGeom prst="rect">
            <a:avLst/>
          </a:prstGeom>
        </p:spPr>
      </p:pic>
      <p:sp>
        <p:nvSpPr>
          <p:cNvPr id="14" name="TextBox 13">
            <a:extLst>
              <a:ext uri="{FF2B5EF4-FFF2-40B4-BE49-F238E27FC236}">
                <a16:creationId xmlns:a16="http://schemas.microsoft.com/office/drawing/2014/main" id="{084978B0-F98E-C308-6CFA-2A6C2000CA90}"/>
              </a:ext>
            </a:extLst>
          </p:cNvPr>
          <p:cNvSpPr txBox="1"/>
          <p:nvPr/>
        </p:nvSpPr>
        <p:spPr>
          <a:xfrm>
            <a:off x="298879" y="5623437"/>
            <a:ext cx="11746741" cy="738664"/>
          </a:xfrm>
          <a:prstGeom prst="rect">
            <a:avLst/>
          </a:prstGeom>
          <a:noFill/>
        </p:spPr>
        <p:txBody>
          <a:bodyPr wrap="square">
            <a:spAutoFit/>
          </a:bodyPr>
          <a:lstStyle/>
          <a:p>
            <a:r>
              <a:rPr lang="en-IN" sz="1400" dirty="0"/>
              <a:t>Recommendation: Start with an </a:t>
            </a:r>
            <a:r>
              <a:rPr lang="en-IN" sz="1400" b="1" dirty="0"/>
              <a:t>in-house automation script/service</a:t>
            </a:r>
            <a:r>
              <a:rPr lang="en-IN" sz="1400" dirty="0"/>
              <a:t> (e.g., Python + Pillow or OpenCV).</a:t>
            </a:r>
            <a:br>
              <a:rPr lang="en-IN" sz="1400" dirty="0"/>
            </a:br>
            <a:r>
              <a:rPr lang="en-IN" sz="1400" dirty="0"/>
              <a:t>Generate all file variants + metadata manifest automatically. Later, explore </a:t>
            </a:r>
            <a:r>
              <a:rPr lang="en-IN" sz="1400" b="1" dirty="0"/>
              <a:t>API integration (</a:t>
            </a:r>
            <a:r>
              <a:rPr lang="en-IN" sz="1400" b="1" dirty="0" err="1"/>
              <a:t>Cloudinary</a:t>
            </a:r>
            <a:r>
              <a:rPr lang="en-IN" sz="1400" b="1" dirty="0"/>
              <a:t>/</a:t>
            </a:r>
            <a:r>
              <a:rPr lang="en-IN" sz="1400" b="1" dirty="0" err="1"/>
              <a:t>Imgix</a:t>
            </a:r>
            <a:r>
              <a:rPr lang="en-IN" sz="1400" b="1" dirty="0"/>
              <a:t>)</a:t>
            </a:r>
            <a:r>
              <a:rPr lang="en-IN" sz="1400" dirty="0"/>
              <a:t> if delivery/CDN features become important.</a:t>
            </a:r>
            <a:endParaRPr lang="en-US" sz="1400" dirty="0"/>
          </a:p>
        </p:txBody>
      </p:sp>
      <p:grpSp>
        <p:nvGrpSpPr>
          <p:cNvPr id="11" name="Group 10">
            <a:extLst>
              <a:ext uri="{FF2B5EF4-FFF2-40B4-BE49-F238E27FC236}">
                <a16:creationId xmlns:a16="http://schemas.microsoft.com/office/drawing/2014/main" id="{9EF7393C-683F-3116-17C3-672E219FCEAD}"/>
              </a:ext>
            </a:extLst>
          </p:cNvPr>
          <p:cNvGrpSpPr/>
          <p:nvPr/>
        </p:nvGrpSpPr>
        <p:grpSpPr>
          <a:xfrm>
            <a:off x="292759" y="861121"/>
            <a:ext cx="11739541" cy="888992"/>
            <a:chOff x="146378" y="838024"/>
            <a:chExt cx="11899241" cy="888992"/>
          </a:xfrm>
        </p:grpSpPr>
        <p:sp>
          <p:nvSpPr>
            <p:cNvPr id="13" name="Rectangle: Rounded Corners 28">
              <a:extLst>
                <a:ext uri="{FF2B5EF4-FFF2-40B4-BE49-F238E27FC236}">
                  <a16:creationId xmlns:a16="http://schemas.microsoft.com/office/drawing/2014/main" id="{EA3986EC-66D3-51E7-F40E-A095EA0D872A}"/>
                </a:ext>
              </a:extLst>
            </p:cNvPr>
            <p:cNvSpPr/>
            <p:nvPr/>
          </p:nvSpPr>
          <p:spPr>
            <a:xfrm>
              <a:off x="146378" y="865231"/>
              <a:ext cx="11899241" cy="86178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sz="1300" dirty="0">
                <a:solidFill>
                  <a:schemeClr val="tx1"/>
                </a:solidFill>
              </a:endParaRPr>
            </a:p>
            <a:p>
              <a:pPr marL="285750" indent="-285750">
                <a:buFont typeface="Arial" panose="020B0604020202020204" pitchFamily="34" charset="0"/>
                <a:buChar char="•"/>
              </a:pPr>
              <a:r>
                <a:rPr lang="en-IN" sz="1300" dirty="0">
                  <a:solidFill>
                    <a:schemeClr val="tx1"/>
                  </a:solidFill>
                </a:rPr>
                <a:t>Resizes logos automatically into required formats (500×500, 1000×1000, 1500×1000).</a:t>
              </a:r>
            </a:p>
            <a:p>
              <a:pPr marL="285750" indent="-285750">
                <a:buFont typeface="Arial" panose="020B0604020202020204" pitchFamily="34" charset="0"/>
                <a:buChar char="•"/>
              </a:pPr>
              <a:r>
                <a:rPr lang="en-IN" sz="1300" dirty="0">
                  <a:solidFill>
                    <a:schemeClr val="tx1"/>
                  </a:solidFill>
                </a:rPr>
                <a:t>Generates alternative logo on black background.</a:t>
              </a:r>
            </a:p>
          </p:txBody>
        </p:sp>
        <p:sp>
          <p:nvSpPr>
            <p:cNvPr id="15" name="TextBox 14">
              <a:extLst>
                <a:ext uri="{FF2B5EF4-FFF2-40B4-BE49-F238E27FC236}">
                  <a16:creationId xmlns:a16="http://schemas.microsoft.com/office/drawing/2014/main" id="{459C103F-3497-69E7-DC30-D6CBDFE27349}"/>
                </a:ext>
              </a:extLst>
            </p:cNvPr>
            <p:cNvSpPr txBox="1"/>
            <p:nvPr/>
          </p:nvSpPr>
          <p:spPr>
            <a:xfrm>
              <a:off x="6769987" y="1100091"/>
              <a:ext cx="4895425" cy="492443"/>
            </a:xfrm>
            <a:prstGeom prst="rect">
              <a:avLst/>
            </a:prstGeom>
            <a:noFill/>
          </p:spPr>
          <p:txBody>
            <a:bodyPr wrap="square" rtlCol="0">
              <a:spAutoFit/>
            </a:bodyPr>
            <a:lstStyle/>
            <a:p>
              <a:pPr marL="285750" indent="-285750">
                <a:buFont typeface="Arial" panose="020B0604020202020204" pitchFamily="34" charset="0"/>
                <a:buChar char="•"/>
              </a:pPr>
              <a:r>
                <a:rPr lang="en-IN" sz="1300" dirty="0"/>
                <a:t>Runs quality checks (rejects corrupted/too-small files).</a:t>
              </a:r>
            </a:p>
            <a:p>
              <a:pPr marL="285750" indent="-285750">
                <a:buFont typeface="Arial" panose="020B0604020202020204" pitchFamily="34" charset="0"/>
                <a:buChar char="•"/>
              </a:pPr>
              <a:r>
                <a:rPr lang="en-IN" sz="1300" dirty="0"/>
                <a:t>Outputs standardized files + metadata for downstream use.</a:t>
              </a:r>
            </a:p>
          </p:txBody>
        </p:sp>
        <p:sp>
          <p:nvSpPr>
            <p:cNvPr id="16" name="TextBox 15">
              <a:extLst>
                <a:ext uri="{FF2B5EF4-FFF2-40B4-BE49-F238E27FC236}">
                  <a16:creationId xmlns:a16="http://schemas.microsoft.com/office/drawing/2014/main" id="{45DC1EEE-2D9E-3C59-4F70-3DFF6E8AC2E7}"/>
                </a:ext>
              </a:extLst>
            </p:cNvPr>
            <p:cNvSpPr txBox="1"/>
            <p:nvPr/>
          </p:nvSpPr>
          <p:spPr>
            <a:xfrm>
              <a:off x="5149338" y="838024"/>
              <a:ext cx="1513114" cy="323165"/>
            </a:xfrm>
            <a:prstGeom prst="rect">
              <a:avLst/>
            </a:prstGeom>
            <a:noFill/>
          </p:spPr>
          <p:txBody>
            <a:bodyPr wrap="square" rtlCol="0">
              <a:spAutoFit/>
            </a:bodyPr>
            <a:lstStyle/>
            <a:p>
              <a:r>
                <a:rPr lang="en-US" sz="1500" dirty="0"/>
                <a:t>Key features</a:t>
              </a:r>
            </a:p>
          </p:txBody>
        </p:sp>
      </p:grpSp>
    </p:spTree>
    <p:extLst>
      <p:ext uri="{BB962C8B-B14F-4D97-AF65-F5344CB8AC3E}">
        <p14:creationId xmlns:p14="http://schemas.microsoft.com/office/powerpoint/2010/main" val="21762840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9D698-B549-CA17-9562-86E2632810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83452-5648-E6A5-C866-CCE3D9D022FF}"/>
              </a:ext>
            </a:extLst>
          </p:cNvPr>
          <p:cNvSpPr>
            <a:spLocks noGrp="1"/>
          </p:cNvSpPr>
          <p:nvPr>
            <p:ph type="title"/>
          </p:nvPr>
        </p:nvSpPr>
        <p:spPr/>
        <p:txBody>
          <a:bodyPr/>
          <a:lstStyle/>
          <a:p>
            <a:r>
              <a:rPr lang="en-IN" dirty="0"/>
              <a:t>Step 3: </a:t>
            </a:r>
            <a:r>
              <a:rPr lang="en-GB" dirty="0"/>
              <a:t>Backend System</a:t>
            </a:r>
            <a:endParaRPr lang="en-US" dirty="0"/>
          </a:p>
        </p:txBody>
      </p:sp>
      <p:sp>
        <p:nvSpPr>
          <p:cNvPr id="7" name="TextBox 6">
            <a:extLst>
              <a:ext uri="{FF2B5EF4-FFF2-40B4-BE49-F238E27FC236}">
                <a16:creationId xmlns:a16="http://schemas.microsoft.com/office/drawing/2014/main" id="{F2E5880C-86F9-9865-C4B8-A27BBC19AF31}"/>
              </a:ext>
            </a:extLst>
          </p:cNvPr>
          <p:cNvSpPr txBox="1"/>
          <p:nvPr/>
        </p:nvSpPr>
        <p:spPr>
          <a:xfrm>
            <a:off x="316281" y="3783108"/>
            <a:ext cx="5540030" cy="1754326"/>
          </a:xfrm>
          <a:prstGeom prst="rect">
            <a:avLst/>
          </a:prstGeom>
          <a:noFill/>
          <a:ln w="38100">
            <a:solidFill>
              <a:schemeClr val="accent2"/>
            </a:solidFill>
            <a:prstDash val="dash"/>
          </a:ln>
        </p:spPr>
        <p:txBody>
          <a:bodyPr wrap="square">
            <a:spAutoFit/>
          </a:bodyPr>
          <a:lstStyle/>
          <a:p>
            <a:pPr algn="ctr"/>
            <a:r>
              <a:rPr lang="en-IN" sz="1200" b="1" dirty="0"/>
              <a:t>INTEGRATION WITH EXISTING CMS</a:t>
            </a:r>
          </a:p>
          <a:p>
            <a:r>
              <a:rPr lang="en-IN" sz="1200" b="1" dirty="0"/>
              <a:t>Pros:</a:t>
            </a:r>
            <a:r>
              <a:rPr lang="en-IN" sz="1200" dirty="0"/>
              <a:t>	 Seamless merchant brand page integration</a:t>
            </a:r>
            <a:br>
              <a:rPr lang="en-IN" sz="1200" dirty="0"/>
            </a:br>
            <a:r>
              <a:rPr lang="en-IN" sz="1200" dirty="0"/>
              <a:t>	Eliminates the need for a separate file-linking workflow</a:t>
            </a:r>
            <a:br>
              <a:rPr lang="en-IN" sz="1200" dirty="0"/>
            </a:br>
            <a:r>
              <a:rPr lang="en-IN" sz="1200" b="1" dirty="0"/>
              <a:t>Cons:</a:t>
            </a:r>
            <a:r>
              <a:rPr lang="en-IN" sz="1200" dirty="0"/>
              <a:t>	Requires heavy engineering effort upfront</a:t>
            </a:r>
            <a:br>
              <a:rPr lang="en-IN" sz="1200" dirty="0"/>
            </a:br>
            <a:r>
              <a:rPr lang="en-IN" sz="1200" dirty="0"/>
              <a:t>	May not allow for flexible naming conventions or metadata tracking</a:t>
            </a:r>
          </a:p>
          <a:p>
            <a:r>
              <a:rPr lang="en-IN" sz="1200" b="1" dirty="0"/>
              <a:t>Assumption:</a:t>
            </a:r>
            <a:br>
              <a:rPr lang="en-IN" sz="1200" dirty="0"/>
            </a:br>
            <a:r>
              <a:rPr lang="en-IN" sz="1200" dirty="0"/>
              <a:t>I am assuming ShopBack has an internal CMS that already manages merchant brand pages. Integrating directly here would be the long-term end state, but not ideal for MVP due to engineering overhead.</a:t>
            </a:r>
          </a:p>
        </p:txBody>
      </p:sp>
      <p:sp>
        <p:nvSpPr>
          <p:cNvPr id="9" name="TextBox 8">
            <a:extLst>
              <a:ext uri="{FF2B5EF4-FFF2-40B4-BE49-F238E27FC236}">
                <a16:creationId xmlns:a16="http://schemas.microsoft.com/office/drawing/2014/main" id="{094BA820-94E5-A82B-391E-4089E3190F3E}"/>
              </a:ext>
            </a:extLst>
          </p:cNvPr>
          <p:cNvSpPr txBox="1"/>
          <p:nvPr/>
        </p:nvSpPr>
        <p:spPr>
          <a:xfrm>
            <a:off x="342058" y="1898594"/>
            <a:ext cx="5444967" cy="1569660"/>
          </a:xfrm>
          <a:prstGeom prst="rect">
            <a:avLst/>
          </a:prstGeom>
          <a:solidFill>
            <a:schemeClr val="accent6">
              <a:lumMod val="20000"/>
              <a:lumOff val="80000"/>
            </a:schemeClr>
          </a:solidFill>
          <a:ln w="38100">
            <a:solidFill>
              <a:schemeClr val="accent2"/>
            </a:solidFill>
            <a:prstDash val="dash"/>
          </a:ln>
        </p:spPr>
        <p:txBody>
          <a:bodyPr wrap="square">
            <a:spAutoFit/>
          </a:bodyPr>
          <a:lstStyle/>
          <a:p>
            <a:pPr algn="ctr">
              <a:buNone/>
            </a:pPr>
            <a:r>
              <a:rPr lang="en-IN" sz="1200" b="1" dirty="0"/>
              <a:t>DATABASE-FIRST STORAGE</a:t>
            </a:r>
          </a:p>
          <a:p>
            <a:r>
              <a:rPr lang="en-IN" sz="1200" b="1" dirty="0"/>
              <a:t>Pros:</a:t>
            </a:r>
            <a:r>
              <a:rPr lang="en-IN" sz="1200" dirty="0"/>
              <a:t>	Centralized — everything in one system (data + files)</a:t>
            </a:r>
            <a:br>
              <a:rPr lang="en-IN" sz="1200" dirty="0"/>
            </a:br>
            <a:r>
              <a:rPr lang="en-IN" sz="1200" dirty="0"/>
              <a:t>	Easier to query metadata directly</a:t>
            </a:r>
            <a:br>
              <a:rPr lang="en-IN" sz="1200" dirty="0"/>
            </a:br>
            <a:r>
              <a:rPr lang="en-IN" sz="1200" b="1" dirty="0"/>
              <a:t>Cons:</a:t>
            </a:r>
            <a:r>
              <a:rPr lang="en-IN" sz="1200" dirty="0"/>
              <a:t>	Inefficient for large image files → performance and cost issues</a:t>
            </a:r>
            <a:br>
              <a:rPr lang="en-IN" sz="1200" dirty="0"/>
            </a:br>
            <a:r>
              <a:rPr lang="en-IN" sz="1200" dirty="0"/>
              <a:t>	Harder to integrate with content delivery (CDN)</a:t>
            </a:r>
          </a:p>
          <a:p>
            <a:r>
              <a:rPr lang="en-IN" sz="1200" b="1" dirty="0"/>
              <a:t>Reasoning:</a:t>
            </a:r>
            <a:br>
              <a:rPr lang="en-IN" sz="1200" dirty="0"/>
            </a:br>
            <a:r>
              <a:rPr lang="en-IN" sz="1200" dirty="0"/>
              <a:t>Not recommended — storing large binary files directly in databases slows things down and adds complexity without clear benefits.</a:t>
            </a:r>
          </a:p>
        </p:txBody>
      </p:sp>
      <p:sp>
        <p:nvSpPr>
          <p:cNvPr id="10" name="TextBox 9">
            <a:extLst>
              <a:ext uri="{FF2B5EF4-FFF2-40B4-BE49-F238E27FC236}">
                <a16:creationId xmlns:a16="http://schemas.microsoft.com/office/drawing/2014/main" id="{9FDD9ADA-6122-2CF5-8446-90258BF9BB10}"/>
              </a:ext>
            </a:extLst>
          </p:cNvPr>
          <p:cNvSpPr txBox="1"/>
          <p:nvPr/>
        </p:nvSpPr>
        <p:spPr>
          <a:xfrm>
            <a:off x="6045007" y="3783108"/>
            <a:ext cx="5943899" cy="1754326"/>
          </a:xfrm>
          <a:prstGeom prst="rect">
            <a:avLst/>
          </a:prstGeom>
          <a:noFill/>
          <a:ln w="38100">
            <a:solidFill>
              <a:schemeClr val="accent2"/>
            </a:solidFill>
            <a:prstDash val="dash"/>
          </a:ln>
        </p:spPr>
        <p:txBody>
          <a:bodyPr wrap="square">
            <a:spAutoFit/>
          </a:bodyPr>
          <a:lstStyle/>
          <a:p>
            <a:pPr algn="ctr"/>
            <a:r>
              <a:rPr lang="en-IN" sz="1200" b="1" dirty="0"/>
              <a:t>FILE SYSTEM / CLOUD STORAGE</a:t>
            </a:r>
          </a:p>
          <a:p>
            <a:r>
              <a:rPr lang="en-IN" sz="1200" b="1" dirty="0"/>
              <a:t>Pros:</a:t>
            </a:r>
            <a:r>
              <a:rPr lang="en-IN" sz="1200" dirty="0"/>
              <a:t>	 Scalable, secure storage with folder structure per brand</a:t>
            </a:r>
            <a:br>
              <a:rPr lang="en-IN" sz="1200" dirty="0"/>
            </a:br>
            <a:r>
              <a:rPr lang="en-IN" sz="1200" dirty="0"/>
              <a:t>	Simple integration with existing backend</a:t>
            </a:r>
            <a:br>
              <a:rPr lang="en-IN" sz="1200" dirty="0"/>
            </a:br>
            <a:r>
              <a:rPr lang="en-IN" sz="1200" b="1" dirty="0"/>
              <a:t>Cons:</a:t>
            </a:r>
            <a:r>
              <a:rPr lang="en-IN" sz="1200" dirty="0"/>
              <a:t>	Requires some backend work for indexing and linking to brand records</a:t>
            </a:r>
            <a:br>
              <a:rPr lang="en-IN" sz="1200" dirty="0"/>
            </a:br>
            <a:r>
              <a:rPr lang="en-IN" sz="1200" dirty="0"/>
              <a:t>	 Access controls must be configured carefully</a:t>
            </a:r>
          </a:p>
          <a:p>
            <a:r>
              <a:rPr lang="en-IN" sz="1200" b="1" dirty="0"/>
              <a:t>Reasoning:</a:t>
            </a:r>
            <a:br>
              <a:rPr lang="en-IN" sz="1200" dirty="0"/>
            </a:br>
            <a:r>
              <a:rPr lang="en-IN" sz="1200" dirty="0"/>
              <a:t>This is the industry-standard approach. Cloud storage provides scalability and reliability, while keeping files neatly organized by brand ID. Minimal Ops involvement after setup.</a:t>
            </a:r>
          </a:p>
        </p:txBody>
      </p:sp>
      <p:pic>
        <p:nvPicPr>
          <p:cNvPr id="12" name="Graphic 11" descr="Tick with solid fill">
            <a:extLst>
              <a:ext uri="{FF2B5EF4-FFF2-40B4-BE49-F238E27FC236}">
                <a16:creationId xmlns:a16="http://schemas.microsoft.com/office/drawing/2014/main" id="{94FCDDA9-94F0-C432-8B25-2C735B26813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28574" y="1750113"/>
            <a:ext cx="627737" cy="627737"/>
          </a:xfrm>
          <a:prstGeom prst="rect">
            <a:avLst/>
          </a:prstGeom>
        </p:spPr>
      </p:pic>
      <p:sp>
        <p:nvSpPr>
          <p:cNvPr id="14" name="TextBox 13">
            <a:extLst>
              <a:ext uri="{FF2B5EF4-FFF2-40B4-BE49-F238E27FC236}">
                <a16:creationId xmlns:a16="http://schemas.microsoft.com/office/drawing/2014/main" id="{8F2C50D5-D465-BB8B-D630-D638F7F2F7E4}"/>
              </a:ext>
            </a:extLst>
          </p:cNvPr>
          <p:cNvSpPr txBox="1"/>
          <p:nvPr/>
        </p:nvSpPr>
        <p:spPr>
          <a:xfrm>
            <a:off x="298879" y="5623437"/>
            <a:ext cx="11746741" cy="738664"/>
          </a:xfrm>
          <a:prstGeom prst="rect">
            <a:avLst/>
          </a:prstGeom>
          <a:noFill/>
        </p:spPr>
        <p:txBody>
          <a:bodyPr wrap="square">
            <a:spAutoFit/>
          </a:bodyPr>
          <a:lstStyle/>
          <a:p>
            <a:r>
              <a:rPr lang="en-IN" sz="1400" dirty="0"/>
              <a:t>Recommendation :Start with </a:t>
            </a:r>
            <a:r>
              <a:rPr lang="en-IN" sz="1400" b="1" dirty="0"/>
              <a:t>cloud storage + lightweight metadata database. Example</a:t>
            </a:r>
            <a:r>
              <a:rPr lang="en-IN" sz="1400" dirty="0"/>
              <a:t>: Use AWS S3 with a Postgres table storing </a:t>
            </a:r>
            <a:r>
              <a:rPr lang="en-IN" sz="1400" dirty="0" err="1"/>
              <a:t>brand_id</a:t>
            </a:r>
            <a:r>
              <a:rPr lang="en-IN" sz="1400" dirty="0"/>
              <a:t>, file paths, checksums, and status. This removes Ops manual uploads immediately, ensures every file is traceable, and creates a clean integration point for the ShopBack brand page backend. In the long run, migrate to direct integration with ShopBack’s CMS once the process is proven.</a:t>
            </a:r>
          </a:p>
        </p:txBody>
      </p:sp>
      <p:grpSp>
        <p:nvGrpSpPr>
          <p:cNvPr id="11" name="Group 10">
            <a:extLst>
              <a:ext uri="{FF2B5EF4-FFF2-40B4-BE49-F238E27FC236}">
                <a16:creationId xmlns:a16="http://schemas.microsoft.com/office/drawing/2014/main" id="{CFC34BF0-FC77-16D1-AFDC-A6AD7C5E4F69}"/>
              </a:ext>
            </a:extLst>
          </p:cNvPr>
          <p:cNvGrpSpPr/>
          <p:nvPr/>
        </p:nvGrpSpPr>
        <p:grpSpPr>
          <a:xfrm>
            <a:off x="292759" y="861121"/>
            <a:ext cx="11739541" cy="915195"/>
            <a:chOff x="146378" y="838024"/>
            <a:chExt cx="11899241" cy="915195"/>
          </a:xfrm>
        </p:grpSpPr>
        <p:sp>
          <p:nvSpPr>
            <p:cNvPr id="13" name="Rectangle: Rounded Corners 28">
              <a:extLst>
                <a:ext uri="{FF2B5EF4-FFF2-40B4-BE49-F238E27FC236}">
                  <a16:creationId xmlns:a16="http://schemas.microsoft.com/office/drawing/2014/main" id="{A500EB48-0FA5-B78A-A537-680E71A961C6}"/>
                </a:ext>
              </a:extLst>
            </p:cNvPr>
            <p:cNvSpPr/>
            <p:nvPr/>
          </p:nvSpPr>
          <p:spPr>
            <a:xfrm>
              <a:off x="146378" y="865231"/>
              <a:ext cx="11899241" cy="861785"/>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sz="1300" dirty="0">
                <a:solidFill>
                  <a:schemeClr val="tx1"/>
                </a:solidFill>
              </a:endParaRPr>
            </a:p>
            <a:p>
              <a:pPr marL="285750" indent="-285750">
                <a:buFont typeface="Arial" panose="020B0604020202020204" pitchFamily="34" charset="0"/>
                <a:buChar char="•"/>
              </a:pPr>
              <a:r>
                <a:rPr lang="en-IN" sz="1300" dirty="0">
                  <a:solidFill>
                    <a:schemeClr val="tx1"/>
                  </a:solidFill>
                </a:rPr>
                <a:t>Stores all processed logo assets in a structured and traceable way (e.g., by brand ID).</a:t>
              </a:r>
            </a:p>
            <a:p>
              <a:pPr marL="285750" indent="-285750">
                <a:buFont typeface="Arial" panose="020B0604020202020204" pitchFamily="34" charset="0"/>
                <a:buChar char="•"/>
              </a:pPr>
              <a:r>
                <a:rPr lang="en-IN" sz="1300" dirty="0">
                  <a:solidFill>
                    <a:schemeClr val="tx1"/>
                  </a:solidFill>
                </a:rPr>
                <a:t>Links files directly to the ShopBack brand page backend.</a:t>
              </a:r>
            </a:p>
          </p:txBody>
        </p:sp>
        <p:sp>
          <p:nvSpPr>
            <p:cNvPr id="15" name="TextBox 14">
              <a:extLst>
                <a:ext uri="{FF2B5EF4-FFF2-40B4-BE49-F238E27FC236}">
                  <a16:creationId xmlns:a16="http://schemas.microsoft.com/office/drawing/2014/main" id="{44791453-3B96-1EEA-3A95-914BD968A71B}"/>
                </a:ext>
              </a:extLst>
            </p:cNvPr>
            <p:cNvSpPr txBox="1"/>
            <p:nvPr/>
          </p:nvSpPr>
          <p:spPr>
            <a:xfrm>
              <a:off x="6769987" y="1060722"/>
              <a:ext cx="5140763" cy="692497"/>
            </a:xfrm>
            <a:prstGeom prst="rect">
              <a:avLst/>
            </a:prstGeom>
            <a:noFill/>
          </p:spPr>
          <p:txBody>
            <a:bodyPr wrap="square" rtlCol="0">
              <a:spAutoFit/>
            </a:bodyPr>
            <a:lstStyle/>
            <a:p>
              <a:pPr marL="285750" indent="-285750">
                <a:buFont typeface="Arial" panose="020B0604020202020204" pitchFamily="34" charset="0"/>
                <a:buChar char="•"/>
              </a:pPr>
              <a:r>
                <a:rPr lang="en-IN" sz="1300" dirty="0"/>
                <a:t>Ensures idempotency (no duplicates when merchants re-upload).</a:t>
              </a:r>
            </a:p>
            <a:p>
              <a:pPr marL="285750" indent="-285750">
                <a:buFont typeface="Arial" panose="020B0604020202020204" pitchFamily="34" charset="0"/>
                <a:buChar char="•"/>
              </a:pPr>
              <a:r>
                <a:rPr lang="en-IN" sz="1300" dirty="0"/>
                <a:t>Removes manual uploading by Ops.</a:t>
              </a:r>
            </a:p>
          </p:txBody>
        </p:sp>
        <p:sp>
          <p:nvSpPr>
            <p:cNvPr id="16" name="TextBox 15">
              <a:extLst>
                <a:ext uri="{FF2B5EF4-FFF2-40B4-BE49-F238E27FC236}">
                  <a16:creationId xmlns:a16="http://schemas.microsoft.com/office/drawing/2014/main" id="{3069A56D-97A4-ED67-1949-B1EE2D9B4D93}"/>
                </a:ext>
              </a:extLst>
            </p:cNvPr>
            <p:cNvSpPr txBox="1"/>
            <p:nvPr/>
          </p:nvSpPr>
          <p:spPr>
            <a:xfrm>
              <a:off x="5149338" y="838024"/>
              <a:ext cx="1513114" cy="323165"/>
            </a:xfrm>
            <a:prstGeom prst="rect">
              <a:avLst/>
            </a:prstGeom>
            <a:noFill/>
          </p:spPr>
          <p:txBody>
            <a:bodyPr wrap="square" rtlCol="0">
              <a:spAutoFit/>
            </a:bodyPr>
            <a:lstStyle/>
            <a:p>
              <a:r>
                <a:rPr lang="en-US" sz="1500" dirty="0"/>
                <a:t>Key features</a:t>
              </a:r>
            </a:p>
          </p:txBody>
        </p:sp>
      </p:grpSp>
      <p:sp>
        <p:nvSpPr>
          <p:cNvPr id="3" name="TextBox 2">
            <a:extLst>
              <a:ext uri="{FF2B5EF4-FFF2-40B4-BE49-F238E27FC236}">
                <a16:creationId xmlns:a16="http://schemas.microsoft.com/office/drawing/2014/main" id="{32C68305-E66C-907D-C880-6531B630224D}"/>
              </a:ext>
            </a:extLst>
          </p:cNvPr>
          <p:cNvSpPr txBox="1"/>
          <p:nvPr/>
        </p:nvSpPr>
        <p:spPr>
          <a:xfrm>
            <a:off x="6045008" y="1846446"/>
            <a:ext cx="5943900" cy="1754326"/>
          </a:xfrm>
          <a:prstGeom prst="rect">
            <a:avLst/>
          </a:prstGeom>
          <a:noFill/>
          <a:ln w="38100">
            <a:solidFill>
              <a:schemeClr val="accent2"/>
            </a:solidFill>
            <a:prstDash val="dash"/>
          </a:ln>
        </p:spPr>
        <p:txBody>
          <a:bodyPr wrap="square">
            <a:spAutoFit/>
          </a:bodyPr>
          <a:lstStyle/>
          <a:p>
            <a:pPr algn="ctr"/>
            <a:r>
              <a:rPr lang="en-IN" sz="1200" b="1" dirty="0"/>
              <a:t>HYBRID APPROACH (STORAGE + METADATA DB)</a:t>
            </a:r>
          </a:p>
          <a:p>
            <a:r>
              <a:rPr lang="en-IN" sz="1200" b="1" dirty="0"/>
              <a:t>Pros:</a:t>
            </a:r>
            <a:r>
              <a:rPr lang="en-IN" sz="1200" dirty="0"/>
              <a:t>	Assets stored in S3/GCP with a lightweight database holding metadata (brand_id, size, upload time, checksum, etc.)</a:t>
            </a:r>
            <a:br>
              <a:rPr lang="en-IN" sz="1200" dirty="0"/>
            </a:br>
            <a:r>
              <a:rPr lang="en-IN" sz="1200" dirty="0"/>
              <a:t>	Provides full traceability and fast queries</a:t>
            </a:r>
          </a:p>
          <a:p>
            <a:r>
              <a:rPr lang="en-IN" sz="1200" dirty="0"/>
              <a:t>	Easy to extend into APIs later</a:t>
            </a:r>
            <a:br>
              <a:rPr lang="en-IN" sz="1200" dirty="0"/>
            </a:br>
            <a:r>
              <a:rPr lang="en-IN" sz="1200" b="1" dirty="0"/>
              <a:t>Cons:</a:t>
            </a:r>
            <a:r>
              <a:rPr lang="en-IN" sz="1200" dirty="0"/>
              <a:t>	Slightly more setup than simple storage-only approach</a:t>
            </a:r>
          </a:p>
          <a:p>
            <a:r>
              <a:rPr lang="en-IN" sz="1200" b="1" dirty="0"/>
              <a:t>Reasoning:</a:t>
            </a:r>
            <a:br>
              <a:rPr lang="en-IN" sz="1200" dirty="0"/>
            </a:br>
            <a:r>
              <a:rPr lang="en-IN" sz="1200" dirty="0"/>
              <a:t>This balances scalability and traceability. Ops can search and troubleshoot quickly using metadata, while engineers get reliable file storage.</a:t>
            </a:r>
          </a:p>
        </p:txBody>
      </p:sp>
    </p:spTree>
    <p:extLst>
      <p:ext uri="{BB962C8B-B14F-4D97-AF65-F5344CB8AC3E}">
        <p14:creationId xmlns:p14="http://schemas.microsoft.com/office/powerpoint/2010/main" val="1365768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1A7F6-1A00-B5C0-0B8D-6BBAEDCF07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33EFAE-6CE2-2A99-45BC-9E605CB6F80D}"/>
              </a:ext>
            </a:extLst>
          </p:cNvPr>
          <p:cNvSpPr>
            <a:spLocks noGrp="1"/>
          </p:cNvSpPr>
          <p:nvPr>
            <p:ph type="title"/>
          </p:nvPr>
        </p:nvSpPr>
        <p:spPr>
          <a:xfrm>
            <a:off x="479503" y="233768"/>
            <a:ext cx="10202745" cy="761747"/>
          </a:xfrm>
        </p:spPr>
        <p:txBody>
          <a:bodyPr/>
          <a:lstStyle/>
          <a:p>
            <a:r>
              <a:rPr lang="en-IN" dirty="0"/>
              <a:t>Step 4: </a:t>
            </a:r>
            <a:r>
              <a:rPr lang="en-GB" dirty="0"/>
              <a:t>Merchant Notification</a:t>
            </a:r>
            <a:endParaRPr lang="en-US" dirty="0"/>
          </a:p>
        </p:txBody>
      </p:sp>
      <p:sp>
        <p:nvSpPr>
          <p:cNvPr id="7" name="TextBox 6">
            <a:extLst>
              <a:ext uri="{FF2B5EF4-FFF2-40B4-BE49-F238E27FC236}">
                <a16:creationId xmlns:a16="http://schemas.microsoft.com/office/drawing/2014/main" id="{A237F769-F2F5-38E2-1557-0E7CD0CDF390}"/>
              </a:ext>
            </a:extLst>
          </p:cNvPr>
          <p:cNvSpPr txBox="1"/>
          <p:nvPr/>
        </p:nvSpPr>
        <p:spPr>
          <a:xfrm>
            <a:off x="5974977" y="2138313"/>
            <a:ext cx="5918144" cy="1754326"/>
          </a:xfrm>
          <a:prstGeom prst="rect">
            <a:avLst/>
          </a:prstGeom>
          <a:noFill/>
          <a:ln w="38100">
            <a:solidFill>
              <a:schemeClr val="accent2"/>
            </a:solidFill>
            <a:prstDash val="dash"/>
          </a:ln>
        </p:spPr>
        <p:txBody>
          <a:bodyPr wrap="square">
            <a:spAutoFit/>
          </a:bodyPr>
          <a:lstStyle/>
          <a:p>
            <a:pPr algn="ctr"/>
            <a:r>
              <a:rPr lang="en-IN" sz="1200" b="1" dirty="0"/>
              <a:t>MERCHANT DASHBOARD / PORTAL INTEGRATION </a:t>
            </a:r>
          </a:p>
          <a:p>
            <a:r>
              <a:rPr lang="en-IN" sz="1200" b="1" dirty="0"/>
              <a:t>Pros:</a:t>
            </a:r>
            <a:r>
              <a:rPr lang="en-IN" sz="1200" dirty="0"/>
              <a:t>	 Merchants can log in and check status anytime</a:t>
            </a:r>
            <a:br>
              <a:rPr lang="en-IN" sz="1200" dirty="0"/>
            </a:br>
            <a:r>
              <a:rPr lang="en-IN" sz="1200" dirty="0"/>
              <a:t>	Eliminates dependency on email</a:t>
            </a:r>
            <a:br>
              <a:rPr lang="en-IN" sz="1200" dirty="0"/>
            </a:br>
            <a:r>
              <a:rPr lang="en-IN" sz="1200" dirty="0"/>
              <a:t>	Allows richer features in future (e.g., re-upload, analytics)</a:t>
            </a:r>
            <a:br>
              <a:rPr lang="en-IN" sz="1200" dirty="0"/>
            </a:br>
            <a:r>
              <a:rPr lang="en-IN" sz="1200" b="1" dirty="0"/>
              <a:t>Cons:</a:t>
            </a:r>
            <a:r>
              <a:rPr lang="en-IN" sz="1200" dirty="0"/>
              <a:t>	 Requires more development effort and UI maintenance</a:t>
            </a:r>
            <a:br>
              <a:rPr lang="en-IN" sz="1200" dirty="0"/>
            </a:br>
            <a:r>
              <a:rPr lang="en-IN" sz="1200" dirty="0"/>
              <a:t>	May not be necessary for early rollout</a:t>
            </a:r>
          </a:p>
          <a:p>
            <a:r>
              <a:rPr lang="en-IN" sz="1200" b="1" dirty="0"/>
              <a:t>Reasoning:</a:t>
            </a:r>
            <a:br>
              <a:rPr lang="en-IN" sz="1200" dirty="0"/>
            </a:br>
            <a:r>
              <a:rPr lang="en-IN" sz="1200" dirty="0"/>
              <a:t>Ideal long-term solution for scalability and self-service. Too heavy for an MVP but should be considered in future roadmap.</a:t>
            </a:r>
          </a:p>
        </p:txBody>
      </p:sp>
      <p:sp>
        <p:nvSpPr>
          <p:cNvPr id="9" name="TextBox 8">
            <a:extLst>
              <a:ext uri="{FF2B5EF4-FFF2-40B4-BE49-F238E27FC236}">
                <a16:creationId xmlns:a16="http://schemas.microsoft.com/office/drawing/2014/main" id="{A6CD1CE3-5973-887F-1EC6-6DC9A6528189}"/>
              </a:ext>
            </a:extLst>
          </p:cNvPr>
          <p:cNvSpPr txBox="1"/>
          <p:nvPr/>
        </p:nvSpPr>
        <p:spPr>
          <a:xfrm>
            <a:off x="298878" y="3928878"/>
            <a:ext cx="5499757" cy="1569660"/>
          </a:xfrm>
          <a:prstGeom prst="rect">
            <a:avLst/>
          </a:prstGeom>
          <a:noFill/>
          <a:ln w="38100">
            <a:solidFill>
              <a:schemeClr val="accent2"/>
            </a:solidFill>
            <a:prstDash val="dash"/>
          </a:ln>
        </p:spPr>
        <p:txBody>
          <a:bodyPr wrap="square">
            <a:spAutoFit/>
          </a:bodyPr>
          <a:lstStyle/>
          <a:p>
            <a:pPr algn="ctr">
              <a:buNone/>
            </a:pPr>
            <a:r>
              <a:rPr lang="en-IN" sz="1200" b="1" dirty="0"/>
              <a:t>INTERNAL TEAM NOTIFICATIONS </a:t>
            </a:r>
          </a:p>
          <a:p>
            <a:r>
              <a:rPr lang="en-IN" sz="1200" b="1" dirty="0"/>
              <a:t>Pros:</a:t>
            </a:r>
            <a:r>
              <a:rPr lang="en-IN" sz="1200" dirty="0"/>
              <a:t>	 Fast alerts to internal Ops/Commercial teams</a:t>
            </a:r>
            <a:br>
              <a:rPr lang="en-IN" sz="1200" dirty="0"/>
            </a:br>
            <a:r>
              <a:rPr lang="en-IN" sz="1200" dirty="0"/>
              <a:t>	 Good for monitoring and troubleshooting</a:t>
            </a:r>
            <a:br>
              <a:rPr lang="en-IN" sz="1200" dirty="0"/>
            </a:br>
            <a:r>
              <a:rPr lang="en-IN" sz="1200" b="1" dirty="0"/>
              <a:t>Cons:</a:t>
            </a:r>
            <a:r>
              <a:rPr lang="en-IN" sz="1200" dirty="0"/>
              <a:t>	 Not merchant-facing → merchants would still wait for manual updates</a:t>
            </a:r>
          </a:p>
          <a:p>
            <a:r>
              <a:rPr lang="en-IN" sz="1200" b="1" dirty="0"/>
              <a:t>Reasoning:</a:t>
            </a:r>
            <a:br>
              <a:rPr lang="en-IN" sz="1200" dirty="0"/>
            </a:br>
            <a:r>
              <a:rPr lang="en-IN" sz="1200" dirty="0"/>
              <a:t>Useful as a supplement for Ops visibility, but does not replace merchant notifications.</a:t>
            </a:r>
          </a:p>
        </p:txBody>
      </p:sp>
      <p:sp>
        <p:nvSpPr>
          <p:cNvPr id="10" name="TextBox 9">
            <a:extLst>
              <a:ext uri="{FF2B5EF4-FFF2-40B4-BE49-F238E27FC236}">
                <a16:creationId xmlns:a16="http://schemas.microsoft.com/office/drawing/2014/main" id="{E57F577F-4054-0027-DF65-C202F424CC48}"/>
              </a:ext>
            </a:extLst>
          </p:cNvPr>
          <p:cNvSpPr txBox="1"/>
          <p:nvPr/>
        </p:nvSpPr>
        <p:spPr>
          <a:xfrm>
            <a:off x="298879" y="2138313"/>
            <a:ext cx="5499756" cy="1569660"/>
          </a:xfrm>
          <a:prstGeom prst="rect">
            <a:avLst/>
          </a:prstGeom>
          <a:solidFill>
            <a:schemeClr val="accent6">
              <a:lumMod val="20000"/>
              <a:lumOff val="80000"/>
            </a:schemeClr>
          </a:solidFill>
          <a:ln w="38100">
            <a:solidFill>
              <a:schemeClr val="accent2"/>
            </a:solidFill>
            <a:prstDash val="dash"/>
          </a:ln>
        </p:spPr>
        <p:txBody>
          <a:bodyPr wrap="square">
            <a:spAutoFit/>
          </a:bodyPr>
          <a:lstStyle/>
          <a:p>
            <a:pPr algn="ctr"/>
            <a:r>
              <a:rPr lang="en-IN" sz="1200" b="1" dirty="0"/>
              <a:t>EMAIL NOTIFICATIONS </a:t>
            </a:r>
          </a:p>
          <a:p>
            <a:r>
              <a:rPr lang="en-IN" sz="1200" dirty="0"/>
              <a:t>Pros:	 Simple to implement (merchants already use email daily)</a:t>
            </a:r>
            <a:br>
              <a:rPr lang="en-IN" sz="1200" dirty="0"/>
            </a:br>
            <a:r>
              <a:rPr lang="en-IN" sz="1200" dirty="0"/>
              <a:t>	Can attach processed assets or links directly</a:t>
            </a:r>
            <a:br>
              <a:rPr lang="en-IN" sz="1200" dirty="0"/>
            </a:br>
            <a:r>
              <a:rPr lang="en-IN" sz="1200" dirty="0"/>
              <a:t>	Low barrier to adoption → no new tools for merchants</a:t>
            </a:r>
            <a:br>
              <a:rPr lang="en-IN" sz="1200" dirty="0"/>
            </a:br>
            <a:r>
              <a:rPr lang="en-IN" sz="1200" dirty="0"/>
              <a:t>Cons:	 Limited tracking (can’t easily see if merchant read/acknowledged)</a:t>
            </a:r>
          </a:p>
          <a:p>
            <a:r>
              <a:rPr lang="en-IN" sz="1200" b="1" dirty="0"/>
              <a:t>Reasoning:</a:t>
            </a:r>
            <a:br>
              <a:rPr lang="en-IN" sz="1200" dirty="0"/>
            </a:br>
            <a:r>
              <a:rPr lang="en-IN" sz="1200" dirty="0"/>
              <a:t>Best option for MVP. Quick to set up, low learning curve for merchants, and builds trust with clear confirmation.</a:t>
            </a:r>
          </a:p>
        </p:txBody>
      </p:sp>
      <p:pic>
        <p:nvPicPr>
          <p:cNvPr id="12" name="Graphic 11" descr="Tick with solid fill">
            <a:extLst>
              <a:ext uri="{FF2B5EF4-FFF2-40B4-BE49-F238E27FC236}">
                <a16:creationId xmlns:a16="http://schemas.microsoft.com/office/drawing/2014/main" id="{5CF7E05E-9D5F-2B40-F1CC-00ABC307DC6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70898" y="1981538"/>
            <a:ext cx="627737" cy="627737"/>
          </a:xfrm>
          <a:prstGeom prst="rect">
            <a:avLst/>
          </a:prstGeom>
        </p:spPr>
      </p:pic>
      <p:sp>
        <p:nvSpPr>
          <p:cNvPr id="14" name="TextBox 13">
            <a:extLst>
              <a:ext uri="{FF2B5EF4-FFF2-40B4-BE49-F238E27FC236}">
                <a16:creationId xmlns:a16="http://schemas.microsoft.com/office/drawing/2014/main" id="{B9A9C93C-1D53-D7F0-CBD4-36E7DDB8C63C}"/>
              </a:ext>
            </a:extLst>
          </p:cNvPr>
          <p:cNvSpPr txBox="1"/>
          <p:nvPr/>
        </p:nvSpPr>
        <p:spPr>
          <a:xfrm>
            <a:off x="298879" y="5623437"/>
            <a:ext cx="11746741" cy="738664"/>
          </a:xfrm>
          <a:prstGeom prst="rect">
            <a:avLst/>
          </a:prstGeom>
          <a:noFill/>
        </p:spPr>
        <p:txBody>
          <a:bodyPr wrap="square">
            <a:spAutoFit/>
          </a:bodyPr>
          <a:lstStyle/>
          <a:p>
            <a:r>
              <a:rPr lang="en-IN" sz="1400" dirty="0"/>
              <a:t>Recommendation: Start with Email Notifications for MVP — reliable, simple, and merchant-friendly.</a:t>
            </a:r>
            <a:br>
              <a:rPr lang="en-IN" sz="1400" dirty="0"/>
            </a:br>
            <a:r>
              <a:rPr lang="en-IN" sz="1400" dirty="0"/>
              <a:t>Later, evolve into a merchant-facing dashboard where they can view statuses and download assets directly.</a:t>
            </a:r>
          </a:p>
          <a:p>
            <a:endParaRPr lang="en-US" sz="1400" dirty="0"/>
          </a:p>
        </p:txBody>
      </p:sp>
      <p:grpSp>
        <p:nvGrpSpPr>
          <p:cNvPr id="11" name="Group 10">
            <a:extLst>
              <a:ext uri="{FF2B5EF4-FFF2-40B4-BE49-F238E27FC236}">
                <a16:creationId xmlns:a16="http://schemas.microsoft.com/office/drawing/2014/main" id="{5CDA5D7A-C75D-64F9-94F9-A1FB4678D844}"/>
              </a:ext>
            </a:extLst>
          </p:cNvPr>
          <p:cNvGrpSpPr/>
          <p:nvPr/>
        </p:nvGrpSpPr>
        <p:grpSpPr>
          <a:xfrm>
            <a:off x="306079" y="1006666"/>
            <a:ext cx="11739541" cy="974872"/>
            <a:chOff x="146378" y="865231"/>
            <a:chExt cx="11899241" cy="974872"/>
          </a:xfrm>
        </p:grpSpPr>
        <p:sp>
          <p:nvSpPr>
            <p:cNvPr id="13" name="Rectangle: Rounded Corners 28">
              <a:extLst>
                <a:ext uri="{FF2B5EF4-FFF2-40B4-BE49-F238E27FC236}">
                  <a16:creationId xmlns:a16="http://schemas.microsoft.com/office/drawing/2014/main" id="{6DC01DCD-FEE0-9F54-6EA0-6F823A2DB3B9}"/>
                </a:ext>
              </a:extLst>
            </p:cNvPr>
            <p:cNvSpPr/>
            <p:nvPr/>
          </p:nvSpPr>
          <p:spPr>
            <a:xfrm>
              <a:off x="146378" y="865231"/>
              <a:ext cx="11899241" cy="974872"/>
            </a:xfrm>
            <a:prstGeom prst="round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Arial" panose="020B0604020202020204" pitchFamily="34" charset="0"/>
                <a:buChar char="•"/>
              </a:pPr>
              <a:endParaRPr lang="en-US" sz="1200" dirty="0">
                <a:solidFill>
                  <a:schemeClr val="tx1"/>
                </a:solidFill>
              </a:endParaRPr>
            </a:p>
            <a:p>
              <a:pPr marL="171450" indent="-171450">
                <a:buFont typeface="Arial" panose="020B0604020202020204" pitchFamily="34" charset="0"/>
                <a:buChar char="•"/>
              </a:pPr>
              <a:r>
                <a:rPr lang="en-IN" sz="1200" dirty="0">
                  <a:solidFill>
                    <a:schemeClr val="tx1"/>
                  </a:solidFill>
                </a:rPr>
                <a:t>Automatically informs merchants when their brand assets are processed and live.</a:t>
              </a:r>
            </a:p>
            <a:p>
              <a:pPr marL="171450" indent="-171450">
                <a:buFont typeface="Arial" panose="020B0604020202020204" pitchFamily="34" charset="0"/>
                <a:buChar char="•"/>
              </a:pPr>
              <a:r>
                <a:rPr lang="en-IN" sz="1200" dirty="0">
                  <a:solidFill>
                    <a:schemeClr val="tx1"/>
                  </a:solidFill>
                </a:rPr>
                <a:t>Reduces Ops effort of manual follow-ups.</a:t>
              </a:r>
            </a:p>
          </p:txBody>
        </p:sp>
        <p:sp>
          <p:nvSpPr>
            <p:cNvPr id="15" name="TextBox 14">
              <a:extLst>
                <a:ext uri="{FF2B5EF4-FFF2-40B4-BE49-F238E27FC236}">
                  <a16:creationId xmlns:a16="http://schemas.microsoft.com/office/drawing/2014/main" id="{82972B44-6078-030D-8950-90104D974FF8}"/>
                </a:ext>
              </a:extLst>
            </p:cNvPr>
            <p:cNvSpPr txBox="1"/>
            <p:nvPr/>
          </p:nvSpPr>
          <p:spPr>
            <a:xfrm>
              <a:off x="6444007" y="1174803"/>
              <a:ext cx="4895425" cy="646331"/>
            </a:xfrm>
            <a:prstGeom prst="rect">
              <a:avLst/>
            </a:prstGeom>
            <a:noFill/>
          </p:spPr>
          <p:txBody>
            <a:bodyPr wrap="square" rtlCol="0">
              <a:spAutoFit/>
            </a:bodyPr>
            <a:lstStyle/>
            <a:p>
              <a:pPr marL="171450" indent="-171450">
                <a:buFont typeface="Arial" panose="020B0604020202020204" pitchFamily="34" charset="0"/>
                <a:buChar char="•"/>
              </a:pPr>
              <a:r>
                <a:rPr lang="en-IN" sz="1200" dirty="0"/>
                <a:t>Provides merchants with traceability (which files were generated, where they are stored).</a:t>
              </a:r>
            </a:p>
            <a:p>
              <a:pPr marL="171450" indent="-171450">
                <a:buFont typeface="Arial" panose="020B0604020202020204" pitchFamily="34" charset="0"/>
                <a:buChar char="•"/>
              </a:pPr>
              <a:r>
                <a:rPr lang="en-IN" sz="1200" dirty="0"/>
                <a:t>Ensures consistent, professional communication.</a:t>
              </a:r>
            </a:p>
          </p:txBody>
        </p:sp>
        <p:sp>
          <p:nvSpPr>
            <p:cNvPr id="16" name="TextBox 15">
              <a:extLst>
                <a:ext uri="{FF2B5EF4-FFF2-40B4-BE49-F238E27FC236}">
                  <a16:creationId xmlns:a16="http://schemas.microsoft.com/office/drawing/2014/main" id="{362E59C5-67E6-1D3C-2FE6-6F6C12459148}"/>
                </a:ext>
              </a:extLst>
            </p:cNvPr>
            <p:cNvSpPr txBox="1"/>
            <p:nvPr/>
          </p:nvSpPr>
          <p:spPr>
            <a:xfrm>
              <a:off x="5135837" y="913518"/>
              <a:ext cx="1513114" cy="307777"/>
            </a:xfrm>
            <a:prstGeom prst="rect">
              <a:avLst/>
            </a:prstGeom>
            <a:noFill/>
          </p:spPr>
          <p:txBody>
            <a:bodyPr wrap="square" rtlCol="0">
              <a:spAutoFit/>
            </a:bodyPr>
            <a:lstStyle/>
            <a:p>
              <a:r>
                <a:rPr lang="en-US" sz="1400" dirty="0"/>
                <a:t>Key features</a:t>
              </a:r>
            </a:p>
          </p:txBody>
        </p:sp>
      </p:grpSp>
      <p:sp>
        <p:nvSpPr>
          <p:cNvPr id="3" name="TextBox 2">
            <a:extLst>
              <a:ext uri="{FF2B5EF4-FFF2-40B4-BE49-F238E27FC236}">
                <a16:creationId xmlns:a16="http://schemas.microsoft.com/office/drawing/2014/main" id="{8832D655-7238-4CC1-3DEF-589541BF9400}"/>
              </a:ext>
            </a:extLst>
          </p:cNvPr>
          <p:cNvSpPr txBox="1"/>
          <p:nvPr/>
        </p:nvSpPr>
        <p:spPr>
          <a:xfrm>
            <a:off x="5974977" y="4113544"/>
            <a:ext cx="5918144" cy="1200329"/>
          </a:xfrm>
          <a:prstGeom prst="rect">
            <a:avLst/>
          </a:prstGeom>
          <a:noFill/>
          <a:ln w="38100">
            <a:solidFill>
              <a:schemeClr val="accent2"/>
            </a:solidFill>
            <a:prstDash val="dash"/>
          </a:ln>
        </p:spPr>
        <p:txBody>
          <a:bodyPr wrap="square">
            <a:spAutoFit/>
          </a:bodyPr>
          <a:lstStyle/>
          <a:p>
            <a:pPr algn="ctr">
              <a:buNone/>
            </a:pPr>
            <a:r>
              <a:rPr lang="en-IN" sz="1200" b="1" dirty="0"/>
              <a:t>SMS / WHATSAPP ALERTS</a:t>
            </a:r>
          </a:p>
          <a:p>
            <a:r>
              <a:rPr lang="en-IN" sz="1200" b="1" dirty="0"/>
              <a:t>Pros:</a:t>
            </a:r>
            <a:r>
              <a:rPr lang="en-IN" sz="1200" dirty="0"/>
              <a:t>	 Immediate delivery, merchants unlikely to miss it</a:t>
            </a:r>
            <a:br>
              <a:rPr lang="en-IN" sz="1200" dirty="0"/>
            </a:br>
            <a:r>
              <a:rPr lang="en-IN" sz="1200" b="1" dirty="0"/>
              <a:t>Cons:</a:t>
            </a:r>
            <a:r>
              <a:rPr lang="en-IN" sz="1200" dirty="0"/>
              <a:t>	Costly at scale</a:t>
            </a:r>
            <a:br>
              <a:rPr lang="en-IN" sz="1200" dirty="0"/>
            </a:br>
            <a:r>
              <a:rPr lang="en-IN" sz="1200" dirty="0"/>
              <a:t>	Not ideal for sending multiple files or detailed info</a:t>
            </a:r>
          </a:p>
          <a:p>
            <a:r>
              <a:rPr lang="en-IN" sz="1200" b="1" dirty="0"/>
              <a:t>Reasoning:</a:t>
            </a:r>
            <a:br>
              <a:rPr lang="en-IN" sz="1200" dirty="0"/>
            </a:br>
            <a:r>
              <a:rPr lang="en-IN" sz="1200" dirty="0"/>
              <a:t>Works well for urgent alerts, but not practical for regular asset delivery.</a:t>
            </a:r>
          </a:p>
        </p:txBody>
      </p:sp>
    </p:spTree>
    <p:extLst>
      <p:ext uri="{BB962C8B-B14F-4D97-AF65-F5344CB8AC3E}">
        <p14:creationId xmlns:p14="http://schemas.microsoft.com/office/powerpoint/2010/main" val="6215599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AF15B-C69F-3753-40DD-A0CFDB4A9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0C34EB-43A0-8F48-9BEE-C3C7C359447E}"/>
              </a:ext>
            </a:extLst>
          </p:cNvPr>
          <p:cNvSpPr>
            <a:spLocks noGrp="1"/>
          </p:cNvSpPr>
          <p:nvPr>
            <p:ph type="title"/>
          </p:nvPr>
        </p:nvSpPr>
        <p:spPr/>
        <p:txBody>
          <a:bodyPr/>
          <a:lstStyle/>
          <a:p>
            <a:r>
              <a:rPr lang="en-US" dirty="0"/>
              <a:t>Timeline</a:t>
            </a:r>
          </a:p>
        </p:txBody>
      </p:sp>
      <p:cxnSp>
        <p:nvCxnSpPr>
          <p:cNvPr id="3" name="Straight Connector 2">
            <a:extLst>
              <a:ext uri="{FF2B5EF4-FFF2-40B4-BE49-F238E27FC236}">
                <a16:creationId xmlns:a16="http://schemas.microsoft.com/office/drawing/2014/main" id="{A72B535F-B052-0151-B553-6ADADC3B8CEC}"/>
              </a:ext>
            </a:extLst>
          </p:cNvPr>
          <p:cNvCxnSpPr>
            <a:cxnSpLocks/>
          </p:cNvCxnSpPr>
          <p:nvPr/>
        </p:nvCxnSpPr>
        <p:spPr>
          <a:xfrm>
            <a:off x="6523463" y="3911394"/>
            <a:ext cx="12192000" cy="0"/>
          </a:xfrm>
          <a:prstGeom prst="line">
            <a:avLst/>
          </a:prstGeom>
          <a:ln w="38100">
            <a:noFill/>
          </a:ln>
        </p:spPr>
        <p:style>
          <a:lnRef idx="1">
            <a:schemeClr val="accent1"/>
          </a:lnRef>
          <a:fillRef idx="0">
            <a:schemeClr val="accent1"/>
          </a:fillRef>
          <a:effectRef idx="0">
            <a:schemeClr val="accent1"/>
          </a:effectRef>
          <a:fontRef idx="minor">
            <a:schemeClr val="tx1"/>
          </a:fontRef>
        </p:style>
      </p:cxnSp>
      <p:graphicFrame>
        <p:nvGraphicFramePr>
          <p:cNvPr id="12" name="Diagram 11">
            <a:extLst>
              <a:ext uri="{FF2B5EF4-FFF2-40B4-BE49-F238E27FC236}">
                <a16:creationId xmlns:a16="http://schemas.microsoft.com/office/drawing/2014/main" id="{90C889C1-67F5-A629-ADAA-480215BC3657}"/>
              </a:ext>
            </a:extLst>
          </p:cNvPr>
          <p:cNvGraphicFramePr/>
          <p:nvPr>
            <p:extLst>
              <p:ext uri="{D42A27DB-BD31-4B8C-83A1-F6EECF244321}">
                <p14:modId xmlns:p14="http://schemas.microsoft.com/office/powerpoint/2010/main" val="418546679"/>
              </p:ext>
            </p:extLst>
          </p:nvPr>
        </p:nvGraphicFramePr>
        <p:xfrm>
          <a:off x="617976" y="1415177"/>
          <a:ext cx="6574420" cy="49924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TextBox 12">
            <a:extLst>
              <a:ext uri="{FF2B5EF4-FFF2-40B4-BE49-F238E27FC236}">
                <a16:creationId xmlns:a16="http://schemas.microsoft.com/office/drawing/2014/main" id="{0EC611F1-B953-2B8D-5D09-761B52426DC5}"/>
              </a:ext>
            </a:extLst>
          </p:cNvPr>
          <p:cNvSpPr txBox="1"/>
          <p:nvPr/>
        </p:nvSpPr>
        <p:spPr>
          <a:xfrm>
            <a:off x="3507130" y="984377"/>
            <a:ext cx="1613262" cy="369332"/>
          </a:xfrm>
          <a:prstGeom prst="rect">
            <a:avLst/>
          </a:prstGeom>
          <a:noFill/>
        </p:spPr>
        <p:txBody>
          <a:bodyPr wrap="none" rtlCol="0">
            <a:spAutoFit/>
          </a:bodyPr>
          <a:lstStyle/>
          <a:p>
            <a:r>
              <a:rPr lang="en-US" dirty="0"/>
              <a:t>Actions/Tasks </a:t>
            </a:r>
          </a:p>
        </p:txBody>
      </p:sp>
      <p:sp>
        <p:nvSpPr>
          <p:cNvPr id="14" name="TextBox 13">
            <a:extLst>
              <a:ext uri="{FF2B5EF4-FFF2-40B4-BE49-F238E27FC236}">
                <a16:creationId xmlns:a16="http://schemas.microsoft.com/office/drawing/2014/main" id="{AB2B6E2F-EEA5-019B-187B-31474658A772}"/>
              </a:ext>
            </a:extLst>
          </p:cNvPr>
          <p:cNvSpPr txBox="1"/>
          <p:nvPr/>
        </p:nvSpPr>
        <p:spPr>
          <a:xfrm>
            <a:off x="8769902" y="973292"/>
            <a:ext cx="1465979" cy="369332"/>
          </a:xfrm>
          <a:prstGeom prst="rect">
            <a:avLst/>
          </a:prstGeom>
          <a:noFill/>
        </p:spPr>
        <p:txBody>
          <a:bodyPr wrap="none" rtlCol="0">
            <a:spAutoFit/>
          </a:bodyPr>
          <a:lstStyle/>
          <a:p>
            <a:r>
              <a:rPr lang="en-US" dirty="0"/>
              <a:t>Deliverables </a:t>
            </a:r>
          </a:p>
        </p:txBody>
      </p:sp>
      <p:grpSp>
        <p:nvGrpSpPr>
          <p:cNvPr id="20" name="Group 19">
            <a:extLst>
              <a:ext uri="{FF2B5EF4-FFF2-40B4-BE49-F238E27FC236}">
                <a16:creationId xmlns:a16="http://schemas.microsoft.com/office/drawing/2014/main" id="{12FB0CCB-F2ED-4C30-3C92-CB75AC321C90}"/>
              </a:ext>
            </a:extLst>
          </p:cNvPr>
          <p:cNvGrpSpPr/>
          <p:nvPr/>
        </p:nvGrpSpPr>
        <p:grpSpPr>
          <a:xfrm>
            <a:off x="7553764" y="1415177"/>
            <a:ext cx="4379736" cy="880591"/>
            <a:chOff x="982969" y="17630"/>
            <a:chExt cx="5626589" cy="880591"/>
          </a:xfrm>
        </p:grpSpPr>
        <p:sp>
          <p:nvSpPr>
            <p:cNvPr id="21" name="Round Same-side Corner of Rectangle 20">
              <a:extLst>
                <a:ext uri="{FF2B5EF4-FFF2-40B4-BE49-F238E27FC236}">
                  <a16:creationId xmlns:a16="http://schemas.microsoft.com/office/drawing/2014/main" id="{7570A113-ADA7-975C-B679-1B786D3CDD45}"/>
                </a:ext>
              </a:extLst>
            </p:cNvPr>
            <p:cNvSpPr/>
            <p:nvPr/>
          </p:nvSpPr>
          <p:spPr>
            <a:xfrm rot="5400000">
              <a:off x="3355968" y="-2355369"/>
              <a:ext cx="880591" cy="5626589"/>
            </a:xfrm>
            <a:prstGeom prst="round2SameRect">
              <a:avLst/>
            </a:prstGeom>
          </p:spPr>
          <p:style>
            <a:lnRef idx="2">
              <a:schemeClr val="accent2">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3" name="Round Same-side Corner of Rectangle 4">
              <a:extLst>
                <a:ext uri="{FF2B5EF4-FFF2-40B4-BE49-F238E27FC236}">
                  <a16:creationId xmlns:a16="http://schemas.microsoft.com/office/drawing/2014/main" id="{4EE0A66D-81AB-4499-3646-0D50DF3AEE0B}"/>
                </a:ext>
              </a:extLst>
            </p:cNvPr>
            <p:cNvSpPr txBox="1"/>
            <p:nvPr/>
          </p:nvSpPr>
          <p:spPr>
            <a:xfrm>
              <a:off x="982970" y="60616"/>
              <a:ext cx="5583602" cy="794617"/>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7620" rIns="7620" bIns="7620" numCol="1" spcCol="1270" anchor="ctr" anchorCtr="0">
              <a:noAutofit/>
            </a:bodyPr>
            <a:lstStyle/>
            <a:p>
              <a:pPr marL="171450" lvl="1" indent="-171450" defTabSz="533400">
                <a:lnSpc>
                  <a:spcPct val="90000"/>
                </a:lnSpc>
                <a:spcBef>
                  <a:spcPct val="0"/>
                </a:spcBef>
                <a:spcAft>
                  <a:spcPct val="15000"/>
                </a:spcAft>
                <a:buFont typeface="Arial" panose="020B0604020202020204" pitchFamily="34" charset="0"/>
                <a:buChar char="•"/>
              </a:pPr>
              <a:r>
                <a:rPr lang="en-IN" sz="1200" dirty="0"/>
                <a:t> MVP portal live, merchants uploading consistently</a:t>
              </a:r>
            </a:p>
            <a:p>
              <a:pPr marL="171450" lvl="1" indent="-171450" defTabSz="533400">
                <a:lnSpc>
                  <a:spcPct val="90000"/>
                </a:lnSpc>
                <a:spcBef>
                  <a:spcPct val="0"/>
                </a:spcBef>
                <a:spcAft>
                  <a:spcPct val="15000"/>
                </a:spcAft>
                <a:buFont typeface="Arial" panose="020B0604020202020204" pitchFamily="34" charset="0"/>
                <a:buChar char="•"/>
              </a:pPr>
              <a:r>
                <a:rPr lang="en-IN" sz="1200" dirty="0"/>
                <a:t>Ops feedback collected for iteration</a:t>
              </a:r>
              <a:endParaRPr lang="en-IN" sz="1200" kern="1200" dirty="0"/>
            </a:p>
          </p:txBody>
        </p:sp>
      </p:grpSp>
      <p:grpSp>
        <p:nvGrpSpPr>
          <p:cNvPr id="24" name="Group 23">
            <a:extLst>
              <a:ext uri="{FF2B5EF4-FFF2-40B4-BE49-F238E27FC236}">
                <a16:creationId xmlns:a16="http://schemas.microsoft.com/office/drawing/2014/main" id="{96B71E9D-58BA-9218-73E2-4FD79649A8B0}"/>
              </a:ext>
            </a:extLst>
          </p:cNvPr>
          <p:cNvGrpSpPr/>
          <p:nvPr/>
        </p:nvGrpSpPr>
        <p:grpSpPr>
          <a:xfrm>
            <a:off x="7553764" y="2620760"/>
            <a:ext cx="4379737" cy="880128"/>
            <a:chOff x="912691" y="1214817"/>
            <a:chExt cx="5626589" cy="880128"/>
          </a:xfrm>
        </p:grpSpPr>
        <p:sp>
          <p:nvSpPr>
            <p:cNvPr id="26" name="Round Same-side Corner of Rectangle 25">
              <a:extLst>
                <a:ext uri="{FF2B5EF4-FFF2-40B4-BE49-F238E27FC236}">
                  <a16:creationId xmlns:a16="http://schemas.microsoft.com/office/drawing/2014/main" id="{D684DAFD-3CB0-045F-71B5-72D7DEA3D439}"/>
                </a:ext>
              </a:extLst>
            </p:cNvPr>
            <p:cNvSpPr/>
            <p:nvPr/>
          </p:nvSpPr>
          <p:spPr>
            <a:xfrm rot="5400000">
              <a:off x="3285922" y="-1158414"/>
              <a:ext cx="880128" cy="5626589"/>
            </a:xfrm>
            <a:prstGeom prst="round2SameRect">
              <a:avLst/>
            </a:prstGeom>
          </p:spPr>
          <p:style>
            <a:lnRef idx="2">
              <a:schemeClr val="accent2">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28" name="Round Same-side Corner of Rectangle 4">
              <a:extLst>
                <a:ext uri="{FF2B5EF4-FFF2-40B4-BE49-F238E27FC236}">
                  <a16:creationId xmlns:a16="http://schemas.microsoft.com/office/drawing/2014/main" id="{369FBDB3-DAD8-11C3-3A82-62F6F106C9A9}"/>
                </a:ext>
              </a:extLst>
            </p:cNvPr>
            <p:cNvSpPr txBox="1"/>
            <p:nvPr/>
          </p:nvSpPr>
          <p:spPr>
            <a:xfrm>
              <a:off x="912692" y="1257780"/>
              <a:ext cx="5583625" cy="7942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endParaRPr lang="en-IN" sz="1200" kern="1200" dirty="0"/>
            </a:p>
          </p:txBody>
        </p:sp>
      </p:grpSp>
      <p:sp>
        <p:nvSpPr>
          <p:cNvPr id="34" name="TextBox 33">
            <a:extLst>
              <a:ext uri="{FF2B5EF4-FFF2-40B4-BE49-F238E27FC236}">
                <a16:creationId xmlns:a16="http://schemas.microsoft.com/office/drawing/2014/main" id="{41D7D11F-1CFD-7AF1-6CAF-378CAB3A0D7B}"/>
              </a:ext>
            </a:extLst>
          </p:cNvPr>
          <p:cNvSpPr txBox="1"/>
          <p:nvPr/>
        </p:nvSpPr>
        <p:spPr>
          <a:xfrm>
            <a:off x="7553763" y="2735839"/>
            <a:ext cx="3898258" cy="738664"/>
          </a:xfrm>
          <a:prstGeom prst="rect">
            <a:avLst/>
          </a:prstGeom>
          <a:noFill/>
        </p:spPr>
        <p:txBody>
          <a:bodyPr wrap="square">
            <a:spAutoFit/>
          </a:bodyPr>
          <a:lstStyle/>
          <a:p>
            <a:pPr marL="285750" indent="-285750">
              <a:buFont typeface="Arial" panose="020B0604020202020204" pitchFamily="34" charset="0"/>
              <a:buChar char="•"/>
            </a:pPr>
            <a:r>
              <a:rPr lang="en-IN" sz="1400" dirty="0"/>
              <a:t>Automated resizing &amp; validation proven</a:t>
            </a:r>
          </a:p>
          <a:p>
            <a:pPr marL="285750" indent="-285750">
              <a:buFont typeface="Arial" panose="020B0604020202020204" pitchFamily="34" charset="0"/>
              <a:buChar char="•"/>
            </a:pPr>
            <a:r>
              <a:rPr lang="en-IN" sz="1400" dirty="0"/>
              <a:t>Merchant pilot validated quality &amp; turnaround</a:t>
            </a:r>
          </a:p>
        </p:txBody>
      </p:sp>
      <p:grpSp>
        <p:nvGrpSpPr>
          <p:cNvPr id="38" name="Group 37">
            <a:extLst>
              <a:ext uri="{FF2B5EF4-FFF2-40B4-BE49-F238E27FC236}">
                <a16:creationId xmlns:a16="http://schemas.microsoft.com/office/drawing/2014/main" id="{6D3A6797-ED06-120D-6F29-E051445884D6}"/>
              </a:ext>
            </a:extLst>
          </p:cNvPr>
          <p:cNvGrpSpPr/>
          <p:nvPr/>
        </p:nvGrpSpPr>
        <p:grpSpPr>
          <a:xfrm>
            <a:off x="7542198" y="3868407"/>
            <a:ext cx="4346276" cy="880128"/>
            <a:chOff x="912691" y="2423574"/>
            <a:chExt cx="5626589" cy="880128"/>
          </a:xfrm>
        </p:grpSpPr>
        <p:sp>
          <p:nvSpPr>
            <p:cNvPr id="39" name="Round Same-side Corner of Rectangle 38">
              <a:extLst>
                <a:ext uri="{FF2B5EF4-FFF2-40B4-BE49-F238E27FC236}">
                  <a16:creationId xmlns:a16="http://schemas.microsoft.com/office/drawing/2014/main" id="{A898F162-08F2-F6CC-18FD-1C2DD5727BD3}"/>
                </a:ext>
              </a:extLst>
            </p:cNvPr>
            <p:cNvSpPr/>
            <p:nvPr/>
          </p:nvSpPr>
          <p:spPr>
            <a:xfrm rot="5400000">
              <a:off x="3285922" y="50343"/>
              <a:ext cx="880128" cy="5626589"/>
            </a:xfrm>
            <a:prstGeom prst="round2SameRect">
              <a:avLst/>
            </a:prstGeom>
          </p:spPr>
          <p:style>
            <a:lnRef idx="2">
              <a:schemeClr val="accent2">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0" name="Round Same-side Corner of Rectangle 4">
              <a:extLst>
                <a:ext uri="{FF2B5EF4-FFF2-40B4-BE49-F238E27FC236}">
                  <a16:creationId xmlns:a16="http://schemas.microsoft.com/office/drawing/2014/main" id="{E42E1983-4C1D-522F-3E5C-FD0D43911678}"/>
                </a:ext>
              </a:extLst>
            </p:cNvPr>
            <p:cNvSpPr txBox="1"/>
            <p:nvPr/>
          </p:nvSpPr>
          <p:spPr>
            <a:xfrm>
              <a:off x="912692" y="2466537"/>
              <a:ext cx="5583625" cy="7942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endParaRPr lang="en-IN" sz="1200" kern="1200" dirty="0"/>
            </a:p>
          </p:txBody>
        </p:sp>
      </p:grpSp>
      <p:sp>
        <p:nvSpPr>
          <p:cNvPr id="42" name="TextBox 41">
            <a:extLst>
              <a:ext uri="{FF2B5EF4-FFF2-40B4-BE49-F238E27FC236}">
                <a16:creationId xmlns:a16="http://schemas.microsoft.com/office/drawing/2014/main" id="{26C2E4E7-71F2-FEA1-9019-40FFCDF8A760}"/>
              </a:ext>
            </a:extLst>
          </p:cNvPr>
          <p:cNvSpPr txBox="1"/>
          <p:nvPr/>
        </p:nvSpPr>
        <p:spPr>
          <a:xfrm>
            <a:off x="7542197" y="3974604"/>
            <a:ext cx="4125788" cy="692497"/>
          </a:xfrm>
          <a:prstGeom prst="rect">
            <a:avLst/>
          </a:prstGeom>
          <a:noFill/>
        </p:spPr>
        <p:txBody>
          <a:bodyPr wrap="square">
            <a:spAutoFit/>
          </a:bodyPr>
          <a:lstStyle/>
          <a:p>
            <a:pPr marL="285750" indent="-285750">
              <a:buFont typeface="Arial" panose="020B0604020202020204" pitchFamily="34" charset="0"/>
              <a:buChar char="•"/>
            </a:pPr>
            <a:r>
              <a:rPr lang="en-IN" sz="1300" dirty="0"/>
              <a:t>Assets linkable to brand pages</a:t>
            </a:r>
          </a:p>
          <a:p>
            <a:pPr marL="285750" indent="-285750">
              <a:buFont typeface="Arial" panose="020B0604020202020204" pitchFamily="34" charset="0"/>
              <a:buChar char="•"/>
            </a:pPr>
            <a:r>
              <a:rPr lang="en-IN" sz="1300" dirty="0"/>
              <a:t>Ops workload reduced to “exceptions only”</a:t>
            </a:r>
          </a:p>
          <a:p>
            <a:pPr marL="285750" indent="-285750">
              <a:buFont typeface="Arial" panose="020B0604020202020204" pitchFamily="34" charset="0"/>
              <a:buChar char="•"/>
            </a:pPr>
            <a:r>
              <a:rPr lang="en-IN" sz="1300" dirty="0"/>
              <a:t>Ready for scale (10× merchants without extra Ops)</a:t>
            </a:r>
          </a:p>
        </p:txBody>
      </p:sp>
      <p:grpSp>
        <p:nvGrpSpPr>
          <p:cNvPr id="43" name="Group 42">
            <a:extLst>
              <a:ext uri="{FF2B5EF4-FFF2-40B4-BE49-F238E27FC236}">
                <a16:creationId xmlns:a16="http://schemas.microsoft.com/office/drawing/2014/main" id="{F14124F3-E425-1C5D-6B03-DAEA6EC7453D}"/>
              </a:ext>
            </a:extLst>
          </p:cNvPr>
          <p:cNvGrpSpPr/>
          <p:nvPr/>
        </p:nvGrpSpPr>
        <p:grpSpPr>
          <a:xfrm>
            <a:off x="7542198" y="5073527"/>
            <a:ext cx="4391303" cy="880128"/>
            <a:chOff x="912691" y="3632331"/>
            <a:chExt cx="5626589" cy="880128"/>
          </a:xfrm>
        </p:grpSpPr>
        <p:sp>
          <p:nvSpPr>
            <p:cNvPr id="44" name="Round Same-side Corner of Rectangle 43">
              <a:extLst>
                <a:ext uri="{FF2B5EF4-FFF2-40B4-BE49-F238E27FC236}">
                  <a16:creationId xmlns:a16="http://schemas.microsoft.com/office/drawing/2014/main" id="{EE8794CF-D392-FEBF-A342-BE26059B7216}"/>
                </a:ext>
              </a:extLst>
            </p:cNvPr>
            <p:cNvSpPr/>
            <p:nvPr/>
          </p:nvSpPr>
          <p:spPr>
            <a:xfrm rot="5400000">
              <a:off x="3285922" y="1259100"/>
              <a:ext cx="880128" cy="5626589"/>
            </a:xfrm>
            <a:prstGeom prst="round2SameRect">
              <a:avLst/>
            </a:prstGeom>
          </p:spPr>
          <p:style>
            <a:lnRef idx="2">
              <a:schemeClr val="accent2">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45" name="Round Same-side Corner of Rectangle 4">
              <a:extLst>
                <a:ext uri="{FF2B5EF4-FFF2-40B4-BE49-F238E27FC236}">
                  <a16:creationId xmlns:a16="http://schemas.microsoft.com/office/drawing/2014/main" id="{F9952424-2E6C-F39A-AF04-B8D1D8215258}"/>
                </a:ext>
              </a:extLst>
            </p:cNvPr>
            <p:cNvSpPr txBox="1"/>
            <p:nvPr/>
          </p:nvSpPr>
          <p:spPr>
            <a:xfrm>
              <a:off x="912692" y="3675294"/>
              <a:ext cx="5583625" cy="794200"/>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85344" tIns="7620" rIns="7620" bIns="7620" numCol="1" spcCol="1270" anchor="ctr" anchorCtr="0">
              <a:noAutofit/>
            </a:bodyPr>
            <a:lstStyle/>
            <a:p>
              <a:pPr marL="114300" lvl="1" indent="-114300" algn="l" defTabSz="533400">
                <a:lnSpc>
                  <a:spcPct val="90000"/>
                </a:lnSpc>
                <a:spcBef>
                  <a:spcPct val="0"/>
                </a:spcBef>
                <a:spcAft>
                  <a:spcPct val="15000"/>
                </a:spcAft>
                <a:buFont typeface="Arial" panose="020B0604020202020204" pitchFamily="34" charset="0"/>
                <a:buChar char="•"/>
              </a:pPr>
              <a:endParaRPr lang="en-IN" sz="1200" kern="1200" dirty="0"/>
            </a:p>
          </p:txBody>
        </p:sp>
      </p:grpSp>
      <p:sp>
        <p:nvSpPr>
          <p:cNvPr id="50" name="TextBox 49">
            <a:extLst>
              <a:ext uri="{FF2B5EF4-FFF2-40B4-BE49-F238E27FC236}">
                <a16:creationId xmlns:a16="http://schemas.microsoft.com/office/drawing/2014/main" id="{DBCBA292-FA6C-F208-0E02-5927570542CF}"/>
              </a:ext>
            </a:extLst>
          </p:cNvPr>
          <p:cNvSpPr txBox="1"/>
          <p:nvPr/>
        </p:nvSpPr>
        <p:spPr>
          <a:xfrm>
            <a:off x="7676710" y="5175204"/>
            <a:ext cx="4044066" cy="738664"/>
          </a:xfrm>
          <a:prstGeom prst="rect">
            <a:avLst/>
          </a:prstGeom>
          <a:noFill/>
        </p:spPr>
        <p:txBody>
          <a:bodyPr wrap="square">
            <a:spAutoFit/>
          </a:bodyPr>
          <a:lstStyle/>
          <a:p>
            <a:pPr marL="285750" indent="-285750">
              <a:buFont typeface="Arial" panose="020B0604020202020204" pitchFamily="34" charset="0"/>
              <a:buChar char="•"/>
            </a:pPr>
            <a:r>
              <a:rPr lang="en-IN" sz="1400" dirty="0"/>
              <a:t>Merchants notified automatically</a:t>
            </a:r>
          </a:p>
          <a:p>
            <a:pPr marL="285750" indent="-285750">
              <a:buFont typeface="Arial" panose="020B0604020202020204" pitchFamily="34" charset="0"/>
              <a:buChar char="•"/>
            </a:pPr>
            <a:r>
              <a:rPr lang="en-IN" sz="1400" dirty="0"/>
              <a:t>End-to-end tested with real cases</a:t>
            </a:r>
          </a:p>
          <a:p>
            <a:pPr marL="285750" indent="-285750">
              <a:buFont typeface="Arial" panose="020B0604020202020204" pitchFamily="34" charset="0"/>
              <a:buChar char="•"/>
            </a:pPr>
            <a:r>
              <a:rPr lang="en-IN" sz="1400" dirty="0"/>
              <a:t>Path to CMS/dashboard integration</a:t>
            </a:r>
            <a:endParaRPr lang="en-IN" sz="1300" dirty="0"/>
          </a:p>
        </p:txBody>
      </p:sp>
    </p:spTree>
    <p:extLst>
      <p:ext uri="{BB962C8B-B14F-4D97-AF65-F5344CB8AC3E}">
        <p14:creationId xmlns:p14="http://schemas.microsoft.com/office/powerpoint/2010/main" val="1420467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2FB74-939F-22D3-81E8-5B2EEE652A75}"/>
              </a:ext>
            </a:extLst>
          </p:cNvPr>
          <p:cNvSpPr>
            <a:spLocks noGrp="1"/>
          </p:cNvSpPr>
          <p:nvPr>
            <p:ph type="title"/>
          </p:nvPr>
        </p:nvSpPr>
        <p:spPr/>
        <p:txBody>
          <a:bodyPr/>
          <a:lstStyle/>
          <a:p>
            <a:r>
              <a:rPr lang="en-US" dirty="0"/>
              <a:t>Benefits and Future Enhancements</a:t>
            </a:r>
          </a:p>
        </p:txBody>
      </p:sp>
      <p:cxnSp>
        <p:nvCxnSpPr>
          <p:cNvPr id="13" name="Straight Connector 12">
            <a:extLst>
              <a:ext uri="{FF2B5EF4-FFF2-40B4-BE49-F238E27FC236}">
                <a16:creationId xmlns:a16="http://schemas.microsoft.com/office/drawing/2014/main" id="{0A3413C1-4430-17C8-4837-9FAA9C5CED27}"/>
              </a:ext>
            </a:extLst>
          </p:cNvPr>
          <p:cNvCxnSpPr/>
          <p:nvPr/>
        </p:nvCxnSpPr>
        <p:spPr>
          <a:xfrm>
            <a:off x="4143030" y="924042"/>
            <a:ext cx="0" cy="5255895"/>
          </a:xfrm>
          <a:prstGeom prst="line">
            <a:avLst/>
          </a:prstGeom>
        </p:spPr>
        <p:style>
          <a:lnRef idx="2">
            <a:schemeClr val="dk1"/>
          </a:lnRef>
          <a:fillRef idx="0">
            <a:schemeClr val="dk1"/>
          </a:fillRef>
          <a:effectRef idx="1">
            <a:schemeClr val="dk1"/>
          </a:effectRef>
          <a:fontRef idx="minor">
            <a:schemeClr val="tx1"/>
          </a:fontRef>
        </p:style>
      </p:cxnSp>
      <p:cxnSp>
        <p:nvCxnSpPr>
          <p:cNvPr id="15" name="Straight Connector 14">
            <a:extLst>
              <a:ext uri="{FF2B5EF4-FFF2-40B4-BE49-F238E27FC236}">
                <a16:creationId xmlns:a16="http://schemas.microsoft.com/office/drawing/2014/main" id="{3981544C-3DEE-DF1D-D738-D7968134309F}"/>
              </a:ext>
            </a:extLst>
          </p:cNvPr>
          <p:cNvCxnSpPr/>
          <p:nvPr/>
        </p:nvCxnSpPr>
        <p:spPr>
          <a:xfrm>
            <a:off x="8147869" y="924042"/>
            <a:ext cx="0" cy="5255895"/>
          </a:xfrm>
          <a:prstGeom prst="line">
            <a:avLst/>
          </a:prstGeom>
        </p:spPr>
        <p:style>
          <a:lnRef idx="2">
            <a:schemeClr val="dk1"/>
          </a:lnRef>
          <a:fillRef idx="0">
            <a:schemeClr val="dk1"/>
          </a:fillRef>
          <a:effectRef idx="1">
            <a:schemeClr val="dk1"/>
          </a:effectRef>
          <a:fontRef idx="minor">
            <a:schemeClr val="tx1"/>
          </a:fontRef>
        </p:style>
      </p:cxnSp>
      <p:sp>
        <p:nvSpPr>
          <p:cNvPr id="20" name="TextBox 19">
            <a:extLst>
              <a:ext uri="{FF2B5EF4-FFF2-40B4-BE49-F238E27FC236}">
                <a16:creationId xmlns:a16="http://schemas.microsoft.com/office/drawing/2014/main" id="{5B6D7E3C-1E2C-9B98-9DD0-79AF4F94F1D5}"/>
              </a:ext>
            </a:extLst>
          </p:cNvPr>
          <p:cNvSpPr txBox="1"/>
          <p:nvPr/>
        </p:nvSpPr>
        <p:spPr>
          <a:xfrm>
            <a:off x="375289" y="1600651"/>
            <a:ext cx="3583005" cy="4016484"/>
          </a:xfrm>
          <a:prstGeom prst="rect">
            <a:avLst/>
          </a:prstGeom>
          <a:noFill/>
        </p:spPr>
        <p:txBody>
          <a:bodyPr wrap="square">
            <a:spAutoFit/>
          </a:bodyPr>
          <a:lstStyle/>
          <a:p>
            <a:pPr>
              <a:buFont typeface="Arial" panose="020B0604020202020204" pitchFamily="34" charset="0"/>
              <a:buChar char="•"/>
            </a:pPr>
            <a:r>
              <a:rPr lang="en-IN" sz="1500" dirty="0"/>
              <a:t> </a:t>
            </a:r>
            <a:r>
              <a:rPr lang="en-IN" sz="1500" b="1" dirty="0"/>
              <a:t>Faster Turnaround:</a:t>
            </a:r>
            <a:r>
              <a:rPr lang="en-IN" sz="1500" dirty="0"/>
              <a:t> Hours/days → minutes.</a:t>
            </a:r>
          </a:p>
          <a:p>
            <a:pPr>
              <a:buFont typeface="Arial" panose="020B0604020202020204" pitchFamily="34" charset="0"/>
              <a:buChar char="•"/>
            </a:pPr>
            <a:r>
              <a:rPr lang="en-IN" sz="1500" b="1" dirty="0"/>
              <a:t>Consistency &amp; Quality:</a:t>
            </a:r>
            <a:r>
              <a:rPr lang="en-IN" sz="1500" dirty="0"/>
              <a:t> Standardized outputs, fewer errors.</a:t>
            </a:r>
          </a:p>
          <a:p>
            <a:pPr>
              <a:buFont typeface="Arial" panose="020B0604020202020204" pitchFamily="34" charset="0"/>
              <a:buChar char="•"/>
            </a:pPr>
            <a:r>
              <a:rPr lang="en-IN" sz="1500" b="1" dirty="0"/>
              <a:t>Reduced Ops Workload:</a:t>
            </a:r>
            <a:r>
              <a:rPr lang="en-IN" sz="1500" dirty="0"/>
              <a:t> Ops focus only on flagged exceptions.</a:t>
            </a:r>
          </a:p>
          <a:p>
            <a:pPr>
              <a:buFont typeface="Arial" panose="020B0604020202020204" pitchFamily="34" charset="0"/>
              <a:buChar char="•"/>
            </a:pPr>
            <a:r>
              <a:rPr lang="en-IN" sz="1500" b="1" dirty="0"/>
              <a:t>Scalability:</a:t>
            </a:r>
            <a:r>
              <a:rPr lang="en-IN" sz="1500" dirty="0"/>
              <a:t> System can handle growing merchant volumes without extra headcount.</a:t>
            </a:r>
          </a:p>
          <a:p>
            <a:pPr>
              <a:buFont typeface="Arial" panose="020B0604020202020204" pitchFamily="34" charset="0"/>
              <a:buChar char="•"/>
            </a:pPr>
            <a:r>
              <a:rPr lang="en-IN" sz="1500" dirty="0"/>
              <a:t> </a:t>
            </a:r>
            <a:r>
              <a:rPr lang="en-IN" sz="1500" b="1" dirty="0"/>
              <a:t>Better Traceability:</a:t>
            </a:r>
            <a:r>
              <a:rPr lang="en-IN" sz="1500" dirty="0"/>
              <a:t> Brand ID, file naming, and metadata ensure full audit trail.</a:t>
            </a:r>
          </a:p>
          <a:p>
            <a:pPr>
              <a:buFont typeface="Arial" panose="020B0604020202020204" pitchFamily="34" charset="0"/>
              <a:buChar char="•"/>
            </a:pPr>
            <a:r>
              <a:rPr lang="en-IN" sz="1500" dirty="0"/>
              <a:t> </a:t>
            </a:r>
            <a:r>
              <a:rPr lang="en-IN" sz="1500" b="1" dirty="0"/>
              <a:t>Improved Merchant Experience:</a:t>
            </a:r>
            <a:r>
              <a:rPr lang="en-IN" sz="1500" dirty="0"/>
              <a:t> Merchants notified instantly, brand pages go live faster.</a:t>
            </a:r>
          </a:p>
          <a:p>
            <a:pPr>
              <a:buNone/>
            </a:pPr>
            <a:br>
              <a:rPr lang="en-IN" sz="1500" dirty="0"/>
            </a:br>
            <a:endParaRPr lang="en-IN" sz="1500" dirty="0"/>
          </a:p>
        </p:txBody>
      </p:sp>
      <p:sp>
        <p:nvSpPr>
          <p:cNvPr id="25" name="TextBox 24">
            <a:extLst>
              <a:ext uri="{FF2B5EF4-FFF2-40B4-BE49-F238E27FC236}">
                <a16:creationId xmlns:a16="http://schemas.microsoft.com/office/drawing/2014/main" id="{1E36B812-4771-2E91-6066-534FD6F69C28}"/>
              </a:ext>
            </a:extLst>
          </p:cNvPr>
          <p:cNvSpPr txBox="1"/>
          <p:nvPr/>
        </p:nvSpPr>
        <p:spPr>
          <a:xfrm>
            <a:off x="4327767" y="1659853"/>
            <a:ext cx="3255376" cy="2862322"/>
          </a:xfrm>
          <a:prstGeom prst="rect">
            <a:avLst/>
          </a:prstGeom>
          <a:noFill/>
        </p:spPr>
        <p:txBody>
          <a:bodyPr wrap="square">
            <a:spAutoFit/>
          </a:bodyPr>
          <a:lstStyle/>
          <a:p>
            <a:pPr marL="285750" indent="-285750">
              <a:buFont typeface="Arial" panose="020B0604020202020204" pitchFamily="34" charset="0"/>
              <a:buChar char="•"/>
            </a:pPr>
            <a:r>
              <a:rPr lang="en-IN" sz="1500" b="1" dirty="0"/>
              <a:t>CMS Integration:</a:t>
            </a:r>
            <a:r>
              <a:rPr lang="en-IN" sz="1500" dirty="0"/>
              <a:t> Full embedding into ShopBack’s backend so the process is part of merchant onboarding.</a:t>
            </a:r>
          </a:p>
          <a:p>
            <a:pPr marL="285750" indent="-285750">
              <a:buFont typeface="Arial" panose="020B0604020202020204" pitchFamily="34" charset="0"/>
              <a:buChar char="•"/>
            </a:pPr>
            <a:r>
              <a:rPr lang="en-IN" sz="1500" b="1" dirty="0"/>
              <a:t>Merchant Dashboard:</a:t>
            </a:r>
            <a:r>
              <a:rPr lang="en-IN" sz="1500" dirty="0"/>
              <a:t> Move from email → self-service dashboard for real-time status and asset downloads.</a:t>
            </a:r>
          </a:p>
          <a:p>
            <a:pPr marL="285750" indent="-285750">
              <a:buFont typeface="Arial" panose="020B0604020202020204" pitchFamily="34" charset="0"/>
              <a:buChar char="•"/>
            </a:pPr>
            <a:r>
              <a:rPr lang="en-IN" sz="1500" b="1" dirty="0"/>
              <a:t>Ops Analytics:</a:t>
            </a:r>
            <a:r>
              <a:rPr lang="en-IN" sz="1500" dirty="0"/>
              <a:t> Use collected metadata (upload time, file failures, exceptions) to spot bottlenecks and train Ops.</a:t>
            </a:r>
          </a:p>
        </p:txBody>
      </p:sp>
      <p:sp>
        <p:nvSpPr>
          <p:cNvPr id="35" name="TextBox 34">
            <a:extLst>
              <a:ext uri="{FF2B5EF4-FFF2-40B4-BE49-F238E27FC236}">
                <a16:creationId xmlns:a16="http://schemas.microsoft.com/office/drawing/2014/main" id="{A0DE9349-9A00-25F2-DFA6-BEDD8D5C4BBE}"/>
              </a:ext>
            </a:extLst>
          </p:cNvPr>
          <p:cNvSpPr txBox="1"/>
          <p:nvPr/>
        </p:nvSpPr>
        <p:spPr>
          <a:xfrm>
            <a:off x="8561332" y="1659853"/>
            <a:ext cx="3264991" cy="4616648"/>
          </a:xfrm>
          <a:prstGeom prst="rect">
            <a:avLst/>
          </a:prstGeom>
          <a:noFill/>
        </p:spPr>
        <p:txBody>
          <a:bodyPr wrap="square">
            <a:spAutoFit/>
          </a:bodyPr>
          <a:lstStyle/>
          <a:p>
            <a:pPr marL="285750" indent="-285750">
              <a:buFont typeface="Arial" panose="020B0604020202020204" pitchFamily="34" charset="0"/>
              <a:buChar char="•"/>
            </a:pPr>
            <a:r>
              <a:rPr lang="en-IN" sz="1400" b="1" dirty="0"/>
              <a:t>AI-driven Quality Checks:</a:t>
            </a:r>
            <a:r>
              <a:rPr lang="en-IN" sz="1400" dirty="0"/>
              <a:t> Detect low-quality, blurry, or off-brand logos automatically, not just based on size.</a:t>
            </a:r>
          </a:p>
          <a:p>
            <a:pPr marL="285750" indent="-285750">
              <a:buFont typeface="Arial" panose="020B0604020202020204" pitchFamily="34" charset="0"/>
              <a:buChar char="•"/>
            </a:pPr>
            <a:r>
              <a:rPr lang="en-IN" sz="1400" b="1" dirty="0"/>
              <a:t>Smart Background Handling:</a:t>
            </a:r>
            <a:r>
              <a:rPr lang="en-IN" sz="1400" dirty="0"/>
              <a:t> AI vision models can distinguish between logo vs. background and auto-generate clean, brand-safe variants.</a:t>
            </a:r>
          </a:p>
          <a:p>
            <a:pPr marL="285750" indent="-285750">
              <a:buFont typeface="Arial" panose="020B0604020202020204" pitchFamily="34" charset="0"/>
              <a:buChar char="•"/>
            </a:pPr>
            <a:r>
              <a:rPr lang="en-IN" sz="1400" b="1" dirty="0"/>
              <a:t>Auto-tagging &amp; Classification:</a:t>
            </a:r>
            <a:r>
              <a:rPr lang="en-IN" sz="1400" dirty="0"/>
              <a:t> Use AI to tag assets (e.g., “logo horizontal,” “logo with tagline”) for better searchability in backend.</a:t>
            </a:r>
          </a:p>
          <a:p>
            <a:pPr marL="285750" indent="-285750">
              <a:buFont typeface="Arial" panose="020B0604020202020204" pitchFamily="34" charset="0"/>
              <a:buChar char="•"/>
            </a:pPr>
            <a:r>
              <a:rPr lang="en-IN" sz="1400" b="1" dirty="0"/>
              <a:t>Predictive Ops Support:</a:t>
            </a:r>
            <a:r>
              <a:rPr lang="en-IN" sz="1400" dirty="0"/>
              <a:t> AI can flag merchants that frequently upload non-compliant assets, so Ops can pre-emptively engage.</a:t>
            </a:r>
          </a:p>
          <a:p>
            <a:pPr marL="285750" indent="-285750">
              <a:buFont typeface="Arial" panose="020B0604020202020204" pitchFamily="34" charset="0"/>
              <a:buChar char="•"/>
            </a:pPr>
            <a:r>
              <a:rPr lang="en-IN" sz="1400" b="1" dirty="0"/>
              <a:t>AI Chatbot for Merchants:</a:t>
            </a:r>
            <a:r>
              <a:rPr lang="en-IN" sz="1400" dirty="0"/>
              <a:t> Allow merchants to query “Where’s my logo?” or “What failed?” directly, reducing Ops tickets.</a:t>
            </a:r>
          </a:p>
        </p:txBody>
      </p:sp>
      <p:sp>
        <p:nvSpPr>
          <p:cNvPr id="36" name="Rectangle 35">
            <a:extLst>
              <a:ext uri="{FF2B5EF4-FFF2-40B4-BE49-F238E27FC236}">
                <a16:creationId xmlns:a16="http://schemas.microsoft.com/office/drawing/2014/main" id="{52AF3D8D-7C89-6209-2A77-89F9743B5934}"/>
              </a:ext>
            </a:extLst>
          </p:cNvPr>
          <p:cNvSpPr/>
          <p:nvPr/>
        </p:nvSpPr>
        <p:spPr>
          <a:xfrm>
            <a:off x="375290" y="1036932"/>
            <a:ext cx="3621050" cy="288534"/>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Benefits</a:t>
            </a:r>
          </a:p>
        </p:txBody>
      </p:sp>
      <p:sp>
        <p:nvSpPr>
          <p:cNvPr id="37" name="Rectangle 36">
            <a:extLst>
              <a:ext uri="{FF2B5EF4-FFF2-40B4-BE49-F238E27FC236}">
                <a16:creationId xmlns:a16="http://schemas.microsoft.com/office/drawing/2014/main" id="{462CDD8B-F655-CF56-D066-F0174F037531}"/>
              </a:ext>
            </a:extLst>
          </p:cNvPr>
          <p:cNvSpPr/>
          <p:nvPr/>
        </p:nvSpPr>
        <p:spPr>
          <a:xfrm>
            <a:off x="4327767" y="1036932"/>
            <a:ext cx="3621050" cy="288534"/>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Future Improvements</a:t>
            </a:r>
          </a:p>
        </p:txBody>
      </p:sp>
      <p:sp>
        <p:nvSpPr>
          <p:cNvPr id="38" name="Rectangle 37">
            <a:extLst>
              <a:ext uri="{FF2B5EF4-FFF2-40B4-BE49-F238E27FC236}">
                <a16:creationId xmlns:a16="http://schemas.microsoft.com/office/drawing/2014/main" id="{CBB8AC3A-898D-3119-45A3-CFDB6119FCB3}"/>
              </a:ext>
            </a:extLst>
          </p:cNvPr>
          <p:cNvSpPr/>
          <p:nvPr/>
        </p:nvSpPr>
        <p:spPr>
          <a:xfrm>
            <a:off x="8570950" y="1036932"/>
            <a:ext cx="3255378" cy="288534"/>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AI Enhancements</a:t>
            </a:r>
          </a:p>
        </p:txBody>
      </p:sp>
    </p:spTree>
    <p:extLst>
      <p:ext uri="{BB962C8B-B14F-4D97-AF65-F5344CB8AC3E}">
        <p14:creationId xmlns:p14="http://schemas.microsoft.com/office/powerpoint/2010/main" val="864471737"/>
      </p:ext>
    </p:extLst>
  </p:cSld>
  <p:clrMapOvr>
    <a:masterClrMapping/>
  </p:clrMapOvr>
</p:sld>
</file>

<file path=ppt/theme/theme1.xml><?xml version="1.0" encoding="utf-8"?>
<a:theme xmlns:a="http://schemas.openxmlformats.org/drawingml/2006/main" name="Office Theme">
  <a:themeElements>
    <a:clrScheme name="Custom 1">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4572</TotalTime>
  <Words>5731</Words>
  <Application>Microsoft Macintosh PowerPoint</Application>
  <PresentationFormat>Widescreen</PresentationFormat>
  <Paragraphs>277</Paragraphs>
  <Slides>9</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Aptos</vt:lpstr>
      <vt:lpstr>Aptos Display</vt:lpstr>
      <vt:lpstr>Arial</vt:lpstr>
      <vt:lpstr>Calibri</vt:lpstr>
      <vt:lpstr>Office Theme</vt:lpstr>
      <vt:lpstr>PowerPoint Presentation</vt:lpstr>
      <vt:lpstr>Current Workflow &amp; Challenges</vt:lpstr>
      <vt:lpstr>Proposed Workflow</vt:lpstr>
      <vt:lpstr>Step 1: Merchant Upload Portal</vt:lpstr>
      <vt:lpstr>Step 2: Automation Service</vt:lpstr>
      <vt:lpstr>Step 3: Backend System</vt:lpstr>
      <vt:lpstr>Step 4: Merchant Notification</vt:lpstr>
      <vt:lpstr>Timeline</vt:lpstr>
      <vt:lpstr>Benefits and Future Enhancements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Ishita Shukla</dc:creator>
  <cp:lastModifiedBy>#IRANI TANYA#</cp:lastModifiedBy>
  <cp:revision>16</cp:revision>
  <dcterms:created xsi:type="dcterms:W3CDTF">2025-04-05T16:17:48Z</dcterms:created>
  <dcterms:modified xsi:type="dcterms:W3CDTF">2025-09-15T06:30:54Z</dcterms:modified>
</cp:coreProperties>
</file>